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ntl-diamond-white.sv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ntl-diamond-dark.sv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Relationship Id="rId6" Type="http://schemas.openxmlformats.org/officeDocument/2006/relationships/image" Target="../media/intl-diamond-dark.sv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ntl-diamond-dark.sv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ntl-diamond-dark.sv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Relationship Id="rId6" Type="http://schemas.openxmlformats.org/officeDocument/2006/relationships/image" Target="../media/intl-diamond-dark.sv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ntl-diamond-dark.sv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6" Type="http://schemas.openxmlformats.org/officeDocument/2006/relationships/image" Target="../media/intl-diamond-dark.sv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5" Type="http://schemas.openxmlformats.org/officeDocument/2006/relationships/image" Target="../media/intl-diamond-dark.sv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intl-diamond-dark.sv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intl-diamond-dark.sv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ntl-diamond-dark.sv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ntl-diamond-dark.sv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5" Type="http://schemas.openxmlformats.org/officeDocument/2006/relationships/image" Target="../media/intl-diamond-dark.sv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ntl-diamond-dark.sv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5" Type="http://schemas.openxmlformats.org/officeDocument/2006/relationships/image" Target="../media/intl-diamond-dark.sv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ntl-diamond-dark.sv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ntl-diamond-dark.sv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5" Type="http://schemas.openxmlformats.org/officeDocument/2006/relationships/image" Target="../media/intl-diamond-dark.sv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5" Type="http://schemas.openxmlformats.org/officeDocument/2006/relationships/image" Target="../media/intl-diamond-dark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27262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71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91970" cy="54864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5" name="Image 0" descr="/root/.claude/skills/synced/7716bb9a-1fe3-46c2-b95f-0f1e0ed7e325_86679122-dc0c-47c3-913b-c614e29d2a26/intl-style-pptx/assets/intl-diamond-white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223" y="83790"/>
            <a:ext cx="438218" cy="381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" y="1554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INTERNATIONAL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 rot="16200000">
            <a:off x="11832336" y="17373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INTERNATIONAL.COM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 rot="16200000">
            <a:off x="11832336" y="4069080"/>
            <a:ext cx="22951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AND PROPRIETARY TO INTERNATIONAL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274320" y="18288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ASSURANCE STRATEGY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274320" y="41148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A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S/4HANA, BTP and Central Finance at production load before go-live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AB9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NorthStar  |  October 2026  |  Draft for VP IT and program leadership</a:t>
            </a:r>
            <a:endParaRPr lang="en-US" sz="1400" dirty="0"/>
          </a:p>
        </p:txBody>
      </p:sp>
      <p:pic>
        <p:nvPicPr>
          <p:cNvPr id="11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1073"/>
            <a:ext cx="1764710" cy="4265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ring-fenced, risk-based workstream can still prove the solution at load before Dec 15, if we decide by Oct 9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46304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4E5659"/>
          </a:solidFill>
          <a:ln w="12700">
            <a:solidFill>
              <a:srgbClr val="4E565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08406" y="1463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8406" y="1993392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2998" y="214884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plan, owner, budget or team for performance testing, while Mock-2 and SIT2 are distressed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weeks to tech go-live on Dec 15. UAT Oct 26 to Nov 20, cutover from Nov 23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Pre-prod is about 50% of PRD. Volumes and peak profiles are not yet known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concentrates in the CFIN JE feed and trial balance match, VSM truck orders, billing with OneSource and DRC Mexico, VIM, and 168 BTP interfaces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84878" y="146304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284878" y="1463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284878" y="1993392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449470" y="214884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performance assurance as its own workstream with a named owner and a dedicated team, separate from SIT2 and Mock staff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Risk-tiered scope: about 35 scripted end-to-end scenarios instead of several hundred bespoke tests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shift-left baselining in SIT2 this week. Most go-live performance defects are code, not hardware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in a protected pre-prod window Nov 2 to Dec 4 and translate results with a three-class scaling model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61350" y="146304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FF7144"/>
          </a:solidFill>
          <a:ln w="12700">
            <a:solidFill>
              <a:srgbClr val="FF714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61350" y="1463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BY OCT 9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61350" y="1993392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5942" y="214884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workstream, the owner and the PwC change request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 specialist performance team of about 6 people for 10 weeks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pre-prod Nov 2 to Dec 4 for performance cycles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and SaaS owners commit test capacity or accept stubs by Oct 16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the KPIs as a formal gate on Dec 4, feeding tech go-live readiness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WEEKS TO TECH GO-LIVE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runs in parallel to UAT in a protected pre-prod window, ending with a performance gate on Dec 4</a:t>
            </a:r>
            <a:endParaRPr lang="en-US" sz="1400" dirty="0"/>
          </a:p>
        </p:txBody>
      </p:sp>
      <p:pic>
        <p:nvPicPr>
          <p:cNvPr id="8" name="Image 2" descr="/tmp/claude-0/-home-user-iosapps/0145a568-6763-50ee-a8e3-29c08c5f5cf5/scratchpad/build/png/02-timeline-d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6" y="1371600"/>
            <a:ext cx="11175797" cy="465119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8406" y="60533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C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cutover rehearsal from Nov 23 overlaps the retest window. Pre-prod sequencing must be decided now, not discovered in November.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REQUIREMENTS, ANSWERED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requirement from the Oct 1 call has a concrete response, an owner and a ready-by date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377440"/>
                <a:gridCol w="5780837"/>
                <a:gridCol w="1783080"/>
                <a:gridCol w="8686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 raised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response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Ready by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 tests for apps, integrations and batch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Risk-tiered catalog: about 35 Tier 1 scripted scenarios, about 70 Tier 2 component checks, telemetry for the rest. AI-assisted triage of the 168 interfaces, RICEFW list and Control-M export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perf lead, PwC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KPIs for each 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KPI library by metric class, thresholds tuned per Tier 1 scenario and signed by process owners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perf manager, process owners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Environment to test 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Pre-prod (50% of PRD) with full Mock data volumes, protected Nov 2 to Dec 4. ECS refresh, config parity and snapshot restore 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Basis, SAP 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Tooling over the environment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NeoLoad. Add SAP-native ABAP and HANA analysis, Integration Suite monitoring, Cloud ALM and service virtualization stubs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 engineering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23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loaded with data and volumes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 model from legacy volumes, synthetic data factory, scripts parameterized for sequential and concurrent runs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 engineering, test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Near-production roles and integration security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users cloned from production business roles, communication users with production-like authorizations, no SAP_ALL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and GRC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Environment scaling estimates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ECS configuration sheet for pre-prod and PRD, a three-class scaling model, and a calibration run before cycle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Basis, INTL perf lead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PERFORMANCE RISK LIVES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hypothesis until volumes are mined in week 1. Ratings drive the Tier 1 selection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2960"/>
                <a:gridCol w="914400"/>
                <a:gridCol w="1005840"/>
                <a:gridCol w="1097280"/>
                <a:gridCol w="868680"/>
                <a:gridCol w="3449117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stream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Novelty / known issues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CFIN JE feed (Infor LN, DataStage, JDBC) and TB match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Month-end JE volume must post and reconcile inside the close calendar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OTC truck order (VSM / AVC, pricing, OneSource)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 configuration plus a synchronous tax call on every save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Billing, invoice outbound, DRC Mexico CFDI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and regulatory deadline. Chain of tax, forms, DRC and legacy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VIM vendor invoices (OCR, workflow, posting)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a known pain point. Workflow and background job load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BTP Integration Suite (168 interfaces)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choke points: tenant limits, JMS, EOIO, Cloud Connector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Batch: Control-M, SOA, DataStage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Nightly and month-end windows across US and Mexico time zones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Warranty claims via Pega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Burst inbound claims, credit memo postings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close and analytics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Heavy ACDOCA reads during the first close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Ariba indirect procurement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281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281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integration, moderate volume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Fiori launchpad, login, roles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281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Morning login storm, large role catalogs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RISK-TIERED SCOPE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deeply where the risk is. Watch everything else with telemetry</a:t>
            </a:r>
            <a:endParaRPr lang="en-US" sz="1400" dirty="0"/>
          </a:p>
        </p:txBody>
      </p:sp>
      <p:pic>
        <p:nvPicPr>
          <p:cNvPr id="8" name="Image 2" descr="/tmp/claude-0/-home-user-iosapps/0145a568-6763-50ee-a8e3-29c08c5f5cf5/scratchpad/build/png/03-risk-tier-pyramid-d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520" y="1371600"/>
            <a:ext cx="9794929" cy="36118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 every object in the interface list, RICEFW list, Fiori and T-code usage list and Control-M export gets a risk score. Tier 1 is scripted and load tested, Tier 2 gets volume injection without UI scripting, and Tier 3 is watched in SIT2 and UAT telemetry. This answers "several hundred tests" with defensible coverage instead of brute force.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TIER 1 SCENARIO SET: 35 END-TO-END FLOWS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for the Oct 15 sign-off workshop. Full catalog with KPIs and scores is in the workbook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8406" y="141732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5C1916"/>
          </a:solidFill>
          <a:ln w="12700">
            <a:solidFill>
              <a:srgbClr val="5C191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8406" y="1417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to cash and billing  (8)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45566" y="1892808"/>
            <a:ext cx="33832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truck order: configure, price, tax, save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change and reconfiguration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dealer and legacy orders via API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and goods issue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run with OneSource and output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outbound to legacy apps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DRC Mexico CFDI to PAC and status back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application and customer payments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84878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84878" y="141732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84878" y="1417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Finance and close  (7)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422038" y="1892808"/>
            <a:ext cx="33832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 LN JE feed at month-end peak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AIF error reprocessing at volume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 balance match S/4 versus legacy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revaluation, depreciation, accruals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statements and analytical apps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extracts to legacy and reporting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open and close steps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61350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61350" y="1417320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4E5659"/>
          </a:solidFill>
          <a:ln w="12700">
            <a:solidFill>
              <a:srgbClr val="4E565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61350" y="1417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and VIM  (6)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198510" y="1892808"/>
            <a:ext cx="33832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Ariba PO replication to S/4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Goods receipt and service entry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 OCR intake in bulk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 approval workflow, concurrent users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posting and 3-way match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run and bank file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8406" y="3867912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8406" y="3867912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4E5659"/>
          </a:solidFill>
          <a:ln w="12700">
            <a:solidFill>
              <a:srgbClr val="4E565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08406" y="38679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Warranty  (3)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645566" y="4343400"/>
            <a:ext cx="33832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claim inbound burst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adjudication and credit memo batch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status back to Pega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284878" y="3867912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284878" y="3867912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284878" y="38679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and batch  (6)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4422038" y="4343400"/>
            <a:ext cx="33832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20 iFlow mix at design peak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OneSource latency under concurrent load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outage and backlog drain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Control-M critical path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batch chain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DataStage and SOA jobs alongside online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061350" y="3867912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61350" y="3867912"/>
            <a:ext cx="3611880" cy="384048"/>
          </a:xfrm>
          <a:prstGeom prst="roundRect">
            <a:avLst>
              <a:gd name="adj" fmla="val 14286"/>
            </a:avLst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061350" y="38679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mixed load  (5)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8198510" y="4343400"/>
            <a:ext cx="338328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login storm and launchpad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peak hour, all streams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Eight-hour soak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to break point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heavy reports and CDS views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ARCHITECTURE AND INJECTION POINTS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injection points, one measurement clock across S/4HANA, BTP, DataStage and the legacy endpoints</a:t>
            </a:r>
            <a:endParaRPr lang="en-US" sz="1400" dirty="0"/>
          </a:p>
        </p:txBody>
      </p:sp>
      <p:pic>
        <p:nvPicPr>
          <p:cNvPr id="8" name="Image 2" descr="/tmp/claude-0/-home-user-iosapps/0145a568-6763-50ee-a8e3-29c08c5f5cf5/scratchpad/build/png/01-test-architecture-d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280" y="1353312"/>
            <a:ext cx="858740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STRATEGY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Pre-prod is the primary stage. Two fallbacks protect the gate if pre-prod time or capacity runs out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46304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16184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18470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pre-prod window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21762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 to Dec 4 reserved for performance cycles. Shared with cutover rehearsal by agreed slots, nights and weekends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8406" y="3035808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218688"/>
            <a:ext cx="457200" cy="457200"/>
          </a:xfrm>
          <a:prstGeom prst="ellipse">
            <a:avLst/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85800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1280160" y="31912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ADD-ON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280160" y="341985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temporary app-tier upsize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280160" y="3749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ECS to quote extra application servers for one cycle. Confirms class B scaling and narrows the forecast error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8406" y="4608576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5800" y="4791456"/>
            <a:ext cx="457200" cy="457200"/>
          </a:xfrm>
          <a:prstGeom prst="ellipse">
            <a:avLst/>
          </a:prstGeom>
          <a:solidFill>
            <a:srgbClr val="5C1916"/>
          </a:solidFill>
          <a:ln w="12700">
            <a:solidFill>
              <a:srgbClr val="5C191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280160" y="476402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280160" y="4992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window before cutover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280160" y="53218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pre-prod results are inconclusive. Full-size hardware, then snapshot restore. Needs ECS and cutover lead agreement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812280" y="1463040"/>
            <a:ext cx="4873752" cy="4572000"/>
          </a:xfrm>
          <a:prstGeom prst="roundRect">
            <a:avLst>
              <a:gd name="adj" fmla="val 16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99516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READY-TO-TEST CHECKLIST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6995160" y="1965960"/>
            <a:ext cx="45262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Mock data volumes, with table sizes checked against PRD projection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and configuration parity with PRD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 parameters, work processes and number range buffering match PRD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Suite test tenant and Cloud Connector set up like PRD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users and roles cloned from production business roles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Stubs live for endpoints that cannot take load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taken before each cycle, restore tested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retention extended (ST03N, STAD, SQLM, IS logs)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configuration sheet for pre-prod and PRD on file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RESULTS FROM A 50% PRE-PROD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metric doubles in production. Three classes, three translation rules</a:t>
            </a:r>
            <a:endParaRPr lang="en-US" sz="1400" dirty="0"/>
          </a:p>
        </p:txBody>
      </p:sp>
      <p:pic>
        <p:nvPicPr>
          <p:cNvPr id="8" name="Image 2" descr="/tmp/claude-0/-home-user-iosapps/0145a568-6763-50ee-a8e3-29c08c5f5cf5/scratchpad/build/png/04-scaling-model-d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5" y="1371600"/>
            <a:ext cx="107696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TOOLING: KEEP NEOLOAD, COMPLETE THE STACK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load tools now would cost 3 to 4 weeks we do not have. The gaps are in monitoring, stubs and analysis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5049317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 for 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injection, UI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NeoLoad (licensed)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Fiori and OData, SAP GUI and web protocols. All Tier 1 user scripts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 injection, non-UI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NeoLoad API tests or JMeter, DataStage replay jobs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iFlow payloads, JDBC JE volumes, file drops at design rate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virtualization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iFlows on the BTP test tenant, or WireMock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 in for PAC, OneSource and legacy endpoints that cannot take load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ABAP and HANA analysis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ST03N, STAD, SQLM, SAT, ST05, HANA Cockpit, SQL plan cache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the expensive statement, the hot code path, the lock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monitoring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Suite monitor, JMS queues, Cloud Connector, AIF, eDocument Cockpit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Throughput, backlog, retries and error rates per interface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Observability and hypercare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Cloud ALM or Focused Run, existing APM if licensed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dashboards and thresholds carry into hypercare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Results intelligence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AI-assisted analysis over exported metrics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Anomaly detection, triage to code owners, daily readout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 keep NeoLoad for this go-live. It is licensed and covers the SAP protocols we need. Revisit the tool choice after hypercare, when the question becomes continuous performance regression for future releases rather than a ten-week sprint.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MODEL AND TEST DATA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is defined from evidence, not opinion. Data is production-shaped, not empty-system clean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09905" y="2031797"/>
            <a:ext cx="405994" cy="405994"/>
          </a:xfrm>
          <a:prstGeom prst="ellipse">
            <a:avLst/>
          </a:prstGeom>
          <a:solidFill>
            <a:srgbClr val="0062A2"/>
          </a:solidFill>
          <a:ln/>
        </p:spPr>
      </p:sp>
      <p:sp>
        <p:nvSpPr>
          <p:cNvPr id="10" name="Text 6"/>
          <p:cNvSpPr/>
          <p:nvPr/>
        </p:nvSpPr>
        <p:spPr>
          <a:xfrm>
            <a:off x="609905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84302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 volumes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34594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 LN JE counts, legacy orders and invoices, Ariba, Pega, Control-M history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429000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530498" y="2031797"/>
            <a:ext cx="405994" cy="405994"/>
          </a:xfrm>
          <a:prstGeom prst="ellipse">
            <a:avLst/>
          </a:prstGeom>
          <a:solidFill>
            <a:srgbClr val="272623"/>
          </a:solidFill>
          <a:ln/>
        </p:spPr>
      </p:sp>
      <p:sp>
        <p:nvSpPr>
          <p:cNvPr id="15" name="Text 11"/>
          <p:cNvSpPr/>
          <p:nvPr/>
        </p:nvSpPr>
        <p:spPr>
          <a:xfrm>
            <a:off x="3530498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504895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peak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555187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Busiest hour of the busiest day: month-end days 1 to 3, billing cut-off, dealer order peaks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2946197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19" name="Shape 15"/>
          <p:cNvSpPr/>
          <p:nvPr/>
        </p:nvSpPr>
        <p:spPr>
          <a:xfrm>
            <a:off x="6349594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51092" y="2031797"/>
            <a:ext cx="405994" cy="405994"/>
          </a:xfrm>
          <a:prstGeom prst="ellipse">
            <a:avLst/>
          </a:prstGeom>
          <a:solidFill>
            <a:srgbClr val="FF7144"/>
          </a:solidFill>
          <a:ln/>
        </p:spPr>
      </p:sp>
      <p:sp>
        <p:nvSpPr>
          <p:cNvPr id="21" name="Text 17"/>
          <p:cNvSpPr/>
          <p:nvPr/>
        </p:nvSpPr>
        <p:spPr>
          <a:xfrm>
            <a:off x="6451092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425489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headroom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6475781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load = 1.5 x measured peak hour, plus 2027 growth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866790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25" name="Shape 21"/>
          <p:cNvSpPr/>
          <p:nvPr/>
        </p:nvSpPr>
        <p:spPr>
          <a:xfrm>
            <a:off x="9270187" y="1904695"/>
            <a:ext cx="2413102" cy="2603297"/>
          </a:xfrm>
          <a:prstGeom prst="roundRect">
            <a:avLst>
              <a:gd name="adj" fmla="val 7010"/>
            </a:avLst>
          </a:prstGeom>
          <a:solidFill>
            <a:srgbClr val="E8E9EB"/>
          </a:solidFill>
          <a:ln/>
          <a:effectLst>
            <a:outerShdw sx="100000" sy="100000" kx="0" ky="0" algn="bl" rotWithShape="0" blurRad="50800" dist="25400" dir="5400000">
              <a:srgbClr val="000000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371686" y="2031797"/>
            <a:ext cx="405994" cy="405994"/>
          </a:xfrm>
          <a:prstGeom prst="ellipse">
            <a:avLst/>
          </a:prstGeom>
          <a:solidFill>
            <a:srgbClr val="5C1916"/>
          </a:solidFill>
          <a:ln/>
        </p:spPr>
      </p:sp>
      <p:sp>
        <p:nvSpPr>
          <p:cNvPr id="27" name="Text 23"/>
          <p:cNvSpPr/>
          <p:nvPr/>
        </p:nvSpPr>
        <p:spPr>
          <a:xfrm>
            <a:off x="9371686" y="2031797"/>
            <a:ext cx="40599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346082" y="2641702"/>
            <a:ext cx="2260397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mix</a:t>
            </a:r>
            <a:endParaRPr lang="en-US" sz="1700" dirty="0"/>
          </a:p>
        </p:txBody>
      </p:sp>
      <p:sp>
        <p:nvSpPr>
          <p:cNvPr id="29" name="Text 25"/>
          <p:cNvSpPr/>
          <p:nvPr/>
        </p:nvSpPr>
        <p:spPr>
          <a:xfrm>
            <a:off x="9396374" y="3301898"/>
            <a:ext cx="2158898" cy="111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Little's Law turns hourly volume into virtual users and pacing per scenario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787384" y="3054096"/>
            <a:ext cx="457200" cy="304495"/>
          </a:xfrm>
          <a:prstGeom prst="rightArrow">
            <a:avLst/>
          </a:prstGeom>
          <a:solidFill>
            <a:srgbClr val="272623"/>
          </a:solidFill>
          <a:ln/>
        </p:spPr>
      </p:sp>
      <p:sp>
        <p:nvSpPr>
          <p:cNvPr id="31" name="Shape 27"/>
          <p:cNvSpPr/>
          <p:nvPr/>
        </p:nvSpPr>
        <p:spPr>
          <a:xfrm>
            <a:off x="508406" y="5080406"/>
            <a:ext cx="11175797" cy="1143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85800" y="5166360"/>
            <a:ext cx="10835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data:  master data comes from the Mock-converted load so table sizes are realistic. Transactions are synthesized: balanced JEs that pass CFIN mapping, valid VSM configurations, CFDI-valid Mexican invoices, invoice images for VIM OCR, warranty claims. A pre-prod snapshot before each cycle lets us reset in hours, not days.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AND THE DEC 4 GO / NO-GO GATE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defaults. Process owners confirm thresholds per Tier 1 scenario by Oct 23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3774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threshold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Online, simple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Fiori or GUI step response, 90th percentile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seconds or less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Online, complex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VSM configure, price and save; VIM approval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seconds or less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OneSource tax call, 95th percentile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ms or less, no timeouts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Async interfaces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Sustained throughput versus design peak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x peak, no backlog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Resilience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Backlog drain after a 1-hour endpoint outage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minutes or less, zero 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 Finance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 lines posted per hour; TB 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 x month-end peak; 100% 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path versus batch window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Fits with 20% buffer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CPU, HANA memory, free dialog work processes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/ 80% / 20% free at PRD-equivalent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Endurance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Degradation over 8 hours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 10%, no memory growth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726680" y="1417320"/>
            <a:ext cx="3959352" cy="4727448"/>
          </a:xfrm>
          <a:prstGeom prst="roundRect">
            <a:avLst>
              <a:gd name="adj" fmla="val 1848"/>
            </a:avLst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95528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ON DEC 4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955280" y="201168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severity 1 performance defects closed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90% of Tier 1 scenarios meet KPI; the rest have a signed workaround and a hypercare monitor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CFIN volume posted and trial balance matched inside the close calendar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critical path fits the window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class C limit reached at full design load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forecast for PRD documented and accepted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INTELLIGENCE ACCELERATES THE WORK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shortens the slowest manual steps. People still own every decision and every sign-off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4173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72998" y="1581912"/>
            <a:ext cx="402336" cy="402336"/>
          </a:xfrm>
          <a:prstGeom prst="ellipse">
            <a:avLst/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2998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94206" y="16184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triage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691286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FSDs, the interface list, RICEFW and the Control-M export. Draft classification and risk scores for a two-hour validation workshop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91286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to days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84878" y="14173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449470" y="1581912"/>
            <a:ext cx="402336" cy="402336"/>
          </a:xfrm>
          <a:prstGeom prst="ellipse">
            <a:avLst/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49470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970678" y="16184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mining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467758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legacy GL counts, SOA and DataStage logs, and job history to find peak hours and arrival patterns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4467758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from evidence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061350" y="14173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25942" y="1581912"/>
            <a:ext cx="402336" cy="402336"/>
          </a:xfrm>
          <a:prstGeom prst="ellipse">
            <a:avLst/>
          </a:prstGeom>
          <a:solidFill>
            <a:srgbClr val="FF7144"/>
          </a:solidFill>
          <a:ln w="12700">
            <a:solidFill>
              <a:srgbClr val="FF714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25942" y="1581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747150" y="161848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factory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824423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balanced JEs, valid VSM configurations, CFDI-valid invoices, VIM invoice images and warranty claims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824423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without PII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08406" y="35661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72998" y="3730752"/>
            <a:ext cx="402336" cy="402336"/>
          </a:xfrm>
          <a:prstGeom prst="ellipse">
            <a:avLst/>
          </a:prstGeom>
          <a:solidFill>
            <a:srgbClr val="5C1916"/>
          </a:solidFill>
          <a:ln w="12700">
            <a:solidFill>
              <a:srgbClr val="5C191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2998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194206" y="3767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acceleration</a:t>
            </a:r>
            <a:endParaRPr lang="en-US" sz="1450" dirty="0"/>
          </a:p>
        </p:txBody>
      </p:sp>
      <p:sp>
        <p:nvSpPr>
          <p:cNvPr id="30" name="Text 26"/>
          <p:cNvSpPr txBox="1"/>
          <p:nvPr/>
        </p:nvSpPr>
        <p:spPr>
          <a:xfrm>
            <a:off x="691286" y="4251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API payloads from iFlow and OpenAPI specs, and suggest correlation and parameterization for NeoLoad scripts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691286" y="5193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Tier 1 build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4284878" y="35661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49470" y="3730752"/>
            <a:ext cx="402336" cy="402336"/>
          </a:xfrm>
          <a:prstGeom prst="ellipse">
            <a:avLst/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44947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4970678" y="3767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triage</a:t>
            </a:r>
            <a:endParaRPr lang="en-US" sz="1450" dirty="0"/>
          </a:p>
        </p:txBody>
      </p:sp>
      <p:sp>
        <p:nvSpPr>
          <p:cNvPr id="36" name="Text 32"/>
          <p:cNvSpPr txBox="1"/>
          <p:nvPr/>
        </p:nvSpPr>
        <p:spPr>
          <a:xfrm>
            <a:off x="4467758" y="4251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anomalies across ST03N, HANA and Integration Suite metrics, and route the expensive statement to its code owner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4467758" y="5193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to root cause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8061350" y="35661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225942" y="3730752"/>
            <a:ext cx="402336" cy="402336"/>
          </a:xfrm>
          <a:prstGeom prst="ellipse">
            <a:avLst/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225942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8747150" y="37673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readout</a:t>
            </a:r>
            <a:endParaRPr lang="en-US" sz="1450" dirty="0"/>
          </a:p>
        </p:txBody>
      </p:sp>
      <p:sp>
        <p:nvSpPr>
          <p:cNvPr id="42" name="Text 38"/>
          <p:cNvSpPr txBox="1"/>
          <p:nvPr/>
        </p:nvSpPr>
        <p:spPr>
          <a:xfrm>
            <a:off x="8244230" y="4251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Auto-draft the daily executive status from test results and the defect log, reviewed by the performance lead</a:t>
            </a:r>
            <a:endParaRPr lang="en-US" sz="1150" dirty="0"/>
          </a:p>
        </p:txBody>
      </p:sp>
      <p:sp>
        <p:nvSpPr>
          <p:cNvPr id="43" name="Text 39"/>
          <p:cNvSpPr txBox="1"/>
          <p:nvPr/>
        </p:nvSpPr>
        <p:spPr>
          <a:xfrm>
            <a:off x="8244230" y="5193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stay informed</a:t>
            </a:r>
            <a:endParaRPr lang="en-US" sz="1150" dirty="0"/>
          </a:p>
        </p:txBody>
      </p:sp>
      <p:sp>
        <p:nvSpPr>
          <p:cNvPr id="44" name="Text 40"/>
          <p:cNvSpPr txBox="1"/>
          <p:nvPr/>
        </p:nvSpPr>
        <p:spPr>
          <a:xfrm>
            <a:off x="508406" y="577900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use what we already pay for: SAP Enterprise Support Going-Live Check (confirm entitlement), an ECS sizing review, and SAP Cloud ALM.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THIS WEEK: THE FIRST TEN DAYS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these steps needs the test environment. All of them shorten the path to Nov 2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08406" y="1417320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63854" y="1600200"/>
            <a:ext cx="457200" cy="457200"/>
          </a:xfrm>
          <a:prstGeom prst="ellipse">
            <a:avLst/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385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85646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owner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4577486" y="1527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5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1285646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performance lead and PwC counterpart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8406" y="2350008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3854" y="2532888"/>
            <a:ext cx="457200" cy="457200"/>
          </a:xfrm>
          <a:prstGeom prst="ellipse">
            <a:avLst/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63854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285646" y="2459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telemetry in SIT2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4577486" y="24597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5 to 9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1285646" y="2761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ST03N and STAD retention, SQLM, HANA expensive statements, IS trace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08406" y="3282696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3854" y="3465576"/>
            <a:ext cx="457200" cy="457200"/>
          </a:xfrm>
          <a:prstGeom prst="ellipse">
            <a:avLst/>
          </a:prstGeom>
          <a:solidFill>
            <a:srgbClr val="FF7144"/>
          </a:solidFill>
          <a:ln w="12700">
            <a:solidFill>
              <a:srgbClr val="FF714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63854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1285646" y="3392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ECS tickets</a:t>
            </a:r>
            <a:endParaRPr 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4577486" y="33924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5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1285646" y="36941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Pre-prod and PRD config sheet, refresh plan, snapshots, upsize quote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08406" y="4215384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63854" y="4398264"/>
            <a:ext cx="457200" cy="457200"/>
          </a:xfrm>
          <a:prstGeom prst="ellipse">
            <a:avLst/>
          </a:prstGeom>
          <a:solidFill>
            <a:srgbClr val="5C1916"/>
          </a:solidFill>
          <a:ln w="12700">
            <a:solidFill>
              <a:srgbClr val="5C1916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63854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1285646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Going-Live Check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4577486" y="4325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5 to 9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1285646" y="46268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SAP Enterprise Support entitlement, book the analysis session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508406" y="5148072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63854" y="5330952"/>
            <a:ext cx="457200" cy="457200"/>
          </a:xfrm>
          <a:prstGeom prst="ellipse">
            <a:avLst/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63854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1285646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 Mock-2 runtimes</a:t>
            </a:r>
            <a:endParaRPr lang="en-US" sz="1350" dirty="0"/>
          </a:p>
        </p:txBody>
      </p:sp>
      <p:sp>
        <p:nvSpPr>
          <p:cNvPr id="36" name="Text 32"/>
          <p:cNvSpPr txBox="1"/>
          <p:nvPr/>
        </p:nvSpPr>
        <p:spPr>
          <a:xfrm>
            <a:off x="4577486" y="5257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5 to 16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1285646" y="55595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CFIN posting rates, job runtimes, load durations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168542" y="1417320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323990" y="1600200"/>
            <a:ext cx="457200" cy="457200"/>
          </a:xfrm>
          <a:prstGeom prst="ellipse">
            <a:avLst/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32399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7"/>
          <p:cNvSpPr txBox="1"/>
          <p:nvPr/>
        </p:nvSpPr>
        <p:spPr>
          <a:xfrm>
            <a:off x="6945782" y="1527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legacy volumes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10237622" y="15270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5 to 14</a:t>
            </a:r>
            <a:endParaRPr lang="en-US" sz="1150" dirty="0"/>
          </a:p>
        </p:txBody>
      </p:sp>
      <p:sp>
        <p:nvSpPr>
          <p:cNvPr id="43" name="Text 39"/>
          <p:cNvSpPr txBox="1"/>
          <p:nvPr/>
        </p:nvSpPr>
        <p:spPr>
          <a:xfrm>
            <a:off x="6945782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 LN GL, billing, Ariba, Pega and Control-M exports</a:t>
            </a:r>
            <a:endParaRPr lang="en-US" sz="1150" dirty="0"/>
          </a:p>
        </p:txBody>
      </p:sp>
      <p:sp>
        <p:nvSpPr>
          <p:cNvPr id="44" name="Shape 40"/>
          <p:cNvSpPr/>
          <p:nvPr/>
        </p:nvSpPr>
        <p:spPr>
          <a:xfrm>
            <a:off x="6168542" y="2350008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323990" y="2532888"/>
            <a:ext cx="457200" cy="457200"/>
          </a:xfrm>
          <a:prstGeom prst="ellipse">
            <a:avLst/>
          </a:prstGeom>
          <a:solidFill>
            <a:srgbClr val="FF7144"/>
          </a:solidFill>
          <a:ln w="12700">
            <a:solidFill>
              <a:srgbClr val="FF7144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632399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7" name="Text 43"/>
          <p:cNvSpPr txBox="1"/>
          <p:nvPr/>
        </p:nvSpPr>
        <p:spPr>
          <a:xfrm>
            <a:off x="6945782" y="24597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 of the inventory</a:t>
            </a:r>
            <a:endParaRPr lang="en-US" sz="1350" dirty="0"/>
          </a:p>
        </p:txBody>
      </p:sp>
      <p:sp>
        <p:nvSpPr>
          <p:cNvPr id="48" name="Text 44"/>
          <p:cNvSpPr txBox="1"/>
          <p:nvPr/>
        </p:nvSpPr>
        <p:spPr>
          <a:xfrm>
            <a:off x="10237622" y="24597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7 to 14</a:t>
            </a:r>
            <a:endParaRPr lang="en-US" sz="1150" dirty="0"/>
          </a:p>
        </p:txBody>
      </p:sp>
      <p:sp>
        <p:nvSpPr>
          <p:cNvPr id="49" name="Text 45"/>
          <p:cNvSpPr txBox="1"/>
          <p:nvPr/>
        </p:nvSpPr>
        <p:spPr>
          <a:xfrm>
            <a:off x="6945782" y="2761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 interfaces, RICEFW, Fiori and T-code usage</a:t>
            </a:r>
            <a:endParaRPr lang="en-US" sz="1150" dirty="0"/>
          </a:p>
        </p:txBody>
      </p:sp>
      <p:sp>
        <p:nvSpPr>
          <p:cNvPr id="50" name="Shape 46"/>
          <p:cNvSpPr/>
          <p:nvPr/>
        </p:nvSpPr>
        <p:spPr>
          <a:xfrm>
            <a:off x="6168542" y="3282696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6323990" y="3465576"/>
            <a:ext cx="457200" cy="457200"/>
          </a:xfrm>
          <a:prstGeom prst="ellipse">
            <a:avLst/>
          </a:prstGeom>
          <a:solidFill>
            <a:srgbClr val="5C1916"/>
          </a:solidFill>
          <a:ln w="12700">
            <a:solidFill>
              <a:srgbClr val="5C1916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632399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53" name="Text 49"/>
          <p:cNvSpPr txBox="1"/>
          <p:nvPr/>
        </p:nvSpPr>
        <p:spPr>
          <a:xfrm>
            <a:off x="6945782" y="3392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legacy owners</a:t>
            </a:r>
            <a:endParaRPr lang="en-US" sz="1350" dirty="0"/>
          </a:p>
        </p:txBody>
      </p:sp>
      <p:sp>
        <p:nvSpPr>
          <p:cNvPr id="54" name="Text 50"/>
          <p:cNvSpPr txBox="1"/>
          <p:nvPr/>
        </p:nvSpPr>
        <p:spPr>
          <a:xfrm>
            <a:off x="10237622" y="33924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7 to 16</a:t>
            </a:r>
            <a:endParaRPr lang="en-US" sz="1150" dirty="0"/>
          </a:p>
        </p:txBody>
      </p:sp>
      <p:sp>
        <p:nvSpPr>
          <p:cNvPr id="55" name="Text 51"/>
          <p:cNvSpPr txBox="1"/>
          <p:nvPr/>
        </p:nvSpPr>
        <p:spPr>
          <a:xfrm>
            <a:off x="6945782" y="369417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or stub: OneSource, PAC, Pega, legacy receivers</a:t>
            </a:r>
            <a:endParaRPr lang="en-US" sz="1150" dirty="0"/>
          </a:p>
        </p:txBody>
      </p:sp>
      <p:sp>
        <p:nvSpPr>
          <p:cNvPr id="56" name="Shape 52"/>
          <p:cNvSpPr/>
          <p:nvPr/>
        </p:nvSpPr>
        <p:spPr>
          <a:xfrm>
            <a:off x="6168542" y="4215384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323990" y="4398264"/>
            <a:ext cx="457200" cy="457200"/>
          </a:xfrm>
          <a:prstGeom prst="ellipse">
            <a:avLst/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32399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  <p:sp>
        <p:nvSpPr>
          <p:cNvPr id="59" name="Text 55"/>
          <p:cNvSpPr txBox="1"/>
          <p:nvPr/>
        </p:nvSpPr>
        <p:spPr>
          <a:xfrm>
            <a:off x="6945782" y="4325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NeoLoad</a:t>
            </a:r>
            <a:endParaRPr lang="en-US" sz="1350" dirty="0"/>
          </a:p>
        </p:txBody>
      </p:sp>
      <p:sp>
        <p:nvSpPr>
          <p:cNvPr id="60" name="Text 56"/>
          <p:cNvSpPr txBox="1"/>
          <p:nvPr/>
        </p:nvSpPr>
        <p:spPr>
          <a:xfrm>
            <a:off x="10237622" y="43251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12 to 23</a:t>
            </a:r>
            <a:endParaRPr lang="en-US" sz="1150" dirty="0"/>
          </a:p>
        </p:txBody>
      </p:sp>
      <p:sp>
        <p:nvSpPr>
          <p:cNvPr id="61" name="Text 57"/>
          <p:cNvSpPr txBox="1"/>
          <p:nvPr/>
        </p:nvSpPr>
        <p:spPr>
          <a:xfrm>
            <a:off x="6945782" y="46268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Controller, generators, network path to RISE, auth for perf users</a:t>
            </a:r>
            <a:endParaRPr lang="en-US" sz="1150" dirty="0"/>
          </a:p>
        </p:txBody>
      </p:sp>
      <p:sp>
        <p:nvSpPr>
          <p:cNvPr id="62" name="Shape 58"/>
          <p:cNvSpPr/>
          <p:nvPr/>
        </p:nvSpPr>
        <p:spPr>
          <a:xfrm>
            <a:off x="6168542" y="5148072"/>
            <a:ext cx="5513832" cy="822960"/>
          </a:xfrm>
          <a:prstGeom prst="roundRect">
            <a:avLst>
              <a:gd name="adj" fmla="val 8889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6323990" y="5330952"/>
            <a:ext cx="457200" cy="457200"/>
          </a:xfrm>
          <a:prstGeom prst="ellipse">
            <a:avLst/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632399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65" name="Text 61"/>
          <p:cNvSpPr txBox="1"/>
          <p:nvPr/>
        </p:nvSpPr>
        <p:spPr>
          <a:xfrm>
            <a:off x="6945782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sign-off workshop</a:t>
            </a:r>
            <a:endParaRPr lang="en-US" sz="1350" dirty="0"/>
          </a:p>
        </p:txBody>
      </p:sp>
      <p:sp>
        <p:nvSpPr>
          <p:cNvPr id="66" name="Text 62"/>
          <p:cNvSpPr txBox="1"/>
          <p:nvPr/>
        </p:nvSpPr>
        <p:spPr>
          <a:xfrm>
            <a:off x="10237622" y="5257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71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15 to 16</a:t>
            </a:r>
            <a:endParaRPr lang="en-US" sz="1150" dirty="0"/>
          </a:p>
        </p:txBody>
      </p:sp>
      <p:sp>
        <p:nvSpPr>
          <p:cNvPr id="67" name="Text 63"/>
          <p:cNvSpPr txBox="1"/>
          <p:nvPr/>
        </p:nvSpPr>
        <p:spPr>
          <a:xfrm>
            <a:off x="6945782" y="555955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scores, draft KPIs, owners per scenario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AND OPERATING MODEL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13 FTE at peak, mostly ring-fenced so SIT2 and Mock teams are not drained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70408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31520"/>
                <a:gridCol w="24688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performance test lead (owner)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performance test manager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engineers (NeoLoad scripting, execution)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Specialist partner or offshore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and HANA performance engineer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 or PwC, plus ECS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ABAP performance developers (fix team)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BTP Integration Suite engineer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team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data engineer (synthetic data factory)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or partner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DataStage and Control-M engineer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SMEs: OTC/VSM, CFIN, P2P/VIM, warranty, tax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x 25%, ring-fenced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and GRC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and SaaS owners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 LN, Pega, OneSource, PAC, OpenText, Ariba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7818120" y="1417320"/>
            <a:ext cx="3867912" cy="4709160"/>
          </a:xfrm>
          <a:prstGeom prst="roundRect">
            <a:avLst>
              <a:gd name="adj" fmla="val 1891"/>
            </a:avLst>
          </a:prstGeom>
          <a:solidFill>
            <a:srgbClr val="EEF2F7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00100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001000" y="196596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01000" y="1965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937260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15-minute stand-up during cycles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001000" y="2752344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001000" y="27523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Twice weekly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9372600" y="27523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defect triage with dev leads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01000" y="3538728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FF7144"/>
          </a:solidFill>
          <a:ln w="12700">
            <a:solidFill>
              <a:srgbClr val="FF714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01000" y="353872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9372600" y="3538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readout to VP IT and program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001000" y="432511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5C1916"/>
          </a:solidFill>
          <a:ln w="12700">
            <a:solidFill>
              <a:srgbClr val="5C1916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01000" y="43251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cycle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9372600" y="43251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pack with PRD forecast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001000" y="511149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001000" y="51114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4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9372600" y="5111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into tech go-live readiness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8001000" y="5779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RACI and plan are in the workbook.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SUMMARY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responsible, A accountable, C consulted, I informed. The workbook carries the RACI for all 44 plan activities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854757"/>
                <a:gridCol w="832104"/>
                <a:gridCol w="832104"/>
                <a:gridCol w="832104"/>
                <a:gridCol w="832104"/>
                <a:gridCol w="832104"/>
                <a:gridCol w="832104"/>
                <a:gridCol w="832104"/>
                <a:gridCol w="832104"/>
                <a:gridCol w="832104"/>
                <a:gridCol w="832104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 IT / steering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INTL perf lead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PwC perf mgr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 eng team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/ HANA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SAP ECS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BTP integr.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Func. SMEs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owners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/ GRC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Charter, funding, decisions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 scope and risk scoring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KPIs and acceptance criteria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Pre-prod readiness and parity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 users, roles, comm users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 model and volumes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Scripts, data, stubs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execution cycles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Tuning and code fixes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 / no-go recommendation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1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9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MITIGATIONS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by the performance lead and reviewed at each weekly readout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005840"/>
                <a:gridCol w="623803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Pre-prod contention with cutover rehearsal and UAT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Reserve Nov 2 to Dec 4 now. Slot nights and weekends. Option C as contingency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pulled into SIT2 and Mock-2 firefighting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Dedicated external performance team. SMEs ring-fenced at 25%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Volumes unknown today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 legacy data in week 1. Conservative 1.5x headroom, flagged as assumption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 and SaaS endpoints cannot take load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Stub with mock iFlows. Separate low-rate contract test against the real endpoint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Fixes arrive too late to retest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Shift-left in SIT2. Twice-weekly triage. Priority transport lane for performance fixes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Pre-prod data not production-shaped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Refresh from Mock load. Check table sizes against PRD projection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Scaling misread leads to false confidence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Three-class model, ECS config sheet, calibration run, class C at full load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SSO blocks scripted performance users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 the authentication approach for performance users in week 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that cannot be fixed by Dec 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Pre-agreed workarounds (scheduling, parallelization) plus hypercare alerts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 BY OCT 9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of delay comes straight out of the execution window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9905" y="1463040"/>
            <a:ext cx="10972800" cy="822960"/>
          </a:xfrm>
          <a:prstGeom prst="roundRect">
            <a:avLst>
              <a:gd name="adj" fmla="val 755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" y="1618488"/>
            <a:ext cx="508406" cy="508406"/>
          </a:xfrm>
          <a:prstGeom prst="ellipse">
            <a:avLst/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6968" y="1618488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651406" y="1581912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performance assurance as a funded workstream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651406" y="19202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International owner, PwC counterpart, change request approved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09905" y="2404872"/>
            <a:ext cx="10972800" cy="822960"/>
          </a:xfrm>
          <a:prstGeom prst="roundRect">
            <a:avLst>
              <a:gd name="adj" fmla="val 755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86968" y="2560320"/>
            <a:ext cx="508406" cy="508406"/>
          </a:xfrm>
          <a:prstGeom prst="ellipse">
            <a:avLst/>
          </a:prstGeom>
          <a:solidFill>
            <a:srgbClr val="272623"/>
          </a:solidFill>
          <a:ln w="12700">
            <a:solidFill>
              <a:srgbClr val="27262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86968" y="2560320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651406" y="2523744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in a specialist performance team of about 6 people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51406" y="2862072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SIT2, Mock-2 and UAT staff are not diverted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9905" y="3346704"/>
            <a:ext cx="10972800" cy="822960"/>
          </a:xfrm>
          <a:prstGeom prst="roundRect">
            <a:avLst>
              <a:gd name="adj" fmla="val 755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86968" y="3502152"/>
            <a:ext cx="508406" cy="508406"/>
          </a:xfrm>
          <a:prstGeom prst="ellipse">
            <a:avLst/>
          </a:prstGeom>
          <a:solidFill>
            <a:srgbClr val="FF7144"/>
          </a:solidFill>
          <a:ln w="12700">
            <a:solidFill>
              <a:srgbClr val="FF714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86968" y="3502152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1651406" y="3465576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pre-prod Nov 2 to Dec 4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651406" y="380390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slots with the cutover lead. Approve the Mock data refresh and snapshots through ECS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09905" y="4288536"/>
            <a:ext cx="10972800" cy="822960"/>
          </a:xfrm>
          <a:prstGeom prst="roundRect">
            <a:avLst>
              <a:gd name="adj" fmla="val 755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86968" y="4443984"/>
            <a:ext cx="508406" cy="508406"/>
          </a:xfrm>
          <a:prstGeom prst="ellipse">
            <a:avLst/>
          </a:prstGeom>
          <a:solidFill>
            <a:srgbClr val="5C1916"/>
          </a:solidFill>
          <a:ln w="12700">
            <a:solidFill>
              <a:srgbClr val="5C191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86968" y="4443984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1651406" y="4407408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legacy and SaaS owners to commit capacity or accept stubs by Oct 16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1651406" y="47457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 LN, Pega, OneSource, Mexico PAC, OpenText, legacy receivers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09905" y="5230368"/>
            <a:ext cx="10972800" cy="822960"/>
          </a:xfrm>
          <a:prstGeom prst="roundRect">
            <a:avLst>
              <a:gd name="adj" fmla="val 7556"/>
            </a:avLst>
          </a:prstGeom>
          <a:solidFill>
            <a:srgbClr val="E8E9EB"/>
          </a:solidFill>
          <a:ln w="12700">
            <a:solidFill>
              <a:srgbClr val="E8E9E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86968" y="5385816"/>
            <a:ext cx="508406" cy="508406"/>
          </a:xfrm>
          <a:prstGeom prst="ellipse">
            <a:avLst/>
          </a:prstGeom>
          <a:solidFill>
            <a:srgbClr val="0062A2"/>
          </a:solidFill>
          <a:ln w="12700">
            <a:solidFill>
              <a:srgbClr val="0062A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86968" y="5385816"/>
            <a:ext cx="50840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7"/>
          <p:cNvSpPr txBox="1"/>
          <p:nvPr/>
        </p:nvSpPr>
        <p:spPr>
          <a:xfrm>
            <a:off x="1651406" y="5349240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Dec 4 performance gate a formal input to tech go-live readiness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1651406" y="568756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B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signed by process owners by Oct 23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0" cy="101590"/>
          </a:xfrm>
          <a:prstGeom prst="rect">
            <a:avLst/>
          </a:prstGeom>
          <a:solidFill>
            <a:srgbClr val="FF7144"/>
          </a:solidFill>
          <a:ln/>
        </p:spPr>
      </p:sp>
      <p:pic>
        <p:nvPicPr>
          <p:cNvPr id="3" name="Image 0" descr="/root/.claude/skills/synced/7716bb9a-1fe3-46c2-b95f-0f1e0ed7e325_86679122-dc0c-47c3-913b-c614e29d2a26/intl-style-pptx/assets/intl-diamond-dark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98822" y="174595"/>
            <a:ext cx="438218" cy="381060"/>
          </a:xfrm>
          <a:prstGeom prst="rect">
            <a:avLst/>
          </a:prstGeom>
        </p:spPr>
      </p:pic>
      <p:pic>
        <p:nvPicPr>
          <p:cNvPr id="4" name="Image 1" descr="/root/.claude/skills/synced/7716bb9a-1fe3-46c2-b95f-0f1e0ed7e325_86679122-dc0c-47c3-913b-c614e29d2a26/intl-style-pptx/assets/intl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7" y="6356350"/>
            <a:ext cx="1764710" cy="42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620195" y="6502298"/>
            <a:ext cx="381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08406" y="365760"/>
            <a:ext cx="111757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72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TECHNICAL HOTSPOTS TO PROBE FIRST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8406" y="941832"/>
            <a:ext cx="1117579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Architecture-level checks that most often decide SAP go-live performance. Each is a shift-left item in SIT2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417320"/>
          <a:ext cx="11175797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981237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to 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62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ranges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Buffering for FI, billing and eDocument numbers. Non-buffered or gapless ranges for Mexico serialize postings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Synchronous call per item in order, billing and invoice verification. Connection pooling, timeouts, vendor rate limits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Billing chain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Billing run, then output forms, then DRC eDocument, then PAC. Throughput of the slowest link sets invoices per hour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CFIN via DataStage JDBC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 size, parallel streams, staging table indexes and locks, AIF parallel posting, recon report runtime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Suite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 message limits, JMS capacity, EOIO serialization, large payload memory, retry storms, Cloud Connector HA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throughput, DP document jobs, workflow event queue, duplicate check, background job schedule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VSM and AVC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complexity, dependency evaluation, pricing condition volume, BOM explosion on save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Fiori and identity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Launchpad catalog size per role, OData batching, SSO for load users, Web Dispatcher limits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sizes from Mock data, ACDOCA reads, expensive statements, delta merge, memory allocation limit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2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Control-M concurrency versus background work processes, job classes, overlap with US and Mexico online peaks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Performance Assurance Strategy</dc:title>
  <dc:subject>PptxGenJS Presentation</dc:subject>
  <dc:creator>International Motors</dc:creator>
  <cp:lastModifiedBy>International Motors</cp:lastModifiedBy>
  <cp:revision>1</cp:revision>
  <dcterms:created xsi:type="dcterms:W3CDTF">2026-10-01T22:51:58Z</dcterms:created>
  <dcterms:modified xsi:type="dcterms:W3CDTF">2026-10-01T22:51:58Z</dcterms:modified>
</cp:coreProperties>
</file>