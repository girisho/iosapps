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313B"/>
                </a:solidFill>
                <a:latin typeface="Calibri"/>
              </a:defRPr>
            </a:pPr>
            <a:r>
              <a:rPr sz="1300" b="0" i="0" u="none" strike="noStrike">
                <a:solidFill>
                  <a:srgbClr val="17313B"/>
                </a:solidFill>
                <a:latin typeface="Calibri"/>
              </a:rPr>
              <a:t>Share of team capacity by work type (%)</a:t>
            </a:r>
          </a:p>
        </c:rich>
      </c:tx>
      <c:layout/>
      <c:overlay val="0"/>
    </c:title>
    <c:autoTitleDeleted val="0"/>
    <c:plotArea>
      <c:layout/>
      <c:barChart>
        <c:barDir val="col"/>
        <c:grouping val="percentStacked"/>
        <c:varyColors val="0"/>
        <c:ser>
          <c:idx val="0"/>
          <c:order val="0"/>
          <c:tx>
            <c:strRef>
              <c:f>Sheet1!$B$1</c:f>
              <c:strCache>
                <c:ptCount val="1"/>
                <c:pt idx="0">
                  <c:v>Feature</c:v>
                </c:pt>
              </c:strCache>
            </c:strRef>
          </c:tx>
          <c:spPr>
            <a:solidFill>
              <a:srgbClr val="0F766E"/>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Q4-26</c:v>
                  </c:pt>
                  <c:pt idx="1">
                    <c:v>Q1-27</c:v>
                  </c:pt>
                  <c:pt idx="2">
                    <c:v>Q2-27</c:v>
                  </c:pt>
                  <c:pt idx="3">
                    <c:v>Q3-27</c:v>
                  </c:pt>
                  <c:pt idx="4">
                    <c:v>Q4-27</c:v>
                  </c:pt>
                </c:lvl>
              </c:multiLvlStrCache>
            </c:multiLvlStrRef>
          </c:cat>
          <c:val>
            <c:numRef>
              <c:f>Sheet1!$B$2:$B$6</c:f>
              <c:numCache>
                <c:formatCode>General</c:formatCode>
                <c:ptCount val="5"/>
                <c:pt idx="0">
                  <c:v>30</c:v>
                </c:pt>
                <c:pt idx="1">
                  <c:v>35</c:v>
                </c:pt>
                <c:pt idx="2">
                  <c:v>40</c:v>
                </c:pt>
                <c:pt idx="3">
                  <c:v>45</c:v>
                </c:pt>
                <c:pt idx="4">
                  <c:v>50</c:v>
                </c:pt>
              </c:numCache>
            </c:numRef>
          </c:val>
        </c:ser>
        <c:ser>
          <c:idx val="1"/>
          <c:order val="1"/>
          <c:tx>
            <c:strRef>
              <c:f>Sheet1!$C$1</c:f>
              <c:strCache>
                <c:ptCount val="1"/>
                <c:pt idx="0">
                  <c:v>Defect</c:v>
                </c:pt>
              </c:strCache>
            </c:strRef>
          </c:tx>
          <c:spPr>
            <a:solidFill>
              <a:srgbClr val="BE123C"/>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Q4-26</c:v>
                  </c:pt>
                  <c:pt idx="1">
                    <c:v>Q1-27</c:v>
                  </c:pt>
                  <c:pt idx="2">
                    <c:v>Q2-27</c:v>
                  </c:pt>
                  <c:pt idx="3">
                    <c:v>Q3-27</c:v>
                  </c:pt>
                  <c:pt idx="4">
                    <c:v>Q4-27</c:v>
                  </c:pt>
                </c:lvl>
              </c:multiLvlStrCache>
            </c:multiLvlStrRef>
          </c:cat>
          <c:val>
            <c:numRef>
              <c:f>Sheet1!$C$2:$C$6</c:f>
              <c:numCache>
                <c:formatCode>General</c:formatCode>
                <c:ptCount val="5"/>
                <c:pt idx="0">
                  <c:v>20</c:v>
                </c:pt>
                <c:pt idx="1">
                  <c:v>15</c:v>
                </c:pt>
                <c:pt idx="2">
                  <c:v>15</c:v>
                </c:pt>
                <c:pt idx="3">
                  <c:v>15</c:v>
                </c:pt>
                <c:pt idx="4">
                  <c:v>15</c:v>
                </c:pt>
              </c:numCache>
            </c:numRef>
          </c:val>
        </c:ser>
        <c:ser>
          <c:idx val="2"/>
          <c:order val="2"/>
          <c:tx>
            <c:strRef>
              <c:f>Sheet1!$D$1</c:f>
              <c:strCache>
                <c:ptCount val="1"/>
                <c:pt idx="0">
                  <c:v>Tech debt</c:v>
                </c:pt>
              </c:strCache>
            </c:strRef>
          </c:tx>
          <c:spPr>
            <a:solidFill>
              <a:srgbClr val="7C3AED"/>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Q4-26</c:v>
                  </c:pt>
                  <c:pt idx="1">
                    <c:v>Q1-27</c:v>
                  </c:pt>
                  <c:pt idx="2">
                    <c:v>Q2-27</c:v>
                  </c:pt>
                  <c:pt idx="3">
                    <c:v>Q3-27</c:v>
                  </c:pt>
                  <c:pt idx="4">
                    <c:v>Q4-27</c:v>
                  </c:pt>
                </c:lvl>
              </c:multiLvlStrCache>
            </c:multiLvlStrRef>
          </c:cat>
          <c:val>
            <c:numRef>
              <c:f>Sheet1!$D$2:$D$6</c:f>
              <c:numCache>
                <c:formatCode>General</c:formatCode>
                <c:ptCount val="5"/>
                <c:pt idx="0">
                  <c:v>25</c:v>
                </c:pt>
                <c:pt idx="1">
                  <c:v>25</c:v>
                </c:pt>
                <c:pt idx="2">
                  <c:v>25</c:v>
                </c:pt>
                <c:pt idx="3">
                  <c:v>20</c:v>
                </c:pt>
                <c:pt idx="4">
                  <c:v>20</c:v>
                </c:pt>
              </c:numCache>
            </c:numRef>
          </c:val>
        </c:ser>
        <c:ser>
          <c:idx val="3"/>
          <c:order val="3"/>
          <c:tx>
            <c:strRef>
              <c:f>Sheet1!$E$1</c:f>
              <c:strCache>
                <c:ptCount val="1"/>
                <c:pt idx="0">
                  <c:v>Enabler</c:v>
                </c:pt>
              </c:strCache>
            </c:strRef>
          </c:tx>
          <c:spPr>
            <a:solidFill>
              <a:srgbClr val="1D4ED8"/>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Q4-26</c:v>
                  </c:pt>
                  <c:pt idx="1">
                    <c:v>Q1-27</c:v>
                  </c:pt>
                  <c:pt idx="2">
                    <c:v>Q2-27</c:v>
                  </c:pt>
                  <c:pt idx="3">
                    <c:v>Q3-27</c:v>
                  </c:pt>
                  <c:pt idx="4">
                    <c:v>Q4-27</c:v>
                  </c:pt>
                </c:lvl>
              </c:multiLvlStrCache>
            </c:multiLvlStrRef>
          </c:cat>
          <c:val>
            <c:numRef>
              <c:f>Sheet1!$E$2:$E$6</c:f>
              <c:numCache>
                <c:formatCode>General</c:formatCode>
                <c:ptCount val="5"/>
                <c:pt idx="0">
                  <c:v>20</c:v>
                </c:pt>
                <c:pt idx="1">
                  <c:v>20</c:v>
                </c:pt>
                <c:pt idx="2">
                  <c:v>15</c:v>
                </c:pt>
                <c:pt idx="3">
                  <c:v>15</c:v>
                </c:pt>
                <c:pt idx="4">
                  <c:v>10</c:v>
                </c:pt>
              </c:numCache>
            </c:numRef>
          </c:val>
        </c:ser>
        <c:ser>
          <c:idx val="4"/>
          <c:order val="4"/>
          <c:tx>
            <c:strRef>
              <c:f>Sheet1!$F$1</c:f>
              <c:strCache>
                <c:ptCount val="1"/>
                <c:pt idx="0">
                  <c:v>Risk/compliance</c:v>
                </c:pt>
              </c:strCache>
            </c:strRef>
          </c:tx>
          <c:spPr>
            <a:solidFill>
              <a:srgbClr val="B45309"/>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Sheet1!$A$2:$A$6</c:f>
              <c:multiLvlStrCache>
                <c:ptCount val="5"/>
                <c:lvl>
                  <c:pt idx="0">
                    <c:v>Q4-26</c:v>
                  </c:pt>
                  <c:pt idx="1">
                    <c:v>Q1-27</c:v>
                  </c:pt>
                  <c:pt idx="2">
                    <c:v>Q2-27</c:v>
                  </c:pt>
                  <c:pt idx="3">
                    <c:v>Q3-27</c:v>
                  </c:pt>
                  <c:pt idx="4">
                    <c:v>Q4-27</c:v>
                  </c:pt>
                </c:lvl>
              </c:multiLvlStrCache>
            </c:multiLvlStrRef>
          </c:cat>
          <c:val>
            <c:numRef>
              <c:f>Sheet1!$F$2:$F$6</c:f>
              <c:numCache>
                <c:formatCode>General</c:formatCode>
                <c:ptCount val="5"/>
                <c:pt idx="0">
                  <c:v>5</c:v>
                </c:pt>
                <c:pt idx="1">
                  <c:v>5</c:v>
                </c:pt>
                <c:pt idx="2">
                  <c:v>5</c:v>
                </c:pt>
                <c:pt idx="3">
                  <c:v>5</c:v>
                </c:pt>
                <c:pt idx="4">
                  <c:v>5</c:v>
                </c:pt>
              </c:numCache>
            </c:numRef>
          </c:val>
        </c:ser>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agree how AmphenolCIT will plan, prioritise and fund post-go-live technical debt alongside new functionality. The deck is paired with a Planner workbook (backlog, capacity, roadmap, KPIs) and a Quick Reference Guide for collecting tech debt. All numbers are placeholders until discovery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interviews. The five symptoms are connected: Z-field data and missing Fiori roles are why standard apps look empty; weak integration monitoring and missing data ownership drive the data quality issues. Treat them as one programme with one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vocabulary in every conversation. The six categories map to SAP's five clean core dimensions plus user experience. Section 2 of the Quick Reference Guide lists the symptoms, evidence sources and fix patterns per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 frames post-go-live health as 'clean core' across five dimensions. For code, SAP's current guidance grades each extension A (released, upgrade-stable) to D (modifications). Our KPI will be the trend of C and D items and the share of new work built at level A. For custom fields, the Custom Fields app (key-user extensibility) is level A and exposes the field to CDS, OData and Fiori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free / included tools: Readiness Check, Pathfinder (upload ST03N usage to get Fiori app recommendations), ATC clean-core checks, SCMON/SUSG for unused code, Cloud ALM for backlog, testing and monitoring. LeanIX, Signavio and MDG depend on licences - to be confirmed. Ask the SAP account team / CSP about Enterprise Support or Preferred Success services that can run parts of discovery at no extra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adopting full SAFe. We borrow WSJF and capacity allocation from SAFe, work types and flow distribution from the Flow Framework, and the Fowler quadrant to classify root causes. The board can live in Cloud ALM (included) or the existing enterprise tool (Jira / Azure DevOps / ServiceNow) - pick the one the IT team already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front door stops side-channel requests. Weekly triage keeps the backlog clean; refinement makes items Ready; the monthly portfolio review decides what gets capacity. The design authority step is how we stop creating new debt while paying down the old. Definitions of Ready and Done make the gates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separate tech-debt list never gets prioritised. By putting all five work types in one ranked backlog, the business sees that choosing a new feature means deferring a debt item, and vice versa. The hierarchy links sprint-level tasks up to clean core themes, so progress rolls up to leadership KPIs.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Separating the three decisions stops every item turning into a debate. Leadership decides the split once per quarter; the team ranks within it. WSJF uses a Fibonacci scale 1-20 - the scoring anchors are in the Quick Reference Guide, section 5. For tech debt, the interest/principal grid is a quick sanity check on the WSJF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Front-load enablers and tech debt while the foundation is built (Work Zone, Integration Suite landing zone, Fiori roles, custom-field clean-up), then shift toward features as the platform stabilises. Keep tech debt + enablers at or above ~25-30% while clean core KPIs are red. The Planner's Capacity &amp; Budget tab compares these guardrails with live demand from the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Repetition is the point. Weekly triage and refinement keep the top of the backlog Ready; the bi-weekly demo shows users progress; the monthly portfolio review is where the capacity split and budget are checked; the quarterly health check closes stale items and re-scores debt. The semi-annual innovation scan feeds new S/4 and BTP features into the backlog so the business sees innovation, not only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shown are to Q4-2027 and are placeholders to be set once baselines are measured. The Planner's KPI Dashboard computes live backlog counts and health signals (stale items, open C/D items, annual interest cost of open debt) and a RAG status against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(Oct-Nov 2026): mobilise governance and baseline with SAP tools. Phase 1 (to ~Feb 2027): Fiori foundation and first finance wave, Work Zone and Integration Suite landing zones, custom-field inventory, Cloud ALM. Phase 2 (2027): scale Fiori by role, migrate interfaces in waves, data quality programme, remediate C/D code. Phase 3 (H2 2027): release upgrade, AI/Joule readiness, process automation. Full activity-level Gantt is in the Planner's Roadmap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fields are the linchpin: while business data sits in SE11 appends, standard Fiori apps, OData APIs, Work Zone content and analytics cannot use it. Fixing that unlocks the Fiori and Work Zone plays. Integration Suite standards must be in place before volume grows, or the new platform becomes the next generation of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90-day plan is designed so users see something new by day 90 (Fiori apps, a Work Zone pilot, fewer interface failures), which builds support for the longer clean-core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change the plan materially: deployment model and BTP entitlements decide tooling and cost; budget model decides how capacity allocation is enforced; custom field volume sizes the data workstream. The Quick Reference Guide has the full interview question bank by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five decisions. The first four are organisational and cost nothing; the fifth starts discovery using tools included in existing SAP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13B"/>
        </a:solidFill>
      </p:bgPr>
    </p:bg>
    <p:spTree>
      <p:nvGrpSpPr>
        <p:cNvPr id="1" name=""/>
        <p:cNvGrpSpPr/>
        <p:nvPr/>
      </p:nvGrpSpPr>
      <p:grpSpPr>
        <a:xfrm>
          <a:off x="0" y="0"/>
          <a:ext cx="0" cy="0"/>
          <a:chOff x="0" y="0"/>
          <a:chExt cx="0" cy="0"/>
        </a:xfrm>
      </p:grpSpPr>
      <p:sp>
        <p:nvSpPr>
          <p:cNvPr id="2" name="Shape 0"/>
          <p:cNvSpPr/>
          <p:nvPr/>
        </p:nvSpPr>
        <p:spPr>
          <a:xfrm>
            <a:off x="8138160" y="-1097280"/>
            <a:ext cx="5669280" cy="5669280"/>
          </a:xfrm>
          <a:prstGeom prst="ellipse">
            <a:avLst/>
          </a:prstGeom>
          <a:solidFill>
            <a:srgbClr val="0F766E">
              <a:alpha val="45000"/>
            </a:srgbClr>
          </a:solidFill>
          <a:ln w="12700">
            <a:solidFill>
              <a:srgbClr val="0F766E">
                <a:alpha val="45000"/>
              </a:srgbClr>
            </a:solidFill>
            <a:prstDash val="solid"/>
          </a:ln>
        </p:spPr>
      </p:sp>
      <p:sp>
        <p:nvSpPr>
          <p:cNvPr id="3" name="Shape 1"/>
          <p:cNvSpPr/>
          <p:nvPr/>
        </p:nvSpPr>
        <p:spPr>
          <a:xfrm>
            <a:off x="9692640" y="3383280"/>
            <a:ext cx="3291840" cy="3291840"/>
          </a:xfrm>
          <a:prstGeom prst="ellipse">
            <a:avLst/>
          </a:prstGeom>
          <a:solidFill>
            <a:srgbClr val="14B8A6">
              <a:alpha val="30000"/>
            </a:srgbClr>
          </a:solidFill>
          <a:ln w="12700">
            <a:solidFill>
              <a:srgbClr val="14B8A6">
                <a:alpha val="30000"/>
              </a:srgbClr>
            </a:solidFill>
            <a:prstDash val="solid"/>
          </a:ln>
        </p:spPr>
      </p:sp>
      <p:sp>
        <p:nvSpPr>
          <p:cNvPr id="4" name="Shape 2"/>
          <p:cNvSpPr/>
          <p:nvPr/>
        </p:nvSpPr>
        <p:spPr>
          <a:xfrm>
            <a:off x="9966960" y="1234440"/>
            <a:ext cx="1737360" cy="1737360"/>
          </a:xfrm>
          <a:prstGeom prst="ellipse">
            <a:avLst/>
          </a:prstGeom>
          <a:solidFill>
            <a:srgbClr val="F59E0B"/>
          </a:solidFill>
          <a:ln w="12700">
            <a:solidFill>
              <a:srgbClr val="F59E0B"/>
            </a:solidFill>
            <a:prstDash val="solid"/>
          </a:ln>
        </p:spPr>
      </p:sp>
      <p:pic>
        <p:nvPicPr>
          <p:cNvPr id="5" name="Image 0" descr="preencoded.png">    </p:cNvPr>
          <p:cNvPicPr>
            <a:picLocks noChangeAspect="1"/>
          </p:cNvPicPr>
          <p:nvPr/>
        </p:nvPicPr>
        <p:blipFill>
          <a:blip r:embed="rId1"/>
          <a:stretch>
            <a:fillRect/>
          </a:stretch>
        </p:blipFill>
        <p:spPr>
          <a:xfrm>
            <a:off x="10418674" y="1686154"/>
            <a:ext cx="833933" cy="833933"/>
          </a:xfrm>
          <a:prstGeom prst="rect">
            <a:avLst/>
          </a:prstGeom>
        </p:spPr>
      </p:pic>
      <p:sp>
        <p:nvSpPr>
          <p:cNvPr id="6" name="Text 3"/>
          <p:cNvSpPr txBox="1"/>
          <p:nvPr/>
        </p:nvSpPr>
        <p:spPr>
          <a:xfrm>
            <a:off x="731520" y="1188720"/>
            <a:ext cx="7315200" cy="365760"/>
          </a:xfrm>
          <a:prstGeom prst="rect">
            <a:avLst/>
          </a:prstGeom>
          <a:noFill/>
          <a:ln/>
        </p:spPr>
        <p:txBody>
          <a:bodyPr wrap="square" lIns="0" tIns="0" rIns="0" bIns="0" rtlCol="0" anchor="t"/>
          <a:lstStyle/>
          <a:p>
            <a:pPr algn="l" indent="0" marL="0">
              <a:buNone/>
            </a:pPr>
            <a:r>
              <a:rPr lang="en-US" sz="1300" b="1" dirty="0">
                <a:solidFill>
                  <a:srgbClr val="14B8A6"/>
                </a:solidFill>
                <a:latin typeface="Calibri" pitchFamily="34" charset="0"/>
                <a:ea typeface="Calibri" pitchFamily="34" charset="-122"/>
                <a:cs typeface="Calibri" pitchFamily="34" charset="-120"/>
              </a:rPr>
              <a:t>AMPHENOLCIT  |  ENTERPRISE ARCHITECTURE</a:t>
            </a:r>
            <a:endParaRPr lang="en-US" sz="1300" dirty="0"/>
          </a:p>
        </p:txBody>
      </p:sp>
      <p:sp>
        <p:nvSpPr>
          <p:cNvPr id="7" name="Text 4"/>
          <p:cNvSpPr txBox="1"/>
          <p:nvPr/>
        </p:nvSpPr>
        <p:spPr>
          <a:xfrm>
            <a:off x="731520" y="1737360"/>
            <a:ext cx="7772400" cy="1005840"/>
          </a:xfrm>
          <a:prstGeom prst="rect">
            <a:avLst/>
          </a:prstGeom>
          <a:noFill/>
          <a:ln/>
        </p:spPr>
        <p:txBody>
          <a:bodyPr wrap="square" lIns="0" tIns="0" rIns="0" bIns="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From go-live to value</a:t>
            </a:r>
            <a:endParaRPr lang="en-US" sz="4800" dirty="0"/>
          </a:p>
        </p:txBody>
      </p:sp>
      <p:sp>
        <p:nvSpPr>
          <p:cNvPr id="8" name="Text 5"/>
          <p:cNvSpPr txBox="1"/>
          <p:nvPr/>
        </p:nvSpPr>
        <p:spPr>
          <a:xfrm>
            <a:off x="731520" y="2834640"/>
            <a:ext cx="7132320" cy="1188720"/>
          </a:xfrm>
          <a:prstGeom prst="rect">
            <a:avLst/>
          </a:prstGeom>
          <a:noFill/>
          <a:ln/>
        </p:spPr>
        <p:txBody>
          <a:bodyPr wrap="square" lIns="0" tIns="0" rIns="0" bIns="0" rtlCol="0" anchor="t"/>
          <a:lstStyle/>
          <a:p>
            <a:pPr algn="l" indent="0" marL="0">
              <a:buNone/>
            </a:pPr>
            <a:r>
              <a:rPr lang="en-US" sz="2000" dirty="0">
                <a:solidFill>
                  <a:srgbClr val="CBD5E1"/>
                </a:solidFill>
                <a:latin typeface="Calibri" pitchFamily="34" charset="0"/>
                <a:ea typeface="Calibri" pitchFamily="34" charset="-122"/>
                <a:cs typeface="Calibri" pitchFamily="34" charset="-120"/>
              </a:rPr>
              <a:t>A plan to pay down S/4HANA technical debt and unlock Fiori, SAP Build Work Zone, Integration Suite and trusted data — without breaking the budget</a:t>
            </a:r>
            <a:endParaRPr lang="en-US" sz="2000" dirty="0"/>
          </a:p>
        </p:txBody>
      </p:sp>
      <p:sp>
        <p:nvSpPr>
          <p:cNvPr id="9" name="Text 6"/>
          <p:cNvSpPr txBox="1"/>
          <p:nvPr/>
        </p:nvSpPr>
        <p:spPr>
          <a:xfrm>
            <a:off x="731520" y="5394960"/>
            <a:ext cx="5486400" cy="365760"/>
          </a:xfrm>
          <a:prstGeom prst="rect">
            <a:avLst/>
          </a:prstGeom>
          <a:noFill/>
          <a:ln/>
        </p:spPr>
        <p:txBody>
          <a:bodyPr wrap="square" lIns="0" tIns="0" rIns="0" bIns="0" rtlCol="0" anchor="t"/>
          <a:lstStyle/>
          <a:p>
            <a:pPr algn="l" indent="0" marL="0">
              <a:buNone/>
            </a:pPr>
            <a:r>
              <a:rPr lang="en-US" sz="1300" dirty="0">
                <a:solidFill>
                  <a:srgbClr val="94A3B8"/>
                </a:solidFill>
                <a:latin typeface="Calibri" pitchFamily="34" charset="0"/>
                <a:ea typeface="Calibri" pitchFamily="34" charset="-122"/>
                <a:cs typeface="Calibri" pitchFamily="34" charset="-120"/>
              </a:rPr>
              <a:t>Draft for discussion  |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One year after go-live: the platform is live, the value isn’t yet</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What we heard from the team</a:t>
            </a:r>
            <a:endParaRPr lang="en-US" sz="1600" dirty="0"/>
          </a:p>
        </p:txBody>
      </p:sp>
      <p:sp>
        <p:nvSpPr>
          <p:cNvPr id="4" name="Shape 2"/>
          <p:cNvSpPr/>
          <p:nvPr/>
        </p:nvSpPr>
        <p:spPr>
          <a:xfrm>
            <a:off x="548640" y="1737360"/>
            <a:ext cx="2103120" cy="30175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965960"/>
            <a:ext cx="685800" cy="685800"/>
          </a:xfrm>
          <a:prstGeom prst="ellipse">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955548" y="2144268"/>
            <a:ext cx="329184" cy="329184"/>
          </a:xfrm>
          <a:prstGeom prst="rect">
            <a:avLst/>
          </a:prstGeom>
        </p:spPr>
      </p:pic>
      <p:sp>
        <p:nvSpPr>
          <p:cNvPr id="7" name="Text 4"/>
          <p:cNvSpPr txBox="1"/>
          <p:nvPr/>
        </p:nvSpPr>
        <p:spPr>
          <a:xfrm>
            <a:off x="777240" y="2788920"/>
            <a:ext cx="1645920" cy="594360"/>
          </a:xfrm>
          <a:prstGeom prst="rect">
            <a:avLst/>
          </a:prstGeom>
          <a:noFill/>
          <a:ln/>
        </p:spPr>
        <p:txBody>
          <a:bodyPr wrap="square" lIns="0" tIns="0" rIns="0" bIns="0" rtlCol="0" anchor="t"/>
          <a:lstStyle/>
          <a:p>
            <a:pPr algn="l" indent="0" marL="0">
              <a:buNone/>
            </a:pPr>
            <a:r>
              <a:rPr lang="en-US" sz="1600" b="1" dirty="0">
                <a:solidFill>
                  <a:srgbClr val="17313B"/>
                </a:solidFill>
                <a:latin typeface="Calibri" pitchFamily="34" charset="0"/>
                <a:ea typeface="Calibri" pitchFamily="34" charset="-122"/>
                <a:cs typeface="Calibri" pitchFamily="34" charset="-120"/>
              </a:rPr>
              <a:t>Fiori not in use</a:t>
            </a:r>
            <a:endParaRPr lang="en-US" sz="1600" dirty="0"/>
          </a:p>
        </p:txBody>
      </p:sp>
      <p:sp>
        <p:nvSpPr>
          <p:cNvPr id="8" name="Text 5"/>
          <p:cNvSpPr txBox="1"/>
          <p:nvPr/>
        </p:nvSpPr>
        <p:spPr>
          <a:xfrm>
            <a:off x="777240" y="3383280"/>
            <a:ext cx="1645920" cy="1280160"/>
          </a:xfrm>
          <a:prstGeom prst="rect">
            <a:avLst/>
          </a:prstGeom>
          <a:noFill/>
          <a:ln/>
        </p:spPr>
        <p:txBody>
          <a:bodyPr wrap="square" lIns="0" tIns="0" rIns="0" bIns="0" rtlCol="0" anchor="t"/>
          <a:lstStyle/>
          <a:p>
            <a:pPr algn="l" indent="0" marL="0">
              <a:buNone/>
            </a:pPr>
            <a:r>
              <a:rPr lang="en-US" sz="1300" dirty="0">
                <a:solidFill>
                  <a:srgbClr val="1F2937"/>
                </a:solidFill>
                <a:latin typeface="Calibri" pitchFamily="34" charset="0"/>
                <a:ea typeface="Calibri" pitchFamily="34" charset="-122"/>
                <a:cs typeface="Calibri" pitchFamily="34" charset="-120"/>
              </a:rPr>
              <a:t>Users still on SAP GUI; role-based Fiori apps and launchpad not rolled out.</a:t>
            </a:r>
            <a:endParaRPr lang="en-US" sz="1300" dirty="0"/>
          </a:p>
        </p:txBody>
      </p:sp>
      <p:sp>
        <p:nvSpPr>
          <p:cNvPr id="9" name="Shape 6"/>
          <p:cNvSpPr/>
          <p:nvPr/>
        </p:nvSpPr>
        <p:spPr>
          <a:xfrm>
            <a:off x="2834640" y="1737360"/>
            <a:ext cx="2103120" cy="30175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063240" y="1965960"/>
            <a:ext cx="685800" cy="685800"/>
          </a:xfrm>
          <a:prstGeom prst="ellipse">
            <a:avLst/>
          </a:prstGeom>
          <a:solidFill>
            <a:srgbClr val="0F766E"/>
          </a:solidFill>
          <a:ln w="12700">
            <a:solidFill>
              <a:srgbClr val="0F766E"/>
            </a:solidFill>
            <a:prstDash val="solid"/>
          </a:ln>
        </p:spPr>
      </p:sp>
      <p:pic>
        <p:nvPicPr>
          <p:cNvPr id="11" name="Image 1" descr="preencoded.png">    </p:cNvPr>
          <p:cNvPicPr>
            <a:picLocks noChangeAspect="1"/>
          </p:cNvPicPr>
          <p:nvPr/>
        </p:nvPicPr>
        <p:blipFill>
          <a:blip r:embed="rId2"/>
          <a:stretch>
            <a:fillRect/>
          </a:stretch>
        </p:blipFill>
        <p:spPr>
          <a:xfrm>
            <a:off x="3241548" y="2144268"/>
            <a:ext cx="329184" cy="329184"/>
          </a:xfrm>
          <a:prstGeom prst="rect">
            <a:avLst/>
          </a:prstGeom>
        </p:spPr>
      </p:pic>
      <p:sp>
        <p:nvSpPr>
          <p:cNvPr id="12" name="Text 8"/>
          <p:cNvSpPr txBox="1"/>
          <p:nvPr/>
        </p:nvSpPr>
        <p:spPr>
          <a:xfrm>
            <a:off x="3063240" y="2788920"/>
            <a:ext cx="1645920" cy="594360"/>
          </a:xfrm>
          <a:prstGeom prst="rect">
            <a:avLst/>
          </a:prstGeom>
          <a:noFill/>
          <a:ln/>
        </p:spPr>
        <p:txBody>
          <a:bodyPr wrap="square" lIns="0" tIns="0" rIns="0" bIns="0" rtlCol="0" anchor="t"/>
          <a:lstStyle/>
          <a:p>
            <a:pPr algn="l" indent="0" marL="0">
              <a:buNone/>
            </a:pPr>
            <a:r>
              <a:rPr lang="en-US" sz="1600" b="1" dirty="0">
                <a:solidFill>
                  <a:srgbClr val="17313B"/>
                </a:solidFill>
                <a:latin typeface="Calibri" pitchFamily="34" charset="0"/>
                <a:ea typeface="Calibri" pitchFamily="34" charset="-122"/>
                <a:cs typeface="Calibri" pitchFamily="34" charset="-120"/>
              </a:rPr>
              <a:t>Hungry for innovation</a:t>
            </a:r>
            <a:endParaRPr lang="en-US" sz="1600" dirty="0"/>
          </a:p>
        </p:txBody>
      </p:sp>
      <p:sp>
        <p:nvSpPr>
          <p:cNvPr id="13" name="Text 9"/>
          <p:cNvSpPr txBox="1"/>
          <p:nvPr/>
        </p:nvSpPr>
        <p:spPr>
          <a:xfrm>
            <a:off x="3063240" y="3383280"/>
            <a:ext cx="1645920" cy="1280160"/>
          </a:xfrm>
          <a:prstGeom prst="rect">
            <a:avLst/>
          </a:prstGeom>
          <a:noFill/>
          <a:ln/>
        </p:spPr>
        <p:txBody>
          <a:bodyPr wrap="square" lIns="0" tIns="0" rIns="0" bIns="0" rtlCol="0" anchor="t"/>
          <a:lstStyle/>
          <a:p>
            <a:pPr algn="l" indent="0" marL="0">
              <a:buNone/>
            </a:pPr>
            <a:r>
              <a:rPr lang="en-US" sz="1300" dirty="0">
                <a:solidFill>
                  <a:srgbClr val="1F2937"/>
                </a:solidFill>
                <a:latin typeface="Calibri" pitchFamily="34" charset="0"/>
                <a:ea typeface="Calibri" pitchFamily="34" charset="-122"/>
                <a:cs typeface="Calibri" pitchFamily="34" charset="-120"/>
              </a:rPr>
              <a:t>Strong demand for the latest S/4HANA functions and SAP Build Work Zone.</a:t>
            </a:r>
            <a:endParaRPr lang="en-US" sz="1300" dirty="0"/>
          </a:p>
        </p:txBody>
      </p:sp>
      <p:sp>
        <p:nvSpPr>
          <p:cNvPr id="14" name="Shape 10"/>
          <p:cNvSpPr/>
          <p:nvPr/>
        </p:nvSpPr>
        <p:spPr>
          <a:xfrm>
            <a:off x="5120640" y="1737360"/>
            <a:ext cx="2103120" cy="30175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5349240" y="1965960"/>
            <a:ext cx="685800" cy="685800"/>
          </a:xfrm>
          <a:prstGeom prst="ellipse">
            <a:avLst/>
          </a:prstGeom>
          <a:solidFill>
            <a:srgbClr val="0F766E"/>
          </a:solidFill>
          <a:ln w="12700">
            <a:solidFill>
              <a:srgbClr val="0F766E"/>
            </a:solidFill>
            <a:prstDash val="solid"/>
          </a:ln>
        </p:spPr>
      </p:sp>
      <p:pic>
        <p:nvPicPr>
          <p:cNvPr id="16" name="Image 2" descr="preencoded.png">    </p:cNvPr>
          <p:cNvPicPr>
            <a:picLocks noChangeAspect="1"/>
          </p:cNvPicPr>
          <p:nvPr/>
        </p:nvPicPr>
        <p:blipFill>
          <a:blip r:embed="rId3"/>
          <a:stretch>
            <a:fillRect/>
          </a:stretch>
        </p:blipFill>
        <p:spPr>
          <a:xfrm>
            <a:off x="5527548" y="2144268"/>
            <a:ext cx="329184" cy="329184"/>
          </a:xfrm>
          <a:prstGeom prst="rect">
            <a:avLst/>
          </a:prstGeom>
        </p:spPr>
      </p:pic>
      <p:sp>
        <p:nvSpPr>
          <p:cNvPr id="17" name="Text 12"/>
          <p:cNvSpPr txBox="1"/>
          <p:nvPr/>
        </p:nvSpPr>
        <p:spPr>
          <a:xfrm>
            <a:off x="5349240" y="2788920"/>
            <a:ext cx="1645920" cy="594360"/>
          </a:xfrm>
          <a:prstGeom prst="rect">
            <a:avLst/>
          </a:prstGeom>
          <a:noFill/>
          <a:ln/>
        </p:spPr>
        <p:txBody>
          <a:bodyPr wrap="square" lIns="0" tIns="0" rIns="0" bIns="0" rtlCol="0" anchor="t"/>
          <a:lstStyle/>
          <a:p>
            <a:pPr algn="l" indent="0" marL="0">
              <a:buNone/>
            </a:pPr>
            <a:r>
              <a:rPr lang="en-US" sz="1600" b="1" dirty="0">
                <a:solidFill>
                  <a:srgbClr val="17313B"/>
                </a:solidFill>
                <a:latin typeface="Calibri" pitchFamily="34" charset="0"/>
                <a:ea typeface="Calibri" pitchFamily="34" charset="-122"/>
                <a:cs typeface="Calibri" pitchFamily="34" charset="-120"/>
              </a:rPr>
              <a:t>Integration Suite: early days</a:t>
            </a:r>
            <a:endParaRPr lang="en-US" sz="1600" dirty="0"/>
          </a:p>
        </p:txBody>
      </p:sp>
      <p:sp>
        <p:nvSpPr>
          <p:cNvPr id="18" name="Text 13"/>
          <p:cNvSpPr txBox="1"/>
          <p:nvPr/>
        </p:nvSpPr>
        <p:spPr>
          <a:xfrm>
            <a:off x="5349240" y="3383280"/>
            <a:ext cx="1645920" cy="1280160"/>
          </a:xfrm>
          <a:prstGeom prst="rect">
            <a:avLst/>
          </a:prstGeom>
          <a:noFill/>
          <a:ln/>
        </p:spPr>
        <p:txBody>
          <a:bodyPr wrap="square" lIns="0" tIns="0" rIns="0" bIns="0" rtlCol="0" anchor="t"/>
          <a:lstStyle/>
          <a:p>
            <a:pPr algn="l" indent="0" marL="0">
              <a:buNone/>
            </a:pPr>
            <a:r>
              <a:rPr lang="en-US" sz="1300" dirty="0">
                <a:solidFill>
                  <a:srgbClr val="1F2937"/>
                </a:solidFill>
                <a:latin typeface="Calibri" pitchFamily="34" charset="0"/>
                <a:ea typeface="Calibri" pitchFamily="34" charset="-122"/>
                <a:cs typeface="Calibri" pitchFamily="34" charset="-120"/>
              </a:rPr>
              <a:t>Usage just started; standards, monitoring and a migration plan are not yet in place.</a:t>
            </a:r>
            <a:endParaRPr lang="en-US" sz="1300" dirty="0"/>
          </a:p>
        </p:txBody>
      </p:sp>
      <p:sp>
        <p:nvSpPr>
          <p:cNvPr id="19" name="Shape 14"/>
          <p:cNvSpPr/>
          <p:nvPr/>
        </p:nvSpPr>
        <p:spPr>
          <a:xfrm>
            <a:off x="7406640" y="1737360"/>
            <a:ext cx="2103120" cy="30175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0" name="Shape 15"/>
          <p:cNvSpPr/>
          <p:nvPr/>
        </p:nvSpPr>
        <p:spPr>
          <a:xfrm>
            <a:off x="7635240" y="1965960"/>
            <a:ext cx="685800" cy="685800"/>
          </a:xfrm>
          <a:prstGeom prst="ellipse">
            <a:avLst/>
          </a:prstGeom>
          <a:solidFill>
            <a:srgbClr val="0F766E"/>
          </a:solidFill>
          <a:ln w="12700">
            <a:solidFill>
              <a:srgbClr val="0F766E"/>
            </a:solidFill>
            <a:prstDash val="solid"/>
          </a:ln>
        </p:spPr>
      </p:sp>
      <p:pic>
        <p:nvPicPr>
          <p:cNvPr id="21" name="Image 3" descr="preencoded.png">    </p:cNvPr>
          <p:cNvPicPr>
            <a:picLocks noChangeAspect="1"/>
          </p:cNvPicPr>
          <p:nvPr/>
        </p:nvPicPr>
        <p:blipFill>
          <a:blip r:embed="rId4"/>
          <a:stretch>
            <a:fillRect/>
          </a:stretch>
        </p:blipFill>
        <p:spPr>
          <a:xfrm>
            <a:off x="7813548" y="2144268"/>
            <a:ext cx="329184" cy="329184"/>
          </a:xfrm>
          <a:prstGeom prst="rect">
            <a:avLst/>
          </a:prstGeom>
        </p:spPr>
      </p:pic>
      <p:sp>
        <p:nvSpPr>
          <p:cNvPr id="22" name="Text 16"/>
          <p:cNvSpPr txBox="1"/>
          <p:nvPr/>
        </p:nvSpPr>
        <p:spPr>
          <a:xfrm>
            <a:off x="7635240" y="2788920"/>
            <a:ext cx="1645920" cy="594360"/>
          </a:xfrm>
          <a:prstGeom prst="rect">
            <a:avLst/>
          </a:prstGeom>
          <a:noFill/>
          <a:ln/>
        </p:spPr>
        <p:txBody>
          <a:bodyPr wrap="square" lIns="0" tIns="0" rIns="0" bIns="0" rtlCol="0" anchor="t"/>
          <a:lstStyle/>
          <a:p>
            <a:pPr algn="l" indent="0" marL="0">
              <a:buNone/>
            </a:pPr>
            <a:r>
              <a:rPr lang="en-US" sz="1600" b="1" dirty="0">
                <a:solidFill>
                  <a:srgbClr val="17313B"/>
                </a:solidFill>
                <a:latin typeface="Calibri" pitchFamily="34" charset="0"/>
                <a:ea typeface="Calibri" pitchFamily="34" charset="-122"/>
                <a:cs typeface="Calibri" pitchFamily="34" charset="-120"/>
              </a:rPr>
              <a:t>Data quality issues</a:t>
            </a:r>
            <a:endParaRPr lang="en-US" sz="1600" dirty="0"/>
          </a:p>
        </p:txBody>
      </p:sp>
      <p:sp>
        <p:nvSpPr>
          <p:cNvPr id="23" name="Text 17"/>
          <p:cNvSpPr txBox="1"/>
          <p:nvPr/>
        </p:nvSpPr>
        <p:spPr>
          <a:xfrm>
            <a:off x="7635240" y="3383280"/>
            <a:ext cx="1645920" cy="1280160"/>
          </a:xfrm>
          <a:prstGeom prst="rect">
            <a:avLst/>
          </a:prstGeom>
          <a:noFill/>
          <a:ln/>
        </p:spPr>
        <p:txBody>
          <a:bodyPr wrap="square" lIns="0" tIns="0" rIns="0" bIns="0" rtlCol="0" anchor="t"/>
          <a:lstStyle/>
          <a:p>
            <a:pPr algn="l" indent="0" marL="0">
              <a:buNone/>
            </a:pPr>
            <a:r>
              <a:rPr lang="en-US" sz="1300" dirty="0">
                <a:solidFill>
                  <a:srgbClr val="1F2937"/>
                </a:solidFill>
                <a:latin typeface="Calibri" pitchFamily="34" charset="0"/>
                <a:ea typeface="Calibri" pitchFamily="34" charset="-122"/>
                <a:cs typeface="Calibri" pitchFamily="34" charset="-120"/>
              </a:rPr>
              <a:t>Errors and low trust in reports; data quality is not measured or owned.</a:t>
            </a:r>
            <a:endParaRPr lang="en-US" sz="1300" dirty="0"/>
          </a:p>
        </p:txBody>
      </p:sp>
      <p:sp>
        <p:nvSpPr>
          <p:cNvPr id="24" name="Shape 18"/>
          <p:cNvSpPr/>
          <p:nvPr/>
        </p:nvSpPr>
        <p:spPr>
          <a:xfrm>
            <a:off x="9692640" y="1737360"/>
            <a:ext cx="2103120" cy="30175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5" name="Shape 19"/>
          <p:cNvSpPr/>
          <p:nvPr/>
        </p:nvSpPr>
        <p:spPr>
          <a:xfrm>
            <a:off x="9921240" y="1965960"/>
            <a:ext cx="685800" cy="685800"/>
          </a:xfrm>
          <a:prstGeom prst="ellipse">
            <a:avLst/>
          </a:prstGeom>
          <a:solidFill>
            <a:srgbClr val="0F766E"/>
          </a:solidFill>
          <a:ln w="12700">
            <a:solidFill>
              <a:srgbClr val="0F766E"/>
            </a:solidFill>
            <a:prstDash val="solid"/>
          </a:ln>
        </p:spPr>
      </p:sp>
      <p:pic>
        <p:nvPicPr>
          <p:cNvPr id="26" name="Image 4" descr="preencoded.png">    </p:cNvPr>
          <p:cNvPicPr>
            <a:picLocks noChangeAspect="1"/>
          </p:cNvPicPr>
          <p:nvPr/>
        </p:nvPicPr>
        <p:blipFill>
          <a:blip r:embed="rId5"/>
          <a:stretch>
            <a:fillRect/>
          </a:stretch>
        </p:blipFill>
        <p:spPr>
          <a:xfrm>
            <a:off x="10099548" y="2144268"/>
            <a:ext cx="329184" cy="329184"/>
          </a:xfrm>
          <a:prstGeom prst="rect">
            <a:avLst/>
          </a:prstGeom>
        </p:spPr>
      </p:pic>
      <p:sp>
        <p:nvSpPr>
          <p:cNvPr id="27" name="Text 20"/>
          <p:cNvSpPr txBox="1"/>
          <p:nvPr/>
        </p:nvSpPr>
        <p:spPr>
          <a:xfrm>
            <a:off x="9921240" y="2788920"/>
            <a:ext cx="1645920" cy="594360"/>
          </a:xfrm>
          <a:prstGeom prst="rect">
            <a:avLst/>
          </a:prstGeom>
          <a:noFill/>
          <a:ln/>
        </p:spPr>
        <p:txBody>
          <a:bodyPr wrap="square" lIns="0" tIns="0" rIns="0" bIns="0" rtlCol="0" anchor="t"/>
          <a:lstStyle/>
          <a:p>
            <a:pPr algn="l" indent="0" marL="0">
              <a:buNone/>
            </a:pPr>
            <a:r>
              <a:rPr lang="en-US" sz="1600" b="1" dirty="0">
                <a:solidFill>
                  <a:srgbClr val="17313B"/>
                </a:solidFill>
                <a:latin typeface="Calibri" pitchFamily="34" charset="0"/>
                <a:ea typeface="Calibri" pitchFamily="34" charset="-122"/>
                <a:cs typeface="Calibri" pitchFamily="34" charset="-120"/>
              </a:rPr>
              <a:t>Custom fields hold the data</a:t>
            </a:r>
            <a:endParaRPr lang="en-US" sz="1600" dirty="0"/>
          </a:p>
        </p:txBody>
      </p:sp>
      <p:sp>
        <p:nvSpPr>
          <p:cNvPr id="28" name="Text 21"/>
          <p:cNvSpPr txBox="1"/>
          <p:nvPr/>
        </p:nvSpPr>
        <p:spPr>
          <a:xfrm>
            <a:off x="9921240" y="3383280"/>
            <a:ext cx="1645920" cy="1280160"/>
          </a:xfrm>
          <a:prstGeom prst="rect">
            <a:avLst/>
          </a:prstGeom>
          <a:noFill/>
          <a:ln/>
        </p:spPr>
        <p:txBody>
          <a:bodyPr wrap="square" lIns="0" tIns="0" rIns="0" bIns="0" rtlCol="0" anchor="t"/>
          <a:lstStyle/>
          <a:p>
            <a:pPr algn="l" indent="0" marL="0">
              <a:buNone/>
            </a:pPr>
            <a:r>
              <a:rPr lang="en-US" sz="1300" dirty="0">
                <a:solidFill>
                  <a:srgbClr val="1F2937"/>
                </a:solidFill>
                <a:latin typeface="Calibri" pitchFamily="34" charset="0"/>
                <a:ea typeface="Calibri" pitchFamily="34" charset="-122"/>
                <a:cs typeface="Calibri" pitchFamily="34" charset="-120"/>
              </a:rPr>
              <a:t>Business data sits in Z-fields that standard Fiori apps, APIs and analytics cannot see.</a:t>
            </a:r>
            <a:endParaRPr lang="en-US" sz="1300" dirty="0"/>
          </a:p>
        </p:txBody>
      </p:sp>
      <p:sp>
        <p:nvSpPr>
          <p:cNvPr id="29" name="Shape 22"/>
          <p:cNvSpPr/>
          <p:nvPr/>
        </p:nvSpPr>
        <p:spPr>
          <a:xfrm>
            <a:off x="548640" y="5029200"/>
            <a:ext cx="11064240" cy="1143000"/>
          </a:xfrm>
          <a:prstGeom prst="roundRect">
            <a:avLst>
              <a:gd name="adj" fmla="val 6400"/>
            </a:avLst>
          </a:prstGeom>
          <a:solidFill>
            <a:srgbClr val="E6F2F0"/>
          </a:solidFill>
          <a:ln w="9525">
            <a:solidFill>
              <a:srgbClr val="E6F2F0"/>
            </a:solidFill>
            <a:prstDash val="solid"/>
          </a:ln>
        </p:spPr>
      </p:sp>
      <p:sp>
        <p:nvSpPr>
          <p:cNvPr id="30" name="Text 23"/>
          <p:cNvSpPr txBox="1"/>
          <p:nvPr/>
        </p:nvSpPr>
        <p:spPr>
          <a:xfrm>
            <a:off x="777240" y="5120640"/>
            <a:ext cx="10607040" cy="960120"/>
          </a:xfrm>
          <a:prstGeom prst="rect">
            <a:avLst/>
          </a:prstGeom>
          <a:noFill/>
          <a:ln/>
        </p:spPr>
        <p:txBody>
          <a:bodyPr wrap="square" lIns="0" tIns="0" rIns="0" bIns="0" rtlCol="0" anchor="ctr"/>
          <a:lstStyle/>
          <a:p>
            <a:pPr algn="l" indent="0" marL="0">
              <a:buNone/>
            </a:pPr>
            <a:r>
              <a:rPr lang="en-US" sz="1500" b="1" dirty="0">
                <a:solidFill>
                  <a:srgbClr val="0F766E"/>
                </a:solidFill>
                <a:latin typeface="Calibri" pitchFamily="34" charset="0"/>
                <a:ea typeface="Calibri" pitchFamily="34" charset="-122"/>
                <a:cs typeface="Calibri" pitchFamily="34" charset="-120"/>
              </a:rPr>
              <a:t>The pattern: </a:t>
            </a:r>
            <a:pPr algn="l" indent="0" marL="0">
              <a:buNone/>
            </a:pPr>
            <a:r>
              <a:rPr lang="en-US" sz="1500" dirty="0">
                <a:solidFill>
                  <a:srgbClr val="1F2937"/>
                </a:solidFill>
                <a:latin typeface="Calibri" pitchFamily="34" charset="0"/>
                <a:ea typeface="Calibri" pitchFamily="34" charset="-122"/>
                <a:cs typeface="Calibri" pitchFamily="34" charset="-120"/>
              </a:rPr>
              <a:t>scope deferred to “phase 2” at go-live has become debt that charges interest every month — manual workarounds, invisible data, fragile interfaces — and it blocks the innovation the business is asking for. The fix is a managed, continuous backlog, not another big project.</a:t>
            </a:r>
            <a:endParaRPr lang="en-US" sz="1500" dirty="0"/>
          </a:p>
        </p:txBody>
      </p:sp>
      <p:sp>
        <p:nvSpPr>
          <p:cNvPr id="31" name="Text 24"/>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What we mean by technical debt in S/4HANA</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Anything that works today but makes change slower, riskier or impossible tomorrow</a:t>
            </a:r>
            <a:endParaRPr lang="en-US" sz="1600" dirty="0"/>
          </a:p>
        </p:txBody>
      </p:sp>
      <p:sp>
        <p:nvSpPr>
          <p:cNvPr id="4" name="Shape 2"/>
          <p:cNvSpPr/>
          <p:nvPr/>
        </p:nvSpPr>
        <p:spPr>
          <a:xfrm>
            <a:off x="548640" y="1737360"/>
            <a:ext cx="3383280" cy="4434840"/>
          </a:xfrm>
          <a:prstGeom prst="roundRect">
            <a:avLst>
              <a:gd name="adj" fmla="val 2162"/>
            </a:avLst>
          </a:prstGeom>
          <a:solidFill>
            <a:srgbClr val="17313B"/>
          </a:solidFill>
          <a:ln w="9525">
            <a:solidFill>
              <a:srgbClr val="17313B"/>
            </a:solidFill>
            <a:prstDash val="solid"/>
          </a:ln>
        </p:spPr>
      </p:sp>
      <p:sp>
        <p:nvSpPr>
          <p:cNvPr id="5" name="Text 3"/>
          <p:cNvSpPr txBox="1"/>
          <p:nvPr/>
        </p:nvSpPr>
        <p:spPr>
          <a:xfrm>
            <a:off x="777240" y="1920240"/>
            <a:ext cx="2926080" cy="457200"/>
          </a:xfrm>
          <a:prstGeom prst="rect">
            <a:avLst/>
          </a:prstGeom>
          <a:noFill/>
          <a:ln/>
        </p:spPr>
        <p:txBody>
          <a:bodyPr wrap="square" lIns="0" tIns="0" rIns="0" bIns="0" rtlCol="0" anchor="t"/>
          <a:lstStyle/>
          <a:p>
            <a:pPr algn="l" indent="0" marL="0">
              <a:buNone/>
            </a:pPr>
            <a:r>
              <a:rPr lang="en-US" sz="1800" b="1" dirty="0">
                <a:solidFill>
                  <a:srgbClr val="FFFFFF"/>
                </a:solidFill>
                <a:latin typeface="Calibri" pitchFamily="34" charset="0"/>
                <a:ea typeface="Calibri" pitchFamily="34" charset="-122"/>
                <a:cs typeface="Calibri" pitchFamily="34" charset="-120"/>
              </a:rPr>
              <a:t>Principal &amp; interest</a:t>
            </a:r>
            <a:endParaRPr lang="en-US" sz="1800" dirty="0"/>
          </a:p>
        </p:txBody>
      </p:sp>
      <p:sp>
        <p:nvSpPr>
          <p:cNvPr id="6" name="Text 4"/>
          <p:cNvSpPr txBox="1"/>
          <p:nvPr/>
        </p:nvSpPr>
        <p:spPr>
          <a:xfrm>
            <a:off x="777240" y="2468880"/>
            <a:ext cx="2971800" cy="2377440"/>
          </a:xfrm>
          <a:prstGeom prst="rect">
            <a:avLst/>
          </a:prstGeom>
          <a:noFill/>
          <a:ln/>
        </p:spPr>
        <p:txBody>
          <a:bodyPr wrap="square" lIns="0" tIns="0" rIns="0" bIns="0" rtlCol="0" anchor="t"/>
          <a:lstStyle/>
          <a:p>
            <a:pPr algn="l" marL="177800" indent="-177800">
              <a:spcAft>
                <a:spcPts val="800"/>
              </a:spcAft>
              <a:buSzPct val="100000"/>
              <a:buChar char="•"/>
            </a:pPr>
            <a:r>
              <a:rPr lang="en-US" sz="1400" b="1" dirty="0">
                <a:solidFill>
                  <a:srgbClr val="E2E8F0"/>
                </a:solidFill>
                <a:latin typeface="Calibri" pitchFamily="34" charset="0"/>
                <a:ea typeface="Calibri" pitchFamily="34" charset="-122"/>
                <a:cs typeface="Calibri" pitchFamily="34" charset="-120"/>
              </a:rPr>
              <a:t>Principal: </a:t>
            </a:r>
            <a:pPr algn="l" indent="0" marL="0">
              <a:spcAft>
                <a:spcPts val="800"/>
              </a:spcAft>
              <a:buNone/>
            </a:pPr>
            <a:r>
              <a:rPr lang="en-US" sz="1400" dirty="0">
                <a:solidFill>
                  <a:srgbClr val="E2E8F0"/>
                </a:solidFill>
                <a:latin typeface="Calibri" pitchFamily="34" charset="0"/>
                <a:ea typeface="Calibri" pitchFamily="34" charset="-122"/>
                <a:cs typeface="Calibri" pitchFamily="34" charset="-120"/>
              </a:rPr>
              <a:t>the one-off effort to fix it.</a:t>
            </a:r>
            <a:endParaRPr lang="en-US" sz="1400" dirty="0"/>
          </a:p>
          <a:p>
            <a:pPr algn="l" marL="177800" indent="-177800">
              <a:spcAft>
                <a:spcPts val="800"/>
              </a:spcAft>
              <a:buSzPct val="100000"/>
              <a:buChar char="•"/>
            </a:pPr>
            <a:r>
              <a:rPr lang="en-US" sz="1400" b="1" dirty="0">
                <a:solidFill>
                  <a:srgbClr val="E2E8F0"/>
                </a:solidFill>
                <a:latin typeface="Calibri" pitchFamily="34" charset="0"/>
                <a:ea typeface="Calibri" pitchFamily="34" charset="-122"/>
                <a:cs typeface="Calibri" pitchFamily="34" charset="-120"/>
              </a:rPr>
              <a:t>Interest: </a:t>
            </a:r>
            <a:pPr algn="l" indent="0" marL="0">
              <a:spcAft>
                <a:spcPts val="800"/>
              </a:spcAft>
              <a:buNone/>
            </a:pPr>
            <a:r>
              <a:rPr lang="en-US" sz="1400" dirty="0">
                <a:solidFill>
                  <a:srgbClr val="E2E8F0"/>
                </a:solidFill>
                <a:latin typeface="Calibri" pitchFamily="34" charset="0"/>
                <a:ea typeface="Calibri" pitchFamily="34" charset="-122"/>
                <a:cs typeface="Calibri" pitchFamily="34" charset="-120"/>
              </a:rPr>
              <a:t>what it costs every month we keep it — workarounds, incidents, extra testing, blocked features.</a:t>
            </a:r>
            <a:endParaRPr lang="en-US" sz="1400" dirty="0"/>
          </a:p>
          <a:p>
            <a:pPr algn="l" marL="177800" indent="-177800">
              <a:spcAft>
                <a:spcPts val="800"/>
              </a:spcAft>
              <a:buSzPct val="100000"/>
              <a:buChar char="•"/>
            </a:pPr>
            <a:r>
              <a:rPr lang="en-US" sz="1400" b="1" dirty="0">
                <a:solidFill>
                  <a:srgbClr val="E2E8F0"/>
                </a:solidFill>
                <a:latin typeface="Calibri" pitchFamily="34" charset="0"/>
                <a:ea typeface="Calibri" pitchFamily="34" charset="-122"/>
                <a:cs typeface="Calibri" pitchFamily="34" charset="-120"/>
              </a:rPr>
              <a:t>Rule: </a:t>
            </a:r>
            <a:pPr algn="l" indent="0" marL="0">
              <a:spcAft>
                <a:spcPts val="800"/>
              </a:spcAft>
              <a:buNone/>
            </a:pPr>
            <a:r>
              <a:rPr lang="en-US" sz="1400" dirty="0">
                <a:solidFill>
                  <a:srgbClr val="E2E8F0"/>
                </a:solidFill>
                <a:latin typeface="Calibri" pitchFamily="34" charset="0"/>
                <a:ea typeface="Calibri" pitchFamily="34" charset="-122"/>
                <a:cs typeface="Calibri" pitchFamily="34" charset="-120"/>
              </a:rPr>
              <a:t>pay down debt with high interest and low principal first; accept and document the rest.</a:t>
            </a:r>
            <a:endParaRPr lang="en-US" sz="1400" dirty="0"/>
          </a:p>
        </p:txBody>
      </p:sp>
      <p:sp>
        <p:nvSpPr>
          <p:cNvPr id="7" name="Text 5"/>
          <p:cNvSpPr txBox="1"/>
          <p:nvPr/>
        </p:nvSpPr>
        <p:spPr>
          <a:xfrm>
            <a:off x="777240" y="5074920"/>
            <a:ext cx="2971800" cy="914400"/>
          </a:xfrm>
          <a:prstGeom prst="rect">
            <a:avLst/>
          </a:prstGeom>
          <a:noFill/>
          <a:ln/>
        </p:spPr>
        <p:txBody>
          <a:bodyPr wrap="square" lIns="0" tIns="0" rIns="0" bIns="0" rtlCol="0" anchor="t"/>
          <a:lstStyle/>
          <a:p>
            <a:pPr algn="l" indent="0" marL="0">
              <a:buNone/>
            </a:pPr>
            <a:r>
              <a:rPr lang="en-US" sz="1300" i="1" dirty="0">
                <a:solidFill>
                  <a:srgbClr val="14B8A6"/>
                </a:solidFill>
                <a:latin typeface="Calibri" pitchFamily="34" charset="0"/>
                <a:ea typeface="Calibri" pitchFamily="34" charset="-122"/>
                <a:cs typeface="Calibri" pitchFamily="34" charset="-120"/>
              </a:rPr>
              <a:t>Every register item records both, so debt competes on value, not on noise.</a:t>
            </a:r>
            <a:endParaRPr lang="en-US" sz="1300" dirty="0"/>
          </a:p>
        </p:txBody>
      </p:sp>
      <p:sp>
        <p:nvSpPr>
          <p:cNvPr id="8" name="Shape 6"/>
          <p:cNvSpPr/>
          <p:nvPr/>
        </p:nvSpPr>
        <p:spPr>
          <a:xfrm>
            <a:off x="4206240" y="1737360"/>
            <a:ext cx="3611880" cy="1371600"/>
          </a:xfrm>
          <a:prstGeom prst="roundRect">
            <a:avLst>
              <a:gd name="adj" fmla="val 5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389120" y="2011680"/>
            <a:ext cx="731520" cy="731520"/>
          </a:xfrm>
          <a:prstGeom prst="ellipse">
            <a:avLst/>
          </a:prstGeom>
          <a:solidFill>
            <a:srgbClr val="0F766E"/>
          </a:solidFill>
          <a:ln w="12700">
            <a:solidFill>
              <a:srgbClr val="0F766E"/>
            </a:solidFill>
            <a:prstDash val="solid"/>
          </a:ln>
        </p:spPr>
      </p:sp>
      <p:pic>
        <p:nvPicPr>
          <p:cNvPr id="10" name="Image 0" descr="preencoded.png">    </p:cNvPr>
          <p:cNvPicPr>
            <a:picLocks noChangeAspect="1"/>
          </p:cNvPicPr>
          <p:nvPr/>
        </p:nvPicPr>
        <p:blipFill>
          <a:blip r:embed="rId1"/>
          <a:stretch>
            <a:fillRect/>
          </a:stretch>
        </p:blipFill>
        <p:spPr>
          <a:xfrm>
            <a:off x="4579315" y="2201875"/>
            <a:ext cx="351130" cy="351130"/>
          </a:xfrm>
          <a:prstGeom prst="rect">
            <a:avLst/>
          </a:prstGeom>
        </p:spPr>
      </p:pic>
      <p:sp>
        <p:nvSpPr>
          <p:cNvPr id="11" name="Text 8"/>
          <p:cNvSpPr txBox="1"/>
          <p:nvPr/>
        </p:nvSpPr>
        <p:spPr>
          <a:xfrm>
            <a:off x="5303520" y="1901952"/>
            <a:ext cx="2377440" cy="365760"/>
          </a:xfrm>
          <a:prstGeom prst="rect">
            <a:avLst/>
          </a:prstGeom>
          <a:noFill/>
          <a:ln/>
        </p:spPr>
        <p:txBody>
          <a:bodyPr wrap="square" lIns="0" tIns="0" rIns="0" bIns="0" rtlCol="0" anchor="t"/>
          <a:lstStyle/>
          <a:p>
            <a:pPr algn="l" indent="0" marL="0">
              <a:buNone/>
            </a:pPr>
            <a:r>
              <a:rPr lang="en-US" sz="1500" b="1" dirty="0">
                <a:solidFill>
                  <a:srgbClr val="17313B"/>
                </a:solidFill>
                <a:latin typeface="Calibri" pitchFamily="34" charset="0"/>
                <a:ea typeface="Calibri" pitchFamily="34" charset="-122"/>
                <a:cs typeface="Calibri" pitchFamily="34" charset="-120"/>
              </a:rPr>
              <a:t>Custom code &amp; modifications</a:t>
            </a:r>
            <a:endParaRPr lang="en-US" sz="1500" dirty="0"/>
          </a:p>
        </p:txBody>
      </p:sp>
      <p:sp>
        <p:nvSpPr>
          <p:cNvPr id="12" name="Text 9"/>
          <p:cNvSpPr txBox="1"/>
          <p:nvPr/>
        </p:nvSpPr>
        <p:spPr>
          <a:xfrm>
            <a:off x="5303520" y="2258568"/>
            <a:ext cx="2377440" cy="4572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Z-objects, user-exit code, unused code</a:t>
            </a:r>
            <a:endParaRPr lang="en-US" sz="1200" dirty="0"/>
          </a:p>
        </p:txBody>
      </p:sp>
      <p:sp>
        <p:nvSpPr>
          <p:cNvPr id="13" name="Text 10"/>
          <p:cNvSpPr txBox="1"/>
          <p:nvPr/>
        </p:nvSpPr>
        <p:spPr>
          <a:xfrm>
            <a:off x="5303520" y="2715768"/>
            <a:ext cx="2377440" cy="274320"/>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Clean core: Extensibility</a:t>
            </a:r>
            <a:endParaRPr lang="en-US" sz="1100" dirty="0"/>
          </a:p>
        </p:txBody>
      </p:sp>
      <p:sp>
        <p:nvSpPr>
          <p:cNvPr id="14" name="Shape 11"/>
          <p:cNvSpPr/>
          <p:nvPr/>
        </p:nvSpPr>
        <p:spPr>
          <a:xfrm>
            <a:off x="7955280" y="1737360"/>
            <a:ext cx="3611880" cy="1371600"/>
          </a:xfrm>
          <a:prstGeom prst="roundRect">
            <a:avLst>
              <a:gd name="adj" fmla="val 5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8138160" y="2011680"/>
            <a:ext cx="731520" cy="731520"/>
          </a:xfrm>
          <a:prstGeom prst="ellipse">
            <a:avLst/>
          </a:prstGeom>
          <a:solidFill>
            <a:srgbClr val="0F766E"/>
          </a:solidFill>
          <a:ln w="12700">
            <a:solidFill>
              <a:srgbClr val="0F766E"/>
            </a:solidFill>
            <a:prstDash val="solid"/>
          </a:ln>
        </p:spPr>
      </p:sp>
      <p:pic>
        <p:nvPicPr>
          <p:cNvPr id="16" name="Image 1" descr="preencoded.png">    </p:cNvPr>
          <p:cNvPicPr>
            <a:picLocks noChangeAspect="1"/>
          </p:cNvPicPr>
          <p:nvPr/>
        </p:nvPicPr>
        <p:blipFill>
          <a:blip r:embed="rId2"/>
          <a:stretch>
            <a:fillRect/>
          </a:stretch>
        </p:blipFill>
        <p:spPr>
          <a:xfrm>
            <a:off x="8328355" y="2201875"/>
            <a:ext cx="351130" cy="351130"/>
          </a:xfrm>
          <a:prstGeom prst="rect">
            <a:avLst/>
          </a:prstGeom>
        </p:spPr>
      </p:pic>
      <p:sp>
        <p:nvSpPr>
          <p:cNvPr id="17" name="Text 13"/>
          <p:cNvSpPr txBox="1"/>
          <p:nvPr/>
        </p:nvSpPr>
        <p:spPr>
          <a:xfrm>
            <a:off x="9052560" y="1901952"/>
            <a:ext cx="2377440" cy="365760"/>
          </a:xfrm>
          <a:prstGeom prst="rect">
            <a:avLst/>
          </a:prstGeom>
          <a:noFill/>
          <a:ln/>
        </p:spPr>
        <p:txBody>
          <a:bodyPr wrap="square" lIns="0" tIns="0" rIns="0" bIns="0" rtlCol="0" anchor="t"/>
          <a:lstStyle/>
          <a:p>
            <a:pPr algn="l" indent="0" marL="0">
              <a:buNone/>
            </a:pPr>
            <a:r>
              <a:rPr lang="en-US" sz="1500" b="1" dirty="0">
                <a:solidFill>
                  <a:srgbClr val="17313B"/>
                </a:solidFill>
                <a:latin typeface="Calibri" pitchFamily="34" charset="0"/>
                <a:ea typeface="Calibri" pitchFamily="34" charset="-122"/>
                <a:cs typeface="Calibri" pitchFamily="34" charset="-120"/>
              </a:rPr>
              <a:t>User experience</a:t>
            </a:r>
            <a:endParaRPr lang="en-US" sz="1500" dirty="0"/>
          </a:p>
        </p:txBody>
      </p:sp>
      <p:sp>
        <p:nvSpPr>
          <p:cNvPr id="18" name="Text 14"/>
          <p:cNvSpPr txBox="1"/>
          <p:nvPr/>
        </p:nvSpPr>
        <p:spPr>
          <a:xfrm>
            <a:off x="9052560" y="2258568"/>
            <a:ext cx="2377440" cy="4572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GUI-only, no Fiori roles, many entry points</a:t>
            </a:r>
            <a:endParaRPr lang="en-US" sz="1200" dirty="0"/>
          </a:p>
        </p:txBody>
      </p:sp>
      <p:sp>
        <p:nvSpPr>
          <p:cNvPr id="19" name="Text 15"/>
          <p:cNvSpPr txBox="1"/>
          <p:nvPr/>
        </p:nvSpPr>
        <p:spPr>
          <a:xfrm>
            <a:off x="9052560" y="2715768"/>
            <a:ext cx="2377440" cy="274320"/>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Clean core: UX</a:t>
            </a:r>
            <a:endParaRPr lang="en-US" sz="1100" dirty="0"/>
          </a:p>
        </p:txBody>
      </p:sp>
      <p:sp>
        <p:nvSpPr>
          <p:cNvPr id="20" name="Shape 16"/>
          <p:cNvSpPr/>
          <p:nvPr/>
        </p:nvSpPr>
        <p:spPr>
          <a:xfrm>
            <a:off x="4206240" y="3246120"/>
            <a:ext cx="3611880" cy="1371600"/>
          </a:xfrm>
          <a:prstGeom prst="roundRect">
            <a:avLst>
              <a:gd name="adj" fmla="val 5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1" name="Shape 17"/>
          <p:cNvSpPr/>
          <p:nvPr/>
        </p:nvSpPr>
        <p:spPr>
          <a:xfrm>
            <a:off x="4389120" y="3520440"/>
            <a:ext cx="731520" cy="731520"/>
          </a:xfrm>
          <a:prstGeom prst="ellipse">
            <a:avLst/>
          </a:prstGeom>
          <a:solidFill>
            <a:srgbClr val="0F766E"/>
          </a:solidFill>
          <a:ln w="12700">
            <a:solidFill>
              <a:srgbClr val="0F766E"/>
            </a:solidFill>
            <a:prstDash val="solid"/>
          </a:ln>
        </p:spPr>
      </p:sp>
      <p:pic>
        <p:nvPicPr>
          <p:cNvPr id="22" name="Image 2" descr="preencoded.png">    </p:cNvPr>
          <p:cNvPicPr>
            <a:picLocks noChangeAspect="1"/>
          </p:cNvPicPr>
          <p:nvPr/>
        </p:nvPicPr>
        <p:blipFill>
          <a:blip r:embed="rId3"/>
          <a:stretch>
            <a:fillRect/>
          </a:stretch>
        </p:blipFill>
        <p:spPr>
          <a:xfrm>
            <a:off x="4579315" y="3710635"/>
            <a:ext cx="351130" cy="351130"/>
          </a:xfrm>
          <a:prstGeom prst="rect">
            <a:avLst/>
          </a:prstGeom>
        </p:spPr>
      </p:pic>
      <p:sp>
        <p:nvSpPr>
          <p:cNvPr id="23" name="Text 18"/>
          <p:cNvSpPr txBox="1"/>
          <p:nvPr/>
        </p:nvSpPr>
        <p:spPr>
          <a:xfrm>
            <a:off x="5303520" y="3410712"/>
            <a:ext cx="2377440" cy="365760"/>
          </a:xfrm>
          <a:prstGeom prst="rect">
            <a:avLst/>
          </a:prstGeom>
          <a:noFill/>
          <a:ln/>
        </p:spPr>
        <p:txBody>
          <a:bodyPr wrap="square" lIns="0" tIns="0" rIns="0" bIns="0" rtlCol="0" anchor="t"/>
          <a:lstStyle/>
          <a:p>
            <a:pPr algn="l" indent="0" marL="0">
              <a:buNone/>
            </a:pPr>
            <a:r>
              <a:rPr lang="en-US" sz="1500" b="1" dirty="0">
                <a:solidFill>
                  <a:srgbClr val="17313B"/>
                </a:solidFill>
                <a:latin typeface="Calibri" pitchFamily="34" charset="0"/>
                <a:ea typeface="Calibri" pitchFamily="34" charset="-122"/>
                <a:cs typeface="Calibri" pitchFamily="34" charset="-120"/>
              </a:rPr>
              <a:t>Integration</a:t>
            </a:r>
            <a:endParaRPr lang="en-US" sz="1500" dirty="0"/>
          </a:p>
        </p:txBody>
      </p:sp>
      <p:sp>
        <p:nvSpPr>
          <p:cNvPr id="24" name="Text 19"/>
          <p:cNvSpPr txBox="1"/>
          <p:nvPr/>
        </p:nvSpPr>
        <p:spPr>
          <a:xfrm>
            <a:off x="5303520" y="3767328"/>
            <a:ext cx="2377440" cy="4572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Point-to-point, unmonitored IDoc/RFC/file</a:t>
            </a:r>
            <a:endParaRPr lang="en-US" sz="1200" dirty="0"/>
          </a:p>
        </p:txBody>
      </p:sp>
      <p:sp>
        <p:nvSpPr>
          <p:cNvPr id="25" name="Text 20"/>
          <p:cNvSpPr txBox="1"/>
          <p:nvPr/>
        </p:nvSpPr>
        <p:spPr>
          <a:xfrm>
            <a:off x="5303520" y="4224528"/>
            <a:ext cx="2377440" cy="274320"/>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Clean core: Integration</a:t>
            </a:r>
            <a:endParaRPr lang="en-US" sz="1100" dirty="0"/>
          </a:p>
        </p:txBody>
      </p:sp>
      <p:sp>
        <p:nvSpPr>
          <p:cNvPr id="26" name="Shape 21"/>
          <p:cNvSpPr/>
          <p:nvPr/>
        </p:nvSpPr>
        <p:spPr>
          <a:xfrm>
            <a:off x="7955280" y="3246120"/>
            <a:ext cx="3611880" cy="1371600"/>
          </a:xfrm>
          <a:prstGeom prst="roundRect">
            <a:avLst>
              <a:gd name="adj" fmla="val 5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7" name="Shape 22"/>
          <p:cNvSpPr/>
          <p:nvPr/>
        </p:nvSpPr>
        <p:spPr>
          <a:xfrm>
            <a:off x="8138160" y="3520440"/>
            <a:ext cx="731520" cy="731520"/>
          </a:xfrm>
          <a:prstGeom prst="ellipse">
            <a:avLst/>
          </a:prstGeom>
          <a:solidFill>
            <a:srgbClr val="0F766E"/>
          </a:solidFill>
          <a:ln w="12700">
            <a:solidFill>
              <a:srgbClr val="0F766E"/>
            </a:solidFill>
            <a:prstDash val="solid"/>
          </a:ln>
        </p:spPr>
      </p:sp>
      <p:pic>
        <p:nvPicPr>
          <p:cNvPr id="28" name="Image 3" descr="preencoded.png">    </p:cNvPr>
          <p:cNvPicPr>
            <a:picLocks noChangeAspect="1"/>
          </p:cNvPicPr>
          <p:nvPr/>
        </p:nvPicPr>
        <p:blipFill>
          <a:blip r:embed="rId4"/>
          <a:stretch>
            <a:fillRect/>
          </a:stretch>
        </p:blipFill>
        <p:spPr>
          <a:xfrm>
            <a:off x="8328355" y="3710635"/>
            <a:ext cx="351130" cy="351130"/>
          </a:xfrm>
          <a:prstGeom prst="rect">
            <a:avLst/>
          </a:prstGeom>
        </p:spPr>
      </p:pic>
      <p:sp>
        <p:nvSpPr>
          <p:cNvPr id="29" name="Text 23"/>
          <p:cNvSpPr txBox="1"/>
          <p:nvPr/>
        </p:nvSpPr>
        <p:spPr>
          <a:xfrm>
            <a:off x="9052560" y="3410712"/>
            <a:ext cx="2377440" cy="365760"/>
          </a:xfrm>
          <a:prstGeom prst="rect">
            <a:avLst/>
          </a:prstGeom>
          <a:noFill/>
          <a:ln/>
        </p:spPr>
        <p:txBody>
          <a:bodyPr wrap="square" lIns="0" tIns="0" rIns="0" bIns="0" rtlCol="0" anchor="t"/>
          <a:lstStyle/>
          <a:p>
            <a:pPr algn="l" indent="0" marL="0">
              <a:buNone/>
            </a:pPr>
            <a:r>
              <a:rPr lang="en-US" sz="1500" b="1" dirty="0">
                <a:solidFill>
                  <a:srgbClr val="17313B"/>
                </a:solidFill>
                <a:latin typeface="Calibri" pitchFamily="34" charset="0"/>
                <a:ea typeface="Calibri" pitchFamily="34" charset="-122"/>
                <a:cs typeface="Calibri" pitchFamily="34" charset="-120"/>
              </a:rPr>
              <a:t>Data &amp; custom fields</a:t>
            </a:r>
            <a:endParaRPr lang="en-US" sz="1500" dirty="0"/>
          </a:p>
        </p:txBody>
      </p:sp>
      <p:sp>
        <p:nvSpPr>
          <p:cNvPr id="30" name="Text 24"/>
          <p:cNvSpPr txBox="1"/>
          <p:nvPr/>
        </p:nvSpPr>
        <p:spPr>
          <a:xfrm>
            <a:off x="9052560" y="3767328"/>
            <a:ext cx="2377440" cy="4572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Z-field data, duplicates, no data owners</a:t>
            </a:r>
            <a:endParaRPr lang="en-US" sz="1200" dirty="0"/>
          </a:p>
        </p:txBody>
      </p:sp>
      <p:sp>
        <p:nvSpPr>
          <p:cNvPr id="31" name="Text 25"/>
          <p:cNvSpPr txBox="1"/>
          <p:nvPr/>
        </p:nvSpPr>
        <p:spPr>
          <a:xfrm>
            <a:off x="9052560" y="4224528"/>
            <a:ext cx="2377440" cy="274320"/>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Clean core: Data</a:t>
            </a:r>
            <a:endParaRPr lang="en-US" sz="1100" dirty="0"/>
          </a:p>
        </p:txBody>
      </p:sp>
      <p:sp>
        <p:nvSpPr>
          <p:cNvPr id="32" name="Shape 26"/>
          <p:cNvSpPr/>
          <p:nvPr/>
        </p:nvSpPr>
        <p:spPr>
          <a:xfrm>
            <a:off x="4206240" y="4754880"/>
            <a:ext cx="3611880" cy="1371600"/>
          </a:xfrm>
          <a:prstGeom prst="roundRect">
            <a:avLst>
              <a:gd name="adj" fmla="val 5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33" name="Shape 27"/>
          <p:cNvSpPr/>
          <p:nvPr/>
        </p:nvSpPr>
        <p:spPr>
          <a:xfrm>
            <a:off x="4389120" y="5029200"/>
            <a:ext cx="731520" cy="731520"/>
          </a:xfrm>
          <a:prstGeom prst="ellipse">
            <a:avLst/>
          </a:prstGeom>
          <a:solidFill>
            <a:srgbClr val="0F766E"/>
          </a:solidFill>
          <a:ln w="12700">
            <a:solidFill>
              <a:srgbClr val="0F766E"/>
            </a:solidFill>
            <a:prstDash val="solid"/>
          </a:ln>
        </p:spPr>
      </p:sp>
      <p:pic>
        <p:nvPicPr>
          <p:cNvPr id="34" name="Image 4" descr="preencoded.png">    </p:cNvPr>
          <p:cNvPicPr>
            <a:picLocks noChangeAspect="1"/>
          </p:cNvPicPr>
          <p:nvPr/>
        </p:nvPicPr>
        <p:blipFill>
          <a:blip r:embed="rId5"/>
          <a:stretch>
            <a:fillRect/>
          </a:stretch>
        </p:blipFill>
        <p:spPr>
          <a:xfrm>
            <a:off x="4579315" y="5219395"/>
            <a:ext cx="351130" cy="351130"/>
          </a:xfrm>
          <a:prstGeom prst="rect">
            <a:avLst/>
          </a:prstGeom>
        </p:spPr>
      </p:pic>
      <p:sp>
        <p:nvSpPr>
          <p:cNvPr id="35" name="Text 28"/>
          <p:cNvSpPr txBox="1"/>
          <p:nvPr/>
        </p:nvSpPr>
        <p:spPr>
          <a:xfrm>
            <a:off x="5303520" y="4919472"/>
            <a:ext cx="2377440" cy="365760"/>
          </a:xfrm>
          <a:prstGeom prst="rect">
            <a:avLst/>
          </a:prstGeom>
          <a:noFill/>
          <a:ln/>
        </p:spPr>
        <p:txBody>
          <a:bodyPr wrap="square" lIns="0" tIns="0" rIns="0" bIns="0" rtlCol="0" anchor="t"/>
          <a:lstStyle/>
          <a:p>
            <a:pPr algn="l" indent="0" marL="0">
              <a:buNone/>
            </a:pPr>
            <a:r>
              <a:rPr lang="en-US" sz="1500" b="1" dirty="0">
                <a:solidFill>
                  <a:srgbClr val="17313B"/>
                </a:solidFill>
                <a:latin typeface="Calibri" pitchFamily="34" charset="0"/>
                <a:ea typeface="Calibri" pitchFamily="34" charset="-122"/>
                <a:cs typeface="Calibri" pitchFamily="34" charset="-120"/>
              </a:rPr>
              <a:t>Process workarounds</a:t>
            </a:r>
            <a:endParaRPr lang="en-US" sz="1500" dirty="0"/>
          </a:p>
        </p:txBody>
      </p:sp>
      <p:sp>
        <p:nvSpPr>
          <p:cNvPr id="36" name="Text 29"/>
          <p:cNvSpPr txBox="1"/>
          <p:nvPr/>
        </p:nvSpPr>
        <p:spPr>
          <a:xfrm>
            <a:off x="5303520" y="5276088"/>
            <a:ext cx="2377440" cy="4572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Excel steps, re-keying, unused standard</a:t>
            </a:r>
            <a:endParaRPr lang="en-US" sz="1200" dirty="0"/>
          </a:p>
        </p:txBody>
      </p:sp>
      <p:sp>
        <p:nvSpPr>
          <p:cNvPr id="37" name="Text 30"/>
          <p:cNvSpPr txBox="1"/>
          <p:nvPr/>
        </p:nvSpPr>
        <p:spPr>
          <a:xfrm>
            <a:off x="5303520" y="5733288"/>
            <a:ext cx="2377440" cy="274320"/>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Clean core: Processes</a:t>
            </a:r>
            <a:endParaRPr lang="en-US" sz="1100" dirty="0"/>
          </a:p>
        </p:txBody>
      </p:sp>
      <p:sp>
        <p:nvSpPr>
          <p:cNvPr id="38" name="Shape 31"/>
          <p:cNvSpPr/>
          <p:nvPr/>
        </p:nvSpPr>
        <p:spPr>
          <a:xfrm>
            <a:off x="7955280" y="4754880"/>
            <a:ext cx="3611880" cy="1371600"/>
          </a:xfrm>
          <a:prstGeom prst="roundRect">
            <a:avLst>
              <a:gd name="adj" fmla="val 5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39" name="Shape 32"/>
          <p:cNvSpPr/>
          <p:nvPr/>
        </p:nvSpPr>
        <p:spPr>
          <a:xfrm>
            <a:off x="8138160" y="5029200"/>
            <a:ext cx="731520" cy="731520"/>
          </a:xfrm>
          <a:prstGeom prst="ellipse">
            <a:avLst/>
          </a:prstGeom>
          <a:solidFill>
            <a:srgbClr val="0F766E"/>
          </a:solidFill>
          <a:ln w="12700">
            <a:solidFill>
              <a:srgbClr val="0F766E"/>
            </a:solidFill>
            <a:prstDash val="solid"/>
          </a:ln>
        </p:spPr>
      </p:sp>
      <p:pic>
        <p:nvPicPr>
          <p:cNvPr id="40" name="Image 5" descr="preencoded.png">    </p:cNvPr>
          <p:cNvPicPr>
            <a:picLocks noChangeAspect="1"/>
          </p:cNvPicPr>
          <p:nvPr/>
        </p:nvPicPr>
        <p:blipFill>
          <a:blip r:embed="rId6"/>
          <a:stretch>
            <a:fillRect/>
          </a:stretch>
        </p:blipFill>
        <p:spPr>
          <a:xfrm>
            <a:off x="8328355" y="5219395"/>
            <a:ext cx="351130" cy="351130"/>
          </a:xfrm>
          <a:prstGeom prst="rect">
            <a:avLst/>
          </a:prstGeom>
        </p:spPr>
      </p:pic>
      <p:sp>
        <p:nvSpPr>
          <p:cNvPr id="41" name="Text 33"/>
          <p:cNvSpPr txBox="1"/>
          <p:nvPr/>
        </p:nvSpPr>
        <p:spPr>
          <a:xfrm>
            <a:off x="9052560" y="4919472"/>
            <a:ext cx="2377440" cy="365760"/>
          </a:xfrm>
          <a:prstGeom prst="rect">
            <a:avLst/>
          </a:prstGeom>
          <a:noFill/>
          <a:ln/>
        </p:spPr>
        <p:txBody>
          <a:bodyPr wrap="square" lIns="0" tIns="0" rIns="0" bIns="0" rtlCol="0" anchor="t"/>
          <a:lstStyle/>
          <a:p>
            <a:pPr algn="l" indent="0" marL="0">
              <a:buNone/>
            </a:pPr>
            <a:r>
              <a:rPr lang="en-US" sz="1500" b="1" dirty="0">
                <a:solidFill>
                  <a:srgbClr val="17313B"/>
                </a:solidFill>
                <a:latin typeface="Calibri" pitchFamily="34" charset="0"/>
                <a:ea typeface="Calibri" pitchFamily="34" charset="-122"/>
                <a:cs typeface="Calibri" pitchFamily="34" charset="-120"/>
              </a:rPr>
              <a:t>Platform &amp; operations</a:t>
            </a:r>
            <a:endParaRPr lang="en-US" sz="1500" dirty="0"/>
          </a:p>
        </p:txBody>
      </p:sp>
      <p:sp>
        <p:nvSpPr>
          <p:cNvPr id="42" name="Text 34"/>
          <p:cNvSpPr txBox="1"/>
          <p:nvPr/>
        </p:nvSpPr>
        <p:spPr>
          <a:xfrm>
            <a:off x="9052560" y="5276088"/>
            <a:ext cx="2377440" cy="4572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Release lag, manual transports, no tests</a:t>
            </a:r>
            <a:endParaRPr lang="en-US" sz="1200" dirty="0"/>
          </a:p>
        </p:txBody>
      </p:sp>
      <p:sp>
        <p:nvSpPr>
          <p:cNvPr id="43" name="Text 35"/>
          <p:cNvSpPr txBox="1"/>
          <p:nvPr/>
        </p:nvSpPr>
        <p:spPr>
          <a:xfrm>
            <a:off x="9052560" y="5733288"/>
            <a:ext cx="2377440" cy="274320"/>
          </a:xfrm>
          <a:prstGeom prst="rect">
            <a:avLst/>
          </a:prstGeom>
          <a:noFill/>
          <a:ln/>
        </p:spPr>
        <p:txBody>
          <a:bodyPr wrap="square" lIns="0" tIns="0" rIns="0" bIns="0" rtlCol="0" anchor="t"/>
          <a:lstStyle/>
          <a:p>
            <a:pPr algn="l" indent="0" marL="0">
              <a:buNone/>
            </a:pPr>
            <a:r>
              <a:rPr lang="en-US" sz="1100" b="1" dirty="0">
                <a:solidFill>
                  <a:srgbClr val="0F766E"/>
                </a:solidFill>
                <a:latin typeface="Calibri" pitchFamily="34" charset="0"/>
                <a:ea typeface="Calibri" pitchFamily="34" charset="-122"/>
                <a:cs typeface="Calibri" pitchFamily="34" charset="-120"/>
              </a:rPr>
              <a:t>Clean core: Operations</a:t>
            </a:r>
            <a:endParaRPr lang="en-US" sz="1100" dirty="0"/>
          </a:p>
        </p:txBody>
      </p:sp>
      <p:sp>
        <p:nvSpPr>
          <p:cNvPr id="44" name="Text 36"/>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SAP’s answer: keep the core clean, extend on the side</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SAP clean core dimensions, with our initial gap assessment (to be validated in discovery)</a:t>
            </a:r>
            <a:endParaRPr lang="en-US" sz="1600" dirty="0"/>
          </a:p>
        </p:txBody>
      </p:sp>
      <p:sp>
        <p:nvSpPr>
          <p:cNvPr id="4" name="Text 2"/>
          <p:cNvSpPr txBox="1"/>
          <p:nvPr/>
        </p:nvSpPr>
        <p:spPr>
          <a:xfrm>
            <a:off x="548640" y="1691640"/>
            <a:ext cx="1828800" cy="274320"/>
          </a:xfrm>
          <a:prstGeom prst="rect">
            <a:avLst/>
          </a:prstGeom>
          <a:noFill/>
          <a:ln/>
        </p:spPr>
        <p:txBody>
          <a:bodyPr wrap="square" lIns="0" tIns="0" rIns="0" bIns="0" rtlCol="0" anchor="t"/>
          <a:lstStyle/>
          <a:p>
            <a:pPr algn="l" indent="0" marL="0">
              <a:buNone/>
            </a:pPr>
            <a:r>
              <a:rPr lang="en-US" sz="1200" b="1" dirty="0">
                <a:solidFill>
                  <a:srgbClr val="6B7280"/>
                </a:solidFill>
                <a:latin typeface="Calibri" pitchFamily="34" charset="0"/>
                <a:ea typeface="Calibri" pitchFamily="34" charset="-122"/>
                <a:cs typeface="Calibri" pitchFamily="34" charset="-120"/>
              </a:rPr>
              <a:t>Dimension</a:t>
            </a:r>
            <a:endParaRPr lang="en-US" sz="1200" dirty="0"/>
          </a:p>
        </p:txBody>
      </p:sp>
      <p:sp>
        <p:nvSpPr>
          <p:cNvPr id="5" name="Text 3"/>
          <p:cNvSpPr txBox="1"/>
          <p:nvPr/>
        </p:nvSpPr>
        <p:spPr>
          <a:xfrm>
            <a:off x="2468880" y="1691640"/>
            <a:ext cx="3840480" cy="274320"/>
          </a:xfrm>
          <a:prstGeom prst="rect">
            <a:avLst/>
          </a:prstGeom>
          <a:noFill/>
          <a:ln/>
        </p:spPr>
        <p:txBody>
          <a:bodyPr wrap="square" lIns="0" tIns="0" rIns="0" bIns="0" rtlCol="0" anchor="t"/>
          <a:lstStyle/>
          <a:p>
            <a:pPr algn="l" indent="0" marL="0">
              <a:buNone/>
            </a:pPr>
            <a:r>
              <a:rPr lang="en-US" sz="1200" b="1" dirty="0">
                <a:solidFill>
                  <a:srgbClr val="6B7280"/>
                </a:solidFill>
                <a:latin typeface="Calibri" pitchFamily="34" charset="0"/>
                <a:ea typeface="Calibri" pitchFamily="34" charset="-122"/>
                <a:cs typeface="Calibri" pitchFamily="34" charset="-120"/>
              </a:rPr>
              <a:t>What “clean” looks like</a:t>
            </a:r>
            <a:endParaRPr lang="en-US" sz="1200" dirty="0"/>
          </a:p>
        </p:txBody>
      </p:sp>
      <p:sp>
        <p:nvSpPr>
          <p:cNvPr id="6" name="Text 4"/>
          <p:cNvSpPr txBox="1"/>
          <p:nvPr/>
        </p:nvSpPr>
        <p:spPr>
          <a:xfrm>
            <a:off x="6355080" y="1691640"/>
            <a:ext cx="548640" cy="274320"/>
          </a:xfrm>
          <a:prstGeom prst="rect">
            <a:avLst/>
          </a:prstGeom>
          <a:noFill/>
          <a:ln/>
        </p:spPr>
        <p:txBody>
          <a:bodyPr wrap="square" lIns="0" tIns="0" rIns="0" bIns="0" rtlCol="0" anchor="t"/>
          <a:lstStyle/>
          <a:p>
            <a:pPr algn="ctr" indent="0" marL="0">
              <a:buNone/>
            </a:pPr>
            <a:r>
              <a:rPr lang="en-US" sz="1200" b="1" dirty="0">
                <a:solidFill>
                  <a:srgbClr val="6B7280"/>
                </a:solidFill>
                <a:latin typeface="Calibri" pitchFamily="34" charset="0"/>
                <a:ea typeface="Calibri" pitchFamily="34" charset="-122"/>
                <a:cs typeface="Calibri" pitchFamily="34" charset="-120"/>
              </a:rPr>
              <a:t>Gap</a:t>
            </a:r>
            <a:endParaRPr lang="en-US" sz="1200" dirty="0"/>
          </a:p>
        </p:txBody>
      </p:sp>
      <p:sp>
        <p:nvSpPr>
          <p:cNvPr id="7" name="Shape 5"/>
          <p:cNvSpPr/>
          <p:nvPr/>
        </p:nvSpPr>
        <p:spPr>
          <a:xfrm>
            <a:off x="548640" y="2011680"/>
            <a:ext cx="6400800" cy="713232"/>
          </a:xfrm>
          <a:prstGeom prst="roundRect">
            <a:avLst>
              <a:gd name="adj" fmla="val 10256"/>
            </a:avLst>
          </a:prstGeom>
          <a:solidFill>
            <a:srgbClr val="FFFFFF"/>
          </a:solidFill>
          <a:ln w="9525">
            <a:solidFill>
              <a:srgbClr val="E5E7EB"/>
            </a:solidFill>
            <a:prstDash val="solid"/>
          </a:ln>
        </p:spPr>
      </p:sp>
      <p:sp>
        <p:nvSpPr>
          <p:cNvPr id="8" name="Text 6"/>
          <p:cNvSpPr txBox="1"/>
          <p:nvPr/>
        </p:nvSpPr>
        <p:spPr>
          <a:xfrm>
            <a:off x="731520" y="2011680"/>
            <a:ext cx="1737360" cy="713232"/>
          </a:xfrm>
          <a:prstGeom prst="rect">
            <a:avLst/>
          </a:prstGeom>
          <a:noFill/>
          <a:ln/>
        </p:spPr>
        <p:txBody>
          <a:bodyPr wrap="square" lIns="0" tIns="0" rIns="0" bIns="0" rtlCol="0" anchor="ctr"/>
          <a:lstStyle/>
          <a:p>
            <a:pPr algn="l" indent="0" marL="0">
              <a:buNone/>
            </a:pPr>
            <a:r>
              <a:rPr lang="en-US" sz="1500" b="1" dirty="0">
                <a:solidFill>
                  <a:srgbClr val="17313B"/>
                </a:solidFill>
                <a:latin typeface="Calibri" pitchFamily="34" charset="0"/>
                <a:ea typeface="Calibri" pitchFamily="34" charset="-122"/>
                <a:cs typeface="Calibri" pitchFamily="34" charset="-120"/>
              </a:rPr>
              <a:t>Processes</a:t>
            </a:r>
            <a:endParaRPr lang="en-US" sz="1500" dirty="0"/>
          </a:p>
        </p:txBody>
      </p:sp>
      <p:sp>
        <p:nvSpPr>
          <p:cNvPr id="9" name="Text 7"/>
          <p:cNvSpPr txBox="1"/>
          <p:nvPr/>
        </p:nvSpPr>
        <p:spPr>
          <a:xfrm>
            <a:off x="2468880" y="2011680"/>
            <a:ext cx="3749040" cy="713232"/>
          </a:xfrm>
          <a:prstGeom prst="rect">
            <a:avLst/>
          </a:prstGeom>
          <a:noFill/>
          <a:ln/>
        </p:spPr>
        <p:txBody>
          <a:bodyPr wrap="square" lIns="0" tIns="0" rIns="0" bIns="0" rtlCol="0" anchor="ctr"/>
          <a:lstStyle/>
          <a:p>
            <a:pPr algn="l" indent="0" marL="0">
              <a:buNone/>
            </a:pPr>
            <a:r>
              <a:rPr lang="en-US" sz="1300" dirty="0">
                <a:solidFill>
                  <a:srgbClr val="1F2937"/>
                </a:solidFill>
                <a:latin typeface="Calibri" pitchFamily="34" charset="0"/>
                <a:ea typeface="Calibri" pitchFamily="34" charset="-122"/>
                <a:cs typeface="Calibri" pitchFamily="34" charset="-120"/>
              </a:rPr>
              <a:t>Standard, best-practice processes; fit-to-standard</a:t>
            </a:r>
            <a:endParaRPr lang="en-US" sz="1300" dirty="0"/>
          </a:p>
        </p:txBody>
      </p:sp>
      <p:sp>
        <p:nvSpPr>
          <p:cNvPr id="10" name="Shape 8"/>
          <p:cNvSpPr/>
          <p:nvPr/>
        </p:nvSpPr>
        <p:spPr>
          <a:xfrm>
            <a:off x="6446520" y="2194560"/>
            <a:ext cx="347472" cy="347472"/>
          </a:xfrm>
          <a:prstGeom prst="ellipse">
            <a:avLst/>
          </a:prstGeom>
          <a:solidFill>
            <a:srgbClr val="F59E0B"/>
          </a:solidFill>
          <a:ln w="12700">
            <a:solidFill>
              <a:srgbClr val="F59E0B"/>
            </a:solidFill>
            <a:prstDash val="solid"/>
          </a:ln>
        </p:spPr>
      </p:sp>
      <p:sp>
        <p:nvSpPr>
          <p:cNvPr id="11" name="Text 9"/>
          <p:cNvSpPr txBox="1"/>
          <p:nvPr/>
        </p:nvSpPr>
        <p:spPr>
          <a:xfrm>
            <a:off x="6446520" y="21945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
            </a:r>
            <a:endParaRPr lang="en-US" sz="1100" dirty="0"/>
          </a:p>
        </p:txBody>
      </p:sp>
      <p:sp>
        <p:nvSpPr>
          <p:cNvPr id="12" name="Shape 10"/>
          <p:cNvSpPr/>
          <p:nvPr/>
        </p:nvSpPr>
        <p:spPr>
          <a:xfrm>
            <a:off x="548640" y="2834640"/>
            <a:ext cx="6400800" cy="713232"/>
          </a:xfrm>
          <a:prstGeom prst="roundRect">
            <a:avLst>
              <a:gd name="adj" fmla="val 10256"/>
            </a:avLst>
          </a:prstGeom>
          <a:solidFill>
            <a:srgbClr val="F3F4F6"/>
          </a:solidFill>
          <a:ln w="9525">
            <a:solidFill>
              <a:srgbClr val="F3F4F6"/>
            </a:solidFill>
            <a:prstDash val="solid"/>
          </a:ln>
        </p:spPr>
      </p:sp>
      <p:sp>
        <p:nvSpPr>
          <p:cNvPr id="13" name="Text 11"/>
          <p:cNvSpPr txBox="1"/>
          <p:nvPr/>
        </p:nvSpPr>
        <p:spPr>
          <a:xfrm>
            <a:off x="731520" y="2834640"/>
            <a:ext cx="1737360" cy="713232"/>
          </a:xfrm>
          <a:prstGeom prst="rect">
            <a:avLst/>
          </a:prstGeom>
          <a:noFill/>
          <a:ln/>
        </p:spPr>
        <p:txBody>
          <a:bodyPr wrap="square" lIns="0" tIns="0" rIns="0" bIns="0" rtlCol="0" anchor="ctr"/>
          <a:lstStyle/>
          <a:p>
            <a:pPr algn="l" indent="0" marL="0">
              <a:buNone/>
            </a:pPr>
            <a:r>
              <a:rPr lang="en-US" sz="1500" b="1" dirty="0">
                <a:solidFill>
                  <a:srgbClr val="17313B"/>
                </a:solidFill>
                <a:latin typeface="Calibri" pitchFamily="34" charset="0"/>
                <a:ea typeface="Calibri" pitchFamily="34" charset="-122"/>
                <a:cs typeface="Calibri" pitchFamily="34" charset="-120"/>
              </a:rPr>
              <a:t>Extensibility</a:t>
            </a:r>
            <a:endParaRPr lang="en-US" sz="1500" dirty="0"/>
          </a:p>
        </p:txBody>
      </p:sp>
      <p:sp>
        <p:nvSpPr>
          <p:cNvPr id="14" name="Text 12"/>
          <p:cNvSpPr txBox="1"/>
          <p:nvPr/>
        </p:nvSpPr>
        <p:spPr>
          <a:xfrm>
            <a:off x="2468880" y="2834640"/>
            <a:ext cx="3749040" cy="713232"/>
          </a:xfrm>
          <a:prstGeom prst="rect">
            <a:avLst/>
          </a:prstGeom>
          <a:noFill/>
          <a:ln/>
        </p:spPr>
        <p:txBody>
          <a:bodyPr wrap="square" lIns="0" tIns="0" rIns="0" bIns="0" rtlCol="0" anchor="ctr"/>
          <a:lstStyle/>
          <a:p>
            <a:pPr algn="l" indent="0" marL="0">
              <a:buNone/>
            </a:pPr>
            <a:r>
              <a:rPr lang="en-US" sz="1300" dirty="0">
                <a:solidFill>
                  <a:srgbClr val="1F2937"/>
                </a:solidFill>
                <a:latin typeface="Calibri" pitchFamily="34" charset="0"/>
                <a:ea typeface="Calibri" pitchFamily="34" charset="-122"/>
                <a:cs typeface="Calibri" pitchFamily="34" charset="-120"/>
              </a:rPr>
              <a:t>Released APIs, ABAP Cloud, key-user and BTP side-by-side extensions</a:t>
            </a:r>
            <a:endParaRPr lang="en-US" sz="1300" dirty="0"/>
          </a:p>
        </p:txBody>
      </p:sp>
      <p:sp>
        <p:nvSpPr>
          <p:cNvPr id="15" name="Shape 13"/>
          <p:cNvSpPr/>
          <p:nvPr/>
        </p:nvSpPr>
        <p:spPr>
          <a:xfrm>
            <a:off x="6446520" y="3017520"/>
            <a:ext cx="347472" cy="347472"/>
          </a:xfrm>
          <a:prstGeom prst="ellipse">
            <a:avLst/>
          </a:prstGeom>
          <a:solidFill>
            <a:srgbClr val="BE123C"/>
          </a:solidFill>
          <a:ln w="12700">
            <a:solidFill>
              <a:srgbClr val="BE123C"/>
            </a:solidFill>
            <a:prstDash val="solid"/>
          </a:ln>
        </p:spPr>
      </p:sp>
      <p:sp>
        <p:nvSpPr>
          <p:cNvPr id="16" name="Text 14"/>
          <p:cNvSpPr txBox="1"/>
          <p:nvPr/>
        </p:nvSpPr>
        <p:spPr>
          <a:xfrm>
            <a:off x="6446520" y="30175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p>
        </p:txBody>
      </p:sp>
      <p:sp>
        <p:nvSpPr>
          <p:cNvPr id="17" name="Shape 15"/>
          <p:cNvSpPr/>
          <p:nvPr/>
        </p:nvSpPr>
        <p:spPr>
          <a:xfrm>
            <a:off x="548640" y="3657600"/>
            <a:ext cx="6400800" cy="713232"/>
          </a:xfrm>
          <a:prstGeom prst="roundRect">
            <a:avLst>
              <a:gd name="adj" fmla="val 10256"/>
            </a:avLst>
          </a:prstGeom>
          <a:solidFill>
            <a:srgbClr val="FFFFFF"/>
          </a:solidFill>
          <a:ln w="9525">
            <a:solidFill>
              <a:srgbClr val="E5E7EB"/>
            </a:solidFill>
            <a:prstDash val="solid"/>
          </a:ln>
        </p:spPr>
      </p:sp>
      <p:sp>
        <p:nvSpPr>
          <p:cNvPr id="18" name="Text 16"/>
          <p:cNvSpPr txBox="1"/>
          <p:nvPr/>
        </p:nvSpPr>
        <p:spPr>
          <a:xfrm>
            <a:off x="731520" y="3657600"/>
            <a:ext cx="1737360" cy="713232"/>
          </a:xfrm>
          <a:prstGeom prst="rect">
            <a:avLst/>
          </a:prstGeom>
          <a:noFill/>
          <a:ln/>
        </p:spPr>
        <p:txBody>
          <a:bodyPr wrap="square" lIns="0" tIns="0" rIns="0" bIns="0" rtlCol="0" anchor="ctr"/>
          <a:lstStyle/>
          <a:p>
            <a:pPr algn="l" indent="0" marL="0">
              <a:buNone/>
            </a:pPr>
            <a:r>
              <a:rPr lang="en-US" sz="1500" b="1" dirty="0">
                <a:solidFill>
                  <a:srgbClr val="17313B"/>
                </a:solidFill>
                <a:latin typeface="Calibri" pitchFamily="34" charset="0"/>
                <a:ea typeface="Calibri" pitchFamily="34" charset="-122"/>
                <a:cs typeface="Calibri" pitchFamily="34" charset="-120"/>
              </a:rPr>
              <a:t>Data</a:t>
            </a:r>
            <a:endParaRPr lang="en-US" sz="1500" dirty="0"/>
          </a:p>
        </p:txBody>
      </p:sp>
      <p:sp>
        <p:nvSpPr>
          <p:cNvPr id="19" name="Text 17"/>
          <p:cNvSpPr txBox="1"/>
          <p:nvPr/>
        </p:nvSpPr>
        <p:spPr>
          <a:xfrm>
            <a:off x="2468880" y="3657600"/>
            <a:ext cx="3749040" cy="713232"/>
          </a:xfrm>
          <a:prstGeom prst="rect">
            <a:avLst/>
          </a:prstGeom>
          <a:noFill/>
          <a:ln/>
        </p:spPr>
        <p:txBody>
          <a:bodyPr wrap="square" lIns="0" tIns="0" rIns="0" bIns="0" rtlCol="0" anchor="ctr"/>
          <a:lstStyle/>
          <a:p>
            <a:pPr algn="l" indent="0" marL="0">
              <a:buNone/>
            </a:pPr>
            <a:r>
              <a:rPr lang="en-US" sz="1300" dirty="0">
                <a:solidFill>
                  <a:srgbClr val="1F2937"/>
                </a:solidFill>
                <a:latin typeface="Calibri" pitchFamily="34" charset="0"/>
                <a:ea typeface="Calibri" pitchFamily="34" charset="-122"/>
                <a:cs typeface="Calibri" pitchFamily="34" charset="-120"/>
              </a:rPr>
              <a:t>Owned, governed, high-quality master and transactional data</a:t>
            </a:r>
            <a:endParaRPr lang="en-US" sz="1300" dirty="0"/>
          </a:p>
        </p:txBody>
      </p:sp>
      <p:sp>
        <p:nvSpPr>
          <p:cNvPr id="20" name="Shape 18"/>
          <p:cNvSpPr/>
          <p:nvPr/>
        </p:nvSpPr>
        <p:spPr>
          <a:xfrm>
            <a:off x="6446520" y="3840480"/>
            <a:ext cx="347472" cy="347472"/>
          </a:xfrm>
          <a:prstGeom prst="ellipse">
            <a:avLst/>
          </a:prstGeom>
          <a:solidFill>
            <a:srgbClr val="BE123C"/>
          </a:solidFill>
          <a:ln w="12700">
            <a:solidFill>
              <a:srgbClr val="BE123C"/>
            </a:solidFill>
            <a:prstDash val="solid"/>
          </a:ln>
        </p:spPr>
      </p:sp>
      <p:sp>
        <p:nvSpPr>
          <p:cNvPr id="21" name="Text 19"/>
          <p:cNvSpPr txBox="1"/>
          <p:nvPr/>
        </p:nvSpPr>
        <p:spPr>
          <a:xfrm>
            <a:off x="6446520" y="384048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p>
        </p:txBody>
      </p:sp>
      <p:sp>
        <p:nvSpPr>
          <p:cNvPr id="22" name="Shape 20"/>
          <p:cNvSpPr/>
          <p:nvPr/>
        </p:nvSpPr>
        <p:spPr>
          <a:xfrm>
            <a:off x="548640" y="4480560"/>
            <a:ext cx="6400800" cy="713232"/>
          </a:xfrm>
          <a:prstGeom prst="roundRect">
            <a:avLst>
              <a:gd name="adj" fmla="val 10256"/>
            </a:avLst>
          </a:prstGeom>
          <a:solidFill>
            <a:srgbClr val="F3F4F6"/>
          </a:solidFill>
          <a:ln w="9525">
            <a:solidFill>
              <a:srgbClr val="F3F4F6"/>
            </a:solidFill>
            <a:prstDash val="solid"/>
          </a:ln>
        </p:spPr>
      </p:sp>
      <p:sp>
        <p:nvSpPr>
          <p:cNvPr id="23" name="Text 21"/>
          <p:cNvSpPr txBox="1"/>
          <p:nvPr/>
        </p:nvSpPr>
        <p:spPr>
          <a:xfrm>
            <a:off x="731520" y="4480560"/>
            <a:ext cx="1737360" cy="713232"/>
          </a:xfrm>
          <a:prstGeom prst="rect">
            <a:avLst/>
          </a:prstGeom>
          <a:noFill/>
          <a:ln/>
        </p:spPr>
        <p:txBody>
          <a:bodyPr wrap="square" lIns="0" tIns="0" rIns="0" bIns="0" rtlCol="0" anchor="ctr"/>
          <a:lstStyle/>
          <a:p>
            <a:pPr algn="l" indent="0" marL="0">
              <a:buNone/>
            </a:pPr>
            <a:r>
              <a:rPr lang="en-US" sz="1500" b="1" dirty="0">
                <a:solidFill>
                  <a:srgbClr val="17313B"/>
                </a:solidFill>
                <a:latin typeface="Calibri" pitchFamily="34" charset="0"/>
                <a:ea typeface="Calibri" pitchFamily="34" charset="-122"/>
                <a:cs typeface="Calibri" pitchFamily="34" charset="-120"/>
              </a:rPr>
              <a:t>Integration</a:t>
            </a:r>
            <a:endParaRPr lang="en-US" sz="1500" dirty="0"/>
          </a:p>
        </p:txBody>
      </p:sp>
      <p:sp>
        <p:nvSpPr>
          <p:cNvPr id="24" name="Text 22"/>
          <p:cNvSpPr txBox="1"/>
          <p:nvPr/>
        </p:nvSpPr>
        <p:spPr>
          <a:xfrm>
            <a:off x="2468880" y="4480560"/>
            <a:ext cx="3749040" cy="713232"/>
          </a:xfrm>
          <a:prstGeom prst="rect">
            <a:avLst/>
          </a:prstGeom>
          <a:noFill/>
          <a:ln/>
        </p:spPr>
        <p:txBody>
          <a:bodyPr wrap="square" lIns="0" tIns="0" rIns="0" bIns="0" rtlCol="0" anchor="ctr"/>
          <a:lstStyle/>
          <a:p>
            <a:pPr algn="l" indent="0" marL="0">
              <a:buNone/>
            </a:pPr>
            <a:r>
              <a:rPr lang="en-US" sz="1300" dirty="0">
                <a:solidFill>
                  <a:srgbClr val="1F2937"/>
                </a:solidFill>
                <a:latin typeface="Calibri" pitchFamily="34" charset="0"/>
                <a:ea typeface="Calibri" pitchFamily="34" charset="-122"/>
                <a:cs typeface="Calibri" pitchFamily="34" charset="-120"/>
              </a:rPr>
              <a:t>Standard APIs/events, central middleware and monitoring</a:t>
            </a:r>
            <a:endParaRPr lang="en-US" sz="1300" dirty="0"/>
          </a:p>
        </p:txBody>
      </p:sp>
      <p:sp>
        <p:nvSpPr>
          <p:cNvPr id="25" name="Shape 23"/>
          <p:cNvSpPr/>
          <p:nvPr/>
        </p:nvSpPr>
        <p:spPr>
          <a:xfrm>
            <a:off x="6446520" y="4663440"/>
            <a:ext cx="347472" cy="347472"/>
          </a:xfrm>
          <a:prstGeom prst="ellipse">
            <a:avLst/>
          </a:prstGeom>
          <a:solidFill>
            <a:srgbClr val="BE123C"/>
          </a:solidFill>
          <a:ln w="12700">
            <a:solidFill>
              <a:srgbClr val="BE123C"/>
            </a:solidFill>
            <a:prstDash val="solid"/>
          </a:ln>
        </p:spPr>
      </p:sp>
      <p:sp>
        <p:nvSpPr>
          <p:cNvPr id="26" name="Text 24"/>
          <p:cNvSpPr txBox="1"/>
          <p:nvPr/>
        </p:nvSpPr>
        <p:spPr>
          <a:xfrm>
            <a:off x="6446520" y="46634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p>
        </p:txBody>
      </p:sp>
      <p:sp>
        <p:nvSpPr>
          <p:cNvPr id="27" name="Shape 25"/>
          <p:cNvSpPr/>
          <p:nvPr/>
        </p:nvSpPr>
        <p:spPr>
          <a:xfrm>
            <a:off x="548640" y="5303520"/>
            <a:ext cx="6400800" cy="713232"/>
          </a:xfrm>
          <a:prstGeom prst="roundRect">
            <a:avLst>
              <a:gd name="adj" fmla="val 10256"/>
            </a:avLst>
          </a:prstGeom>
          <a:solidFill>
            <a:srgbClr val="FFFFFF"/>
          </a:solidFill>
          <a:ln w="9525">
            <a:solidFill>
              <a:srgbClr val="E5E7EB"/>
            </a:solidFill>
            <a:prstDash val="solid"/>
          </a:ln>
        </p:spPr>
      </p:sp>
      <p:sp>
        <p:nvSpPr>
          <p:cNvPr id="28" name="Text 26"/>
          <p:cNvSpPr txBox="1"/>
          <p:nvPr/>
        </p:nvSpPr>
        <p:spPr>
          <a:xfrm>
            <a:off x="731520" y="5303520"/>
            <a:ext cx="1737360" cy="713232"/>
          </a:xfrm>
          <a:prstGeom prst="rect">
            <a:avLst/>
          </a:prstGeom>
          <a:noFill/>
          <a:ln/>
        </p:spPr>
        <p:txBody>
          <a:bodyPr wrap="square" lIns="0" tIns="0" rIns="0" bIns="0" rtlCol="0" anchor="ctr"/>
          <a:lstStyle/>
          <a:p>
            <a:pPr algn="l" indent="0" marL="0">
              <a:buNone/>
            </a:pPr>
            <a:r>
              <a:rPr lang="en-US" sz="1500" b="1" dirty="0">
                <a:solidFill>
                  <a:srgbClr val="17313B"/>
                </a:solidFill>
                <a:latin typeface="Calibri" pitchFamily="34" charset="0"/>
                <a:ea typeface="Calibri" pitchFamily="34" charset="-122"/>
                <a:cs typeface="Calibri" pitchFamily="34" charset="-120"/>
              </a:rPr>
              <a:t>Operations</a:t>
            </a:r>
            <a:endParaRPr lang="en-US" sz="1500" dirty="0"/>
          </a:p>
        </p:txBody>
      </p:sp>
      <p:sp>
        <p:nvSpPr>
          <p:cNvPr id="29" name="Text 27"/>
          <p:cNvSpPr txBox="1"/>
          <p:nvPr/>
        </p:nvSpPr>
        <p:spPr>
          <a:xfrm>
            <a:off x="2468880" y="5303520"/>
            <a:ext cx="3749040" cy="713232"/>
          </a:xfrm>
          <a:prstGeom prst="rect">
            <a:avLst/>
          </a:prstGeom>
          <a:noFill/>
          <a:ln/>
        </p:spPr>
        <p:txBody>
          <a:bodyPr wrap="square" lIns="0" tIns="0" rIns="0" bIns="0" rtlCol="0" anchor="ctr"/>
          <a:lstStyle/>
          <a:p>
            <a:pPr algn="l" indent="0" marL="0">
              <a:buNone/>
            </a:pPr>
            <a:r>
              <a:rPr lang="en-US" sz="1300" dirty="0">
                <a:solidFill>
                  <a:srgbClr val="1F2937"/>
                </a:solidFill>
                <a:latin typeface="Calibri" pitchFamily="34" charset="0"/>
                <a:ea typeface="Calibri" pitchFamily="34" charset="-122"/>
                <a:cs typeface="Calibri" pitchFamily="34" charset="-120"/>
              </a:rPr>
              <a:t>Current release, automated test, transport and monitoring</a:t>
            </a:r>
            <a:endParaRPr lang="en-US" sz="1300" dirty="0"/>
          </a:p>
        </p:txBody>
      </p:sp>
      <p:sp>
        <p:nvSpPr>
          <p:cNvPr id="30" name="Shape 28"/>
          <p:cNvSpPr/>
          <p:nvPr/>
        </p:nvSpPr>
        <p:spPr>
          <a:xfrm>
            <a:off x="6446520" y="5486400"/>
            <a:ext cx="347472" cy="347472"/>
          </a:xfrm>
          <a:prstGeom prst="ellipse">
            <a:avLst/>
          </a:prstGeom>
          <a:solidFill>
            <a:srgbClr val="F59E0B"/>
          </a:solidFill>
          <a:ln w="12700">
            <a:solidFill>
              <a:srgbClr val="F59E0B"/>
            </a:solidFill>
            <a:prstDash val="solid"/>
          </a:ln>
        </p:spPr>
      </p:sp>
      <p:sp>
        <p:nvSpPr>
          <p:cNvPr id="31" name="Text 29"/>
          <p:cNvSpPr txBox="1"/>
          <p:nvPr/>
        </p:nvSpPr>
        <p:spPr>
          <a:xfrm>
            <a:off x="6446520" y="54864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
            </a:r>
            <a:endParaRPr lang="en-US" sz="1100" dirty="0"/>
          </a:p>
        </p:txBody>
      </p:sp>
      <p:sp>
        <p:nvSpPr>
          <p:cNvPr id="32" name="Text 30"/>
          <p:cNvSpPr txBox="1"/>
          <p:nvPr/>
        </p:nvSpPr>
        <p:spPr>
          <a:xfrm>
            <a:off x="548640" y="6126480"/>
            <a:ext cx="6400800" cy="274320"/>
          </a:xfrm>
          <a:prstGeom prst="rect">
            <a:avLst/>
          </a:prstGeom>
          <a:noFill/>
          <a:ln/>
        </p:spPr>
        <p:txBody>
          <a:bodyPr wrap="square" lIns="0" tIns="0" rIns="0" bIns="0" rtlCol="0" anchor="t"/>
          <a:lstStyle/>
          <a:p>
            <a:pPr algn="l" indent="0" marL="0">
              <a:buNone/>
            </a:pPr>
            <a:r>
              <a:rPr lang="en-US" sz="1000" i="1" dirty="0">
                <a:solidFill>
                  <a:srgbClr val="6B7280"/>
                </a:solidFill>
                <a:latin typeface="Calibri" pitchFamily="34" charset="0"/>
                <a:ea typeface="Calibri" pitchFamily="34" charset="-122"/>
                <a:cs typeface="Calibri" pitchFamily="34" charset="-120"/>
              </a:rPr>
              <a:t>H = high gap, M = medium gap. Hypothesis from interviews only.</a:t>
            </a:r>
            <a:endParaRPr lang="en-US" sz="1000" dirty="0"/>
          </a:p>
        </p:txBody>
      </p:sp>
      <p:sp>
        <p:nvSpPr>
          <p:cNvPr id="33" name="Text 31"/>
          <p:cNvSpPr txBox="1"/>
          <p:nvPr/>
        </p:nvSpPr>
        <p:spPr>
          <a:xfrm>
            <a:off x="7406640" y="1645920"/>
            <a:ext cx="4206240" cy="365760"/>
          </a:xfrm>
          <a:prstGeom prst="rect">
            <a:avLst/>
          </a:prstGeom>
          <a:noFill/>
          <a:ln/>
        </p:spPr>
        <p:txBody>
          <a:bodyPr wrap="square" lIns="0" tIns="0" rIns="0" bIns="0" rtlCol="0" anchor="t"/>
          <a:lstStyle/>
          <a:p>
            <a:pPr algn="l" indent="0" marL="0">
              <a:buNone/>
            </a:pPr>
            <a:r>
              <a:rPr lang="en-US" sz="1600" b="1" dirty="0">
                <a:solidFill>
                  <a:srgbClr val="17313B"/>
                </a:solidFill>
                <a:latin typeface="Calibri" pitchFamily="34" charset="0"/>
                <a:ea typeface="Calibri" pitchFamily="34" charset="-122"/>
                <a:cs typeface="Calibri" pitchFamily="34" charset="-120"/>
              </a:rPr>
              <a:t>Extensibility levels A–D</a:t>
            </a:r>
            <a:endParaRPr lang="en-US" sz="1600" dirty="0"/>
          </a:p>
        </p:txBody>
      </p:sp>
      <p:sp>
        <p:nvSpPr>
          <p:cNvPr id="34" name="Shape 32"/>
          <p:cNvSpPr/>
          <p:nvPr/>
        </p:nvSpPr>
        <p:spPr>
          <a:xfrm>
            <a:off x="7406640" y="2103120"/>
            <a:ext cx="4206240" cy="868680"/>
          </a:xfrm>
          <a:prstGeom prst="roundRect">
            <a:avLst>
              <a:gd name="adj" fmla="val 842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35" name="Shape 33"/>
          <p:cNvSpPr/>
          <p:nvPr/>
        </p:nvSpPr>
        <p:spPr>
          <a:xfrm>
            <a:off x="7498080" y="2212848"/>
            <a:ext cx="640080" cy="640080"/>
          </a:xfrm>
          <a:prstGeom prst="roundRect">
            <a:avLst>
              <a:gd name="adj" fmla="val 11429"/>
            </a:avLst>
          </a:prstGeom>
          <a:solidFill>
            <a:srgbClr val="0F766E"/>
          </a:solidFill>
          <a:ln w="12700">
            <a:solidFill>
              <a:srgbClr val="0F766E"/>
            </a:solidFill>
            <a:prstDash val="solid"/>
          </a:ln>
        </p:spPr>
      </p:sp>
      <p:sp>
        <p:nvSpPr>
          <p:cNvPr id="36" name="Text 34"/>
          <p:cNvSpPr txBox="1"/>
          <p:nvPr/>
        </p:nvSpPr>
        <p:spPr>
          <a:xfrm>
            <a:off x="7498080" y="22128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a:t>
            </a:r>
            <a:endParaRPr lang="en-US" sz="2400" dirty="0"/>
          </a:p>
        </p:txBody>
      </p:sp>
      <p:sp>
        <p:nvSpPr>
          <p:cNvPr id="37" name="Text 35"/>
          <p:cNvSpPr txBox="1"/>
          <p:nvPr/>
        </p:nvSpPr>
        <p:spPr>
          <a:xfrm>
            <a:off x="8321040" y="2194560"/>
            <a:ext cx="3200400" cy="365760"/>
          </a:xfrm>
          <a:prstGeom prst="rect">
            <a:avLst/>
          </a:prstGeom>
          <a:noFill/>
          <a:ln/>
        </p:spPr>
        <p:txBody>
          <a:bodyPr wrap="square" lIns="0" tIns="0" rIns="0" bIns="0" rtlCol="0" anchor="t"/>
          <a:lstStyle/>
          <a:p>
            <a:pPr algn="l" indent="0" marL="0">
              <a:buNone/>
            </a:pPr>
            <a:r>
              <a:rPr lang="en-US" sz="1300" b="1" dirty="0">
                <a:solidFill>
                  <a:srgbClr val="17313B"/>
                </a:solidFill>
                <a:latin typeface="Calibri" pitchFamily="34" charset="0"/>
                <a:ea typeface="Calibri" pitchFamily="34" charset="-122"/>
                <a:cs typeface="Calibri" pitchFamily="34" charset="-120"/>
              </a:rPr>
              <a:t>Released APIs, ABAP Cloud, key-user, BTP</a:t>
            </a:r>
            <a:endParaRPr lang="en-US" sz="1300" dirty="0"/>
          </a:p>
        </p:txBody>
      </p:sp>
      <p:sp>
        <p:nvSpPr>
          <p:cNvPr id="38" name="Text 36"/>
          <p:cNvSpPr txBox="1"/>
          <p:nvPr/>
        </p:nvSpPr>
        <p:spPr>
          <a:xfrm>
            <a:off x="8321040" y="2560320"/>
            <a:ext cx="3200400" cy="32004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Target for all new work</a:t>
            </a:r>
            <a:endParaRPr lang="en-US" sz="1200" dirty="0"/>
          </a:p>
        </p:txBody>
      </p:sp>
      <p:sp>
        <p:nvSpPr>
          <p:cNvPr id="39" name="Shape 37"/>
          <p:cNvSpPr/>
          <p:nvPr/>
        </p:nvSpPr>
        <p:spPr>
          <a:xfrm>
            <a:off x="7406640" y="3090672"/>
            <a:ext cx="4206240" cy="868680"/>
          </a:xfrm>
          <a:prstGeom prst="roundRect">
            <a:avLst>
              <a:gd name="adj" fmla="val 842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40" name="Shape 38"/>
          <p:cNvSpPr/>
          <p:nvPr/>
        </p:nvSpPr>
        <p:spPr>
          <a:xfrm>
            <a:off x="7498080" y="3200400"/>
            <a:ext cx="640080" cy="640080"/>
          </a:xfrm>
          <a:prstGeom prst="roundRect">
            <a:avLst>
              <a:gd name="adj" fmla="val 11429"/>
            </a:avLst>
          </a:prstGeom>
          <a:solidFill>
            <a:srgbClr val="14B8A6"/>
          </a:solidFill>
          <a:ln w="12700">
            <a:solidFill>
              <a:srgbClr val="14B8A6"/>
            </a:solidFill>
            <a:prstDash val="solid"/>
          </a:ln>
        </p:spPr>
      </p:sp>
      <p:sp>
        <p:nvSpPr>
          <p:cNvPr id="41" name="Text 39"/>
          <p:cNvSpPr txBox="1"/>
          <p:nvPr/>
        </p:nvSpPr>
        <p:spPr>
          <a:xfrm>
            <a:off x="7498080" y="32004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B</a:t>
            </a:r>
            <a:endParaRPr lang="en-US" sz="2400" dirty="0"/>
          </a:p>
        </p:txBody>
      </p:sp>
      <p:sp>
        <p:nvSpPr>
          <p:cNvPr id="42" name="Text 40"/>
          <p:cNvSpPr txBox="1"/>
          <p:nvPr/>
        </p:nvSpPr>
        <p:spPr>
          <a:xfrm>
            <a:off x="8321040" y="3182112"/>
            <a:ext cx="3200400" cy="365760"/>
          </a:xfrm>
          <a:prstGeom prst="rect">
            <a:avLst/>
          </a:prstGeom>
          <a:noFill/>
          <a:ln/>
        </p:spPr>
        <p:txBody>
          <a:bodyPr wrap="square" lIns="0" tIns="0" rIns="0" bIns="0" rtlCol="0" anchor="t"/>
          <a:lstStyle/>
          <a:p>
            <a:pPr algn="l" indent="0" marL="0">
              <a:buNone/>
            </a:pPr>
            <a:r>
              <a:rPr lang="en-US" sz="1300" b="1" dirty="0">
                <a:solidFill>
                  <a:srgbClr val="17313B"/>
                </a:solidFill>
                <a:latin typeface="Calibri" pitchFamily="34" charset="0"/>
                <a:ea typeface="Calibri" pitchFamily="34" charset="-122"/>
                <a:cs typeface="Calibri" pitchFamily="34" charset="-120"/>
              </a:rPr>
              <a:t>Classic APIs SAP lists as stable</a:t>
            </a:r>
            <a:endParaRPr lang="en-US" sz="1300" dirty="0"/>
          </a:p>
        </p:txBody>
      </p:sp>
      <p:sp>
        <p:nvSpPr>
          <p:cNvPr id="43" name="Text 41"/>
          <p:cNvSpPr txBox="1"/>
          <p:nvPr/>
        </p:nvSpPr>
        <p:spPr>
          <a:xfrm>
            <a:off x="8321040" y="3547872"/>
            <a:ext cx="3200400" cy="32004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Acceptable; monitor</a:t>
            </a:r>
            <a:endParaRPr lang="en-US" sz="1200" dirty="0"/>
          </a:p>
        </p:txBody>
      </p:sp>
      <p:sp>
        <p:nvSpPr>
          <p:cNvPr id="44" name="Shape 42"/>
          <p:cNvSpPr/>
          <p:nvPr/>
        </p:nvSpPr>
        <p:spPr>
          <a:xfrm>
            <a:off x="7406640" y="4078224"/>
            <a:ext cx="4206240" cy="868680"/>
          </a:xfrm>
          <a:prstGeom prst="roundRect">
            <a:avLst>
              <a:gd name="adj" fmla="val 842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45" name="Shape 43"/>
          <p:cNvSpPr/>
          <p:nvPr/>
        </p:nvSpPr>
        <p:spPr>
          <a:xfrm>
            <a:off x="7498080" y="4187952"/>
            <a:ext cx="640080" cy="640080"/>
          </a:xfrm>
          <a:prstGeom prst="roundRect">
            <a:avLst>
              <a:gd name="adj" fmla="val 11429"/>
            </a:avLst>
          </a:prstGeom>
          <a:solidFill>
            <a:srgbClr val="F59E0B"/>
          </a:solidFill>
          <a:ln w="12700">
            <a:solidFill>
              <a:srgbClr val="F59E0B"/>
            </a:solidFill>
            <a:prstDash val="solid"/>
          </a:ln>
        </p:spPr>
      </p:sp>
      <p:sp>
        <p:nvSpPr>
          <p:cNvPr id="46" name="Text 44"/>
          <p:cNvSpPr txBox="1"/>
          <p:nvPr/>
        </p:nvSpPr>
        <p:spPr>
          <a:xfrm>
            <a:off x="7498080" y="418795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C</a:t>
            </a:r>
            <a:endParaRPr lang="en-US" sz="2400" dirty="0"/>
          </a:p>
        </p:txBody>
      </p:sp>
      <p:sp>
        <p:nvSpPr>
          <p:cNvPr id="47" name="Text 45"/>
          <p:cNvSpPr txBox="1"/>
          <p:nvPr/>
        </p:nvSpPr>
        <p:spPr>
          <a:xfrm>
            <a:off x="8321040" y="4169664"/>
            <a:ext cx="3200400" cy="365760"/>
          </a:xfrm>
          <a:prstGeom prst="rect">
            <a:avLst/>
          </a:prstGeom>
          <a:noFill/>
          <a:ln/>
        </p:spPr>
        <p:txBody>
          <a:bodyPr wrap="square" lIns="0" tIns="0" rIns="0" bIns="0" rtlCol="0" anchor="t"/>
          <a:lstStyle/>
          <a:p>
            <a:pPr algn="l" indent="0" marL="0">
              <a:buNone/>
            </a:pPr>
            <a:r>
              <a:rPr lang="en-US" sz="1300" b="1" dirty="0">
                <a:solidFill>
                  <a:srgbClr val="17313B"/>
                </a:solidFill>
                <a:latin typeface="Calibri" pitchFamily="34" charset="0"/>
                <a:ea typeface="Calibri" pitchFamily="34" charset="-122"/>
                <a:cs typeface="Calibri" pitchFamily="34" charset="-120"/>
              </a:rPr>
              <a:t>Internal / unreleased SAP objects</a:t>
            </a:r>
            <a:endParaRPr lang="en-US" sz="1300" dirty="0"/>
          </a:p>
        </p:txBody>
      </p:sp>
      <p:sp>
        <p:nvSpPr>
          <p:cNvPr id="48" name="Text 46"/>
          <p:cNvSpPr txBox="1"/>
          <p:nvPr/>
        </p:nvSpPr>
        <p:spPr>
          <a:xfrm>
            <a:off x="8321040" y="4535424"/>
            <a:ext cx="3200400" cy="32004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Remediate when touched</a:t>
            </a:r>
            <a:endParaRPr lang="en-US" sz="1200" dirty="0"/>
          </a:p>
        </p:txBody>
      </p:sp>
      <p:sp>
        <p:nvSpPr>
          <p:cNvPr id="49" name="Shape 47"/>
          <p:cNvSpPr/>
          <p:nvPr/>
        </p:nvSpPr>
        <p:spPr>
          <a:xfrm>
            <a:off x="7406640" y="5065776"/>
            <a:ext cx="4206240" cy="868680"/>
          </a:xfrm>
          <a:prstGeom prst="roundRect">
            <a:avLst>
              <a:gd name="adj" fmla="val 842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50" name="Shape 48"/>
          <p:cNvSpPr/>
          <p:nvPr/>
        </p:nvSpPr>
        <p:spPr>
          <a:xfrm>
            <a:off x="7498080" y="5175504"/>
            <a:ext cx="640080" cy="640080"/>
          </a:xfrm>
          <a:prstGeom prst="roundRect">
            <a:avLst>
              <a:gd name="adj" fmla="val 11429"/>
            </a:avLst>
          </a:prstGeom>
          <a:solidFill>
            <a:srgbClr val="BE123C"/>
          </a:solidFill>
          <a:ln w="12700">
            <a:solidFill>
              <a:srgbClr val="BE123C"/>
            </a:solidFill>
            <a:prstDash val="solid"/>
          </a:ln>
        </p:spPr>
      </p:sp>
      <p:sp>
        <p:nvSpPr>
          <p:cNvPr id="51" name="Text 49"/>
          <p:cNvSpPr txBox="1"/>
          <p:nvPr/>
        </p:nvSpPr>
        <p:spPr>
          <a:xfrm>
            <a:off x="7498080" y="5175504"/>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D</a:t>
            </a:r>
            <a:endParaRPr lang="en-US" sz="2400" dirty="0"/>
          </a:p>
        </p:txBody>
      </p:sp>
      <p:sp>
        <p:nvSpPr>
          <p:cNvPr id="52" name="Text 50"/>
          <p:cNvSpPr txBox="1"/>
          <p:nvPr/>
        </p:nvSpPr>
        <p:spPr>
          <a:xfrm>
            <a:off x="8321040" y="5157216"/>
            <a:ext cx="3200400" cy="365760"/>
          </a:xfrm>
          <a:prstGeom prst="rect">
            <a:avLst/>
          </a:prstGeom>
          <a:noFill/>
          <a:ln/>
        </p:spPr>
        <p:txBody>
          <a:bodyPr wrap="square" lIns="0" tIns="0" rIns="0" bIns="0" rtlCol="0" anchor="t"/>
          <a:lstStyle/>
          <a:p>
            <a:pPr algn="l" indent="0" marL="0">
              <a:buNone/>
            </a:pPr>
            <a:r>
              <a:rPr lang="en-US" sz="1300" b="1" dirty="0">
                <a:solidFill>
                  <a:srgbClr val="17313B"/>
                </a:solidFill>
                <a:latin typeface="Calibri" pitchFamily="34" charset="0"/>
                <a:ea typeface="Calibri" pitchFamily="34" charset="-122"/>
                <a:cs typeface="Calibri" pitchFamily="34" charset="-120"/>
              </a:rPr>
              <a:t>Modifications, implicit enhancements</a:t>
            </a:r>
            <a:endParaRPr lang="en-US" sz="1300" dirty="0"/>
          </a:p>
        </p:txBody>
      </p:sp>
      <p:sp>
        <p:nvSpPr>
          <p:cNvPr id="53" name="Text 51"/>
          <p:cNvSpPr txBox="1"/>
          <p:nvPr/>
        </p:nvSpPr>
        <p:spPr>
          <a:xfrm>
            <a:off x="8321040" y="5522976"/>
            <a:ext cx="3200400" cy="32004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Retire or refactor first</a:t>
            </a:r>
            <a:endParaRPr lang="en-US" sz="1200" dirty="0"/>
          </a:p>
        </p:txBody>
      </p:sp>
      <p:sp>
        <p:nvSpPr>
          <p:cNvPr id="54" name="Text 52"/>
          <p:cNvSpPr txBox="1"/>
          <p:nvPr/>
        </p:nvSpPr>
        <p:spPr>
          <a:xfrm>
            <a:off x="7406640" y="6126480"/>
            <a:ext cx="4206240" cy="274320"/>
          </a:xfrm>
          <a:prstGeom prst="rect">
            <a:avLst/>
          </a:prstGeom>
          <a:noFill/>
          <a:ln/>
        </p:spPr>
        <p:txBody>
          <a:bodyPr wrap="square" lIns="0" tIns="0" rIns="0" bIns="0" rtlCol="0" anchor="t"/>
          <a:lstStyle/>
          <a:p>
            <a:pPr algn="l" indent="0" marL="0">
              <a:buNone/>
            </a:pPr>
            <a:r>
              <a:rPr lang="en-US" sz="1000" i="1" dirty="0">
                <a:solidFill>
                  <a:srgbClr val="6B7280"/>
                </a:solidFill>
                <a:latin typeface="Calibri" pitchFamily="34" charset="0"/>
                <a:ea typeface="Calibri" pitchFamily="34" charset="-122"/>
                <a:cs typeface="Calibri" pitchFamily="34" charset="-120"/>
              </a:rPr>
              <a:t>Per SAP’s current extensibility guidance; confirm against the latest version.</a:t>
            </a:r>
            <a:endParaRPr lang="en-US" sz="1000" dirty="0"/>
          </a:p>
        </p:txBody>
      </p:sp>
      <p:sp>
        <p:nvSpPr>
          <p:cNvPr id="55" name="Text 53"/>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SAP tooling to discover, plan, build and measure</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Most of this is already included in SAP Enterprise Support / RISE or is free — confirm entitlements</a:t>
            </a:r>
            <a:endParaRPr lang="en-US" sz="1600" dirty="0"/>
          </a:p>
        </p:txBody>
      </p:sp>
      <p:sp>
        <p:nvSpPr>
          <p:cNvPr id="4" name="Shape 2"/>
          <p:cNvSpPr/>
          <p:nvPr/>
        </p:nvSpPr>
        <p:spPr>
          <a:xfrm>
            <a:off x="548640" y="1737360"/>
            <a:ext cx="2651760" cy="4480560"/>
          </a:xfrm>
          <a:prstGeom prst="roundRect">
            <a:avLst>
              <a:gd name="adj" fmla="val 2759"/>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1874520"/>
            <a:ext cx="594360" cy="594360"/>
          </a:xfrm>
          <a:prstGeom prst="ellipse">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886054" y="2029054"/>
            <a:ext cx="285293" cy="285293"/>
          </a:xfrm>
          <a:prstGeom prst="rect">
            <a:avLst/>
          </a:prstGeom>
        </p:spPr>
      </p:pic>
      <p:sp>
        <p:nvSpPr>
          <p:cNvPr id="7" name="Text 4"/>
          <p:cNvSpPr txBox="1"/>
          <p:nvPr/>
        </p:nvSpPr>
        <p:spPr>
          <a:xfrm>
            <a:off x="1463040" y="1874520"/>
            <a:ext cx="1645920" cy="594360"/>
          </a:xfrm>
          <a:prstGeom prst="rect">
            <a:avLst/>
          </a:prstGeom>
          <a:noFill/>
          <a:ln/>
        </p:spPr>
        <p:txBody>
          <a:bodyPr wrap="square" lIns="0" tIns="0" rIns="0" bIns="0" rtlCol="0" anchor="ctr"/>
          <a:lstStyle/>
          <a:p>
            <a:pPr algn="l" indent="0" marL="0">
              <a:buNone/>
            </a:pPr>
            <a:r>
              <a:rPr lang="en-US" sz="1700" b="1" dirty="0">
                <a:solidFill>
                  <a:srgbClr val="17313B"/>
                </a:solidFill>
                <a:latin typeface="Calibri" pitchFamily="34" charset="0"/>
                <a:ea typeface="Calibri" pitchFamily="34" charset="-122"/>
                <a:cs typeface="Calibri" pitchFamily="34" charset="-120"/>
              </a:rPr>
              <a:t>Discover</a:t>
            </a:r>
            <a:endParaRPr lang="en-US" sz="1700" dirty="0"/>
          </a:p>
        </p:txBody>
      </p:sp>
      <p:sp>
        <p:nvSpPr>
          <p:cNvPr id="8" name="Text 5"/>
          <p:cNvSpPr txBox="1"/>
          <p:nvPr/>
        </p:nvSpPr>
        <p:spPr>
          <a:xfrm>
            <a:off x="731520" y="2651760"/>
            <a:ext cx="2331720" cy="3474720"/>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SAP Readiness Check (release / FPS upgrade)</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Innovation &amp; Optimization Pathfinder (usage-based Fiori &amp; feature recommendations)</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Signavio Process Insights (process KPIs, improvement hints)</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ATC with clean-core checks; SCMON / SUSG usage</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Integration Suite Migration Assessment</a:t>
            </a:r>
            <a:endParaRPr lang="en-US" sz="1250" dirty="0"/>
          </a:p>
        </p:txBody>
      </p:sp>
      <p:sp>
        <p:nvSpPr>
          <p:cNvPr id="9" name="Shape 6"/>
          <p:cNvSpPr/>
          <p:nvPr/>
        </p:nvSpPr>
        <p:spPr>
          <a:xfrm>
            <a:off x="3383280" y="1737360"/>
            <a:ext cx="2651760" cy="4480560"/>
          </a:xfrm>
          <a:prstGeom prst="roundRect">
            <a:avLst>
              <a:gd name="adj" fmla="val 2759"/>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566160" y="1874520"/>
            <a:ext cx="594360" cy="594360"/>
          </a:xfrm>
          <a:prstGeom prst="ellipse">
            <a:avLst/>
          </a:prstGeom>
          <a:solidFill>
            <a:srgbClr val="0F766E"/>
          </a:solidFill>
          <a:ln w="12700">
            <a:solidFill>
              <a:srgbClr val="0F766E"/>
            </a:solidFill>
            <a:prstDash val="solid"/>
          </a:ln>
        </p:spPr>
      </p:sp>
      <p:pic>
        <p:nvPicPr>
          <p:cNvPr id="11" name="Image 1" descr="preencoded.png">    </p:cNvPr>
          <p:cNvPicPr>
            <a:picLocks noChangeAspect="1"/>
          </p:cNvPicPr>
          <p:nvPr/>
        </p:nvPicPr>
        <p:blipFill>
          <a:blip r:embed="rId2"/>
          <a:stretch>
            <a:fillRect/>
          </a:stretch>
        </p:blipFill>
        <p:spPr>
          <a:xfrm>
            <a:off x="3720694" y="2029054"/>
            <a:ext cx="285293" cy="285293"/>
          </a:xfrm>
          <a:prstGeom prst="rect">
            <a:avLst/>
          </a:prstGeom>
        </p:spPr>
      </p:pic>
      <p:sp>
        <p:nvSpPr>
          <p:cNvPr id="12" name="Text 8"/>
          <p:cNvSpPr txBox="1"/>
          <p:nvPr/>
        </p:nvSpPr>
        <p:spPr>
          <a:xfrm>
            <a:off x="4297680" y="1874520"/>
            <a:ext cx="1645920" cy="594360"/>
          </a:xfrm>
          <a:prstGeom prst="rect">
            <a:avLst/>
          </a:prstGeom>
          <a:noFill/>
          <a:ln/>
        </p:spPr>
        <p:txBody>
          <a:bodyPr wrap="square" lIns="0" tIns="0" rIns="0" bIns="0" rtlCol="0" anchor="ctr"/>
          <a:lstStyle/>
          <a:p>
            <a:pPr algn="l" indent="0" marL="0">
              <a:buNone/>
            </a:pPr>
            <a:r>
              <a:rPr lang="en-US" sz="1700" b="1" dirty="0">
                <a:solidFill>
                  <a:srgbClr val="17313B"/>
                </a:solidFill>
                <a:latin typeface="Calibri" pitchFamily="34" charset="0"/>
                <a:ea typeface="Calibri" pitchFamily="34" charset="-122"/>
                <a:cs typeface="Calibri" pitchFamily="34" charset="-120"/>
              </a:rPr>
              <a:t>Plan &amp; govern</a:t>
            </a:r>
            <a:endParaRPr lang="en-US" sz="1700" dirty="0"/>
          </a:p>
        </p:txBody>
      </p:sp>
      <p:sp>
        <p:nvSpPr>
          <p:cNvPr id="13" name="Text 9"/>
          <p:cNvSpPr txBox="1"/>
          <p:nvPr/>
        </p:nvSpPr>
        <p:spPr>
          <a:xfrm>
            <a:off x="3566160" y="2651760"/>
            <a:ext cx="2331720" cy="3474720"/>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SAP Cloud ALM: requirements, user stories, backlog, roadmap</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SAP LeanIX: application &amp; tech-debt portfolio (if licensed)</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SAP Activate (Run phase, continuous improvement)</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ISA-M for integration patterns</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Clean core guidance &amp; BTP Guidance Framework</a:t>
            </a:r>
            <a:endParaRPr lang="en-US" sz="1250" dirty="0"/>
          </a:p>
        </p:txBody>
      </p:sp>
      <p:sp>
        <p:nvSpPr>
          <p:cNvPr id="14" name="Shape 10"/>
          <p:cNvSpPr/>
          <p:nvPr/>
        </p:nvSpPr>
        <p:spPr>
          <a:xfrm>
            <a:off x="6217920" y="1737360"/>
            <a:ext cx="2651760" cy="4480560"/>
          </a:xfrm>
          <a:prstGeom prst="roundRect">
            <a:avLst>
              <a:gd name="adj" fmla="val 2759"/>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6400800" y="1874520"/>
            <a:ext cx="594360" cy="594360"/>
          </a:xfrm>
          <a:prstGeom prst="ellipse">
            <a:avLst/>
          </a:prstGeom>
          <a:solidFill>
            <a:srgbClr val="0F766E"/>
          </a:solidFill>
          <a:ln w="12700">
            <a:solidFill>
              <a:srgbClr val="0F766E"/>
            </a:solidFill>
            <a:prstDash val="solid"/>
          </a:ln>
        </p:spPr>
      </p:sp>
      <p:pic>
        <p:nvPicPr>
          <p:cNvPr id="16" name="Image 2" descr="preencoded.png">    </p:cNvPr>
          <p:cNvPicPr>
            <a:picLocks noChangeAspect="1"/>
          </p:cNvPicPr>
          <p:nvPr/>
        </p:nvPicPr>
        <p:blipFill>
          <a:blip r:embed="rId3"/>
          <a:stretch>
            <a:fillRect/>
          </a:stretch>
        </p:blipFill>
        <p:spPr>
          <a:xfrm>
            <a:off x="6555334" y="2029054"/>
            <a:ext cx="285293" cy="285293"/>
          </a:xfrm>
          <a:prstGeom prst="rect">
            <a:avLst/>
          </a:prstGeom>
        </p:spPr>
      </p:pic>
      <p:sp>
        <p:nvSpPr>
          <p:cNvPr id="17" name="Text 12"/>
          <p:cNvSpPr txBox="1"/>
          <p:nvPr/>
        </p:nvSpPr>
        <p:spPr>
          <a:xfrm>
            <a:off x="7132320" y="1874520"/>
            <a:ext cx="1645920" cy="594360"/>
          </a:xfrm>
          <a:prstGeom prst="rect">
            <a:avLst/>
          </a:prstGeom>
          <a:noFill/>
          <a:ln/>
        </p:spPr>
        <p:txBody>
          <a:bodyPr wrap="square" lIns="0" tIns="0" rIns="0" bIns="0" rtlCol="0" anchor="ctr"/>
          <a:lstStyle/>
          <a:p>
            <a:pPr algn="l" indent="0" marL="0">
              <a:buNone/>
            </a:pPr>
            <a:r>
              <a:rPr lang="en-US" sz="1700" b="1" dirty="0">
                <a:solidFill>
                  <a:srgbClr val="17313B"/>
                </a:solidFill>
                <a:latin typeface="Calibri" pitchFamily="34" charset="0"/>
                <a:ea typeface="Calibri" pitchFamily="34" charset="-122"/>
                <a:cs typeface="Calibri" pitchFamily="34" charset="-120"/>
              </a:rPr>
              <a:t>Build &amp; run</a:t>
            </a:r>
            <a:endParaRPr lang="en-US" sz="1700" dirty="0"/>
          </a:p>
        </p:txBody>
      </p:sp>
      <p:sp>
        <p:nvSpPr>
          <p:cNvPr id="18" name="Text 13"/>
          <p:cNvSpPr txBox="1"/>
          <p:nvPr/>
        </p:nvSpPr>
        <p:spPr>
          <a:xfrm>
            <a:off x="6400800" y="2651760"/>
            <a:ext cx="2331720" cy="3474720"/>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Fiori launchpad, spaces &amp; pages, Fiori Apps Reference Library</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SAP Build Work Zone (standard / advanced)</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Integration Suite; Cloud Connector; Cloud Identity Services</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Custom Fields app; ABAP Cloud / RAP; CAP on BTP</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MDG / data quality rules; Build Process Automation</a:t>
            </a:r>
            <a:endParaRPr lang="en-US" sz="1250" dirty="0"/>
          </a:p>
        </p:txBody>
      </p:sp>
      <p:sp>
        <p:nvSpPr>
          <p:cNvPr id="19" name="Shape 14"/>
          <p:cNvSpPr/>
          <p:nvPr/>
        </p:nvSpPr>
        <p:spPr>
          <a:xfrm>
            <a:off x="9052560" y="1737360"/>
            <a:ext cx="2651760" cy="4480560"/>
          </a:xfrm>
          <a:prstGeom prst="roundRect">
            <a:avLst>
              <a:gd name="adj" fmla="val 2759"/>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0" name="Shape 15"/>
          <p:cNvSpPr/>
          <p:nvPr/>
        </p:nvSpPr>
        <p:spPr>
          <a:xfrm>
            <a:off x="9235440" y="1874520"/>
            <a:ext cx="594360" cy="594360"/>
          </a:xfrm>
          <a:prstGeom prst="ellipse">
            <a:avLst/>
          </a:prstGeom>
          <a:solidFill>
            <a:srgbClr val="0F766E"/>
          </a:solidFill>
          <a:ln w="12700">
            <a:solidFill>
              <a:srgbClr val="0F766E"/>
            </a:solidFill>
            <a:prstDash val="solid"/>
          </a:ln>
        </p:spPr>
      </p:sp>
      <p:pic>
        <p:nvPicPr>
          <p:cNvPr id="21" name="Image 3" descr="preencoded.png">    </p:cNvPr>
          <p:cNvPicPr>
            <a:picLocks noChangeAspect="1"/>
          </p:cNvPicPr>
          <p:nvPr/>
        </p:nvPicPr>
        <p:blipFill>
          <a:blip r:embed="rId4"/>
          <a:stretch>
            <a:fillRect/>
          </a:stretch>
        </p:blipFill>
        <p:spPr>
          <a:xfrm>
            <a:off x="9389974" y="2029054"/>
            <a:ext cx="285293" cy="285293"/>
          </a:xfrm>
          <a:prstGeom prst="rect">
            <a:avLst/>
          </a:prstGeom>
        </p:spPr>
      </p:pic>
      <p:sp>
        <p:nvSpPr>
          <p:cNvPr id="22" name="Text 16"/>
          <p:cNvSpPr txBox="1"/>
          <p:nvPr/>
        </p:nvSpPr>
        <p:spPr>
          <a:xfrm>
            <a:off x="9966960" y="1874520"/>
            <a:ext cx="1645920" cy="594360"/>
          </a:xfrm>
          <a:prstGeom prst="rect">
            <a:avLst/>
          </a:prstGeom>
          <a:noFill/>
          <a:ln/>
        </p:spPr>
        <p:txBody>
          <a:bodyPr wrap="square" lIns="0" tIns="0" rIns="0" bIns="0" rtlCol="0" anchor="ctr"/>
          <a:lstStyle/>
          <a:p>
            <a:pPr algn="l" indent="0" marL="0">
              <a:buNone/>
            </a:pPr>
            <a:r>
              <a:rPr lang="en-US" sz="1700" b="1" dirty="0">
                <a:solidFill>
                  <a:srgbClr val="17313B"/>
                </a:solidFill>
                <a:latin typeface="Calibri" pitchFamily="34" charset="0"/>
                <a:ea typeface="Calibri" pitchFamily="34" charset="-122"/>
                <a:cs typeface="Calibri" pitchFamily="34" charset="-120"/>
              </a:rPr>
              <a:t>Monitor &amp; measure</a:t>
            </a:r>
            <a:endParaRPr lang="en-US" sz="1700" dirty="0"/>
          </a:p>
        </p:txBody>
      </p:sp>
      <p:sp>
        <p:nvSpPr>
          <p:cNvPr id="23" name="Text 17"/>
          <p:cNvSpPr txBox="1"/>
          <p:nvPr/>
        </p:nvSpPr>
        <p:spPr>
          <a:xfrm>
            <a:off x="9235440" y="2651760"/>
            <a:ext cx="2331720" cy="3474720"/>
          </a:xfrm>
          <a:prstGeom prst="rect">
            <a:avLst/>
          </a:prstGeom>
          <a:noFill/>
          <a:ln/>
        </p:spPr>
        <p:txBody>
          <a:bodyPr wrap="square" lIns="0" tIns="0" rIns="0" bIns="0" rtlCol="0" anchor="t"/>
          <a:lstStyle/>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Cloud ALM: integration &amp; exception, job, health monitoring</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Cloud ALM test management &amp; Change and Deployment</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Fiori / Work Zone usage analytics</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Custom Code Migration app trends</a:t>
            </a:r>
            <a:endParaRPr lang="en-US" sz="1250" dirty="0"/>
          </a:p>
          <a:p>
            <a:pPr algn="l" marL="177800" indent="-177800">
              <a:spcAft>
                <a:spcPts val="700"/>
              </a:spcAft>
              <a:buSzPct val="100000"/>
              <a:buChar char="•"/>
            </a:pPr>
            <a:r>
              <a:rPr lang="en-US" sz="1250" dirty="0">
                <a:solidFill>
                  <a:srgbClr val="1F2937"/>
                </a:solidFill>
                <a:latin typeface="Calibri" pitchFamily="34" charset="0"/>
                <a:ea typeface="Calibri" pitchFamily="34" charset="-122"/>
                <a:cs typeface="Calibri" pitchFamily="34" charset="-120"/>
              </a:rPr>
              <a:t>SAP Enterprise Support / Preferred Success services</a:t>
            </a:r>
            <a:endParaRPr lang="en-US" sz="1250" dirty="0"/>
          </a:p>
        </p:txBody>
      </p:sp>
      <p:sp>
        <p:nvSpPr>
          <p:cNvPr id="24" name="Text 18"/>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Proven frameworks we borrow — lightly</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Use the parts that solve our problem; avoid framework overhead</a:t>
            </a:r>
            <a:endParaRPr lang="en-US" sz="1600" dirty="0"/>
          </a:p>
        </p:txBody>
      </p:sp>
      <p:sp>
        <p:nvSpPr>
          <p:cNvPr id="4" name="Shape 2"/>
          <p:cNvSpPr/>
          <p:nvPr/>
        </p:nvSpPr>
        <p:spPr>
          <a:xfrm>
            <a:off x="548640" y="1737360"/>
            <a:ext cx="2651760" cy="21031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1920240"/>
            <a:ext cx="548640" cy="548640"/>
          </a:xfrm>
          <a:prstGeom prst="ellipse">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874166" y="2062886"/>
            <a:ext cx="263347" cy="263347"/>
          </a:xfrm>
          <a:prstGeom prst="rect">
            <a:avLst/>
          </a:prstGeom>
        </p:spPr>
      </p:pic>
      <p:sp>
        <p:nvSpPr>
          <p:cNvPr id="7" name="Text 4"/>
          <p:cNvSpPr txBox="1"/>
          <p:nvPr/>
        </p:nvSpPr>
        <p:spPr>
          <a:xfrm>
            <a:off x="1417320" y="1920240"/>
            <a:ext cx="1691640" cy="54864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Flow Framework</a:t>
            </a:r>
            <a:endParaRPr lang="en-US" sz="1400" dirty="0"/>
          </a:p>
        </p:txBody>
      </p:sp>
      <p:sp>
        <p:nvSpPr>
          <p:cNvPr id="8" name="Text 5"/>
          <p:cNvSpPr txBox="1"/>
          <p:nvPr/>
        </p:nvSpPr>
        <p:spPr>
          <a:xfrm>
            <a:off x="731520" y="2606040"/>
            <a:ext cx="2286000" cy="118872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Four work types (features, defects, risks, debts) and flow distribution — shows where capacity really goes.</a:t>
            </a:r>
            <a:endParaRPr lang="en-US" sz="1250" dirty="0"/>
          </a:p>
        </p:txBody>
      </p:sp>
      <p:sp>
        <p:nvSpPr>
          <p:cNvPr id="9" name="Shape 6"/>
          <p:cNvSpPr/>
          <p:nvPr/>
        </p:nvSpPr>
        <p:spPr>
          <a:xfrm>
            <a:off x="3383280" y="1737360"/>
            <a:ext cx="2651760" cy="21031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566160" y="1920240"/>
            <a:ext cx="548640" cy="548640"/>
          </a:xfrm>
          <a:prstGeom prst="ellipse">
            <a:avLst/>
          </a:prstGeom>
          <a:solidFill>
            <a:srgbClr val="0F766E"/>
          </a:solidFill>
          <a:ln w="12700">
            <a:solidFill>
              <a:srgbClr val="0F766E"/>
            </a:solidFill>
            <a:prstDash val="solid"/>
          </a:ln>
        </p:spPr>
      </p:sp>
      <p:pic>
        <p:nvPicPr>
          <p:cNvPr id="11" name="Image 1" descr="preencoded.png">    </p:cNvPr>
          <p:cNvPicPr>
            <a:picLocks noChangeAspect="1"/>
          </p:cNvPicPr>
          <p:nvPr/>
        </p:nvPicPr>
        <p:blipFill>
          <a:blip r:embed="rId2"/>
          <a:stretch>
            <a:fillRect/>
          </a:stretch>
        </p:blipFill>
        <p:spPr>
          <a:xfrm>
            <a:off x="3708806" y="2062886"/>
            <a:ext cx="263347" cy="263347"/>
          </a:xfrm>
          <a:prstGeom prst="rect">
            <a:avLst/>
          </a:prstGeom>
        </p:spPr>
      </p:pic>
      <p:sp>
        <p:nvSpPr>
          <p:cNvPr id="12" name="Text 8"/>
          <p:cNvSpPr txBox="1"/>
          <p:nvPr/>
        </p:nvSpPr>
        <p:spPr>
          <a:xfrm>
            <a:off x="4251960" y="1920240"/>
            <a:ext cx="1691640" cy="54864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SAFe WSJF &amp; capacity allocation</a:t>
            </a:r>
            <a:endParaRPr lang="en-US" sz="1400" dirty="0"/>
          </a:p>
        </p:txBody>
      </p:sp>
      <p:sp>
        <p:nvSpPr>
          <p:cNvPr id="13" name="Text 9"/>
          <p:cNvSpPr txBox="1"/>
          <p:nvPr/>
        </p:nvSpPr>
        <p:spPr>
          <a:xfrm>
            <a:off x="3566160" y="2606040"/>
            <a:ext cx="2286000" cy="118872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Rank by cost of delay ÷ size; set % guardrails per work type each quarter.</a:t>
            </a:r>
            <a:endParaRPr lang="en-US" sz="1250" dirty="0"/>
          </a:p>
        </p:txBody>
      </p:sp>
      <p:sp>
        <p:nvSpPr>
          <p:cNvPr id="14" name="Shape 10"/>
          <p:cNvSpPr/>
          <p:nvPr/>
        </p:nvSpPr>
        <p:spPr>
          <a:xfrm>
            <a:off x="6217920" y="1737360"/>
            <a:ext cx="2651760" cy="21031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6400800" y="1920240"/>
            <a:ext cx="548640" cy="548640"/>
          </a:xfrm>
          <a:prstGeom prst="ellipse">
            <a:avLst/>
          </a:prstGeom>
          <a:solidFill>
            <a:srgbClr val="0F766E"/>
          </a:solidFill>
          <a:ln w="12700">
            <a:solidFill>
              <a:srgbClr val="0F766E"/>
            </a:solidFill>
            <a:prstDash val="solid"/>
          </a:ln>
        </p:spPr>
      </p:sp>
      <p:pic>
        <p:nvPicPr>
          <p:cNvPr id="16" name="Image 2" descr="preencoded.png">    </p:cNvPr>
          <p:cNvPicPr>
            <a:picLocks noChangeAspect="1"/>
          </p:cNvPicPr>
          <p:nvPr/>
        </p:nvPicPr>
        <p:blipFill>
          <a:blip r:embed="rId3"/>
          <a:stretch>
            <a:fillRect/>
          </a:stretch>
        </p:blipFill>
        <p:spPr>
          <a:xfrm>
            <a:off x="6543446" y="2062886"/>
            <a:ext cx="263347" cy="263347"/>
          </a:xfrm>
          <a:prstGeom prst="rect">
            <a:avLst/>
          </a:prstGeom>
        </p:spPr>
      </p:pic>
      <p:sp>
        <p:nvSpPr>
          <p:cNvPr id="17" name="Text 12"/>
          <p:cNvSpPr txBox="1"/>
          <p:nvPr/>
        </p:nvSpPr>
        <p:spPr>
          <a:xfrm>
            <a:off x="7086600" y="1920240"/>
            <a:ext cx="1691640" cy="54864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Fowler tech-debt quadrant</a:t>
            </a:r>
            <a:endParaRPr lang="en-US" sz="1400" dirty="0"/>
          </a:p>
        </p:txBody>
      </p:sp>
      <p:sp>
        <p:nvSpPr>
          <p:cNvPr id="18" name="Text 13"/>
          <p:cNvSpPr txBox="1"/>
          <p:nvPr/>
        </p:nvSpPr>
        <p:spPr>
          <a:xfrm>
            <a:off x="6400800" y="2606040"/>
            <a:ext cx="2286000" cy="118872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Deliberate vs inadvertent, prudent vs reckless — explains why debt exists and stops repeats.</a:t>
            </a:r>
            <a:endParaRPr lang="en-US" sz="1250" dirty="0"/>
          </a:p>
        </p:txBody>
      </p:sp>
      <p:sp>
        <p:nvSpPr>
          <p:cNvPr id="19" name="Shape 14"/>
          <p:cNvSpPr/>
          <p:nvPr/>
        </p:nvSpPr>
        <p:spPr>
          <a:xfrm>
            <a:off x="9052560" y="1737360"/>
            <a:ext cx="2651760" cy="21031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0" name="Shape 15"/>
          <p:cNvSpPr/>
          <p:nvPr/>
        </p:nvSpPr>
        <p:spPr>
          <a:xfrm>
            <a:off x="9235440" y="1920240"/>
            <a:ext cx="548640" cy="548640"/>
          </a:xfrm>
          <a:prstGeom prst="ellipse">
            <a:avLst/>
          </a:prstGeom>
          <a:solidFill>
            <a:srgbClr val="0F766E"/>
          </a:solidFill>
          <a:ln w="12700">
            <a:solidFill>
              <a:srgbClr val="0F766E"/>
            </a:solidFill>
            <a:prstDash val="solid"/>
          </a:ln>
        </p:spPr>
      </p:sp>
      <p:pic>
        <p:nvPicPr>
          <p:cNvPr id="21" name="Image 3" descr="preencoded.png">    </p:cNvPr>
          <p:cNvPicPr>
            <a:picLocks noChangeAspect="1"/>
          </p:cNvPicPr>
          <p:nvPr/>
        </p:nvPicPr>
        <p:blipFill>
          <a:blip r:embed="rId4"/>
          <a:stretch>
            <a:fillRect/>
          </a:stretch>
        </p:blipFill>
        <p:spPr>
          <a:xfrm>
            <a:off x="9378086" y="2062886"/>
            <a:ext cx="263347" cy="263347"/>
          </a:xfrm>
          <a:prstGeom prst="rect">
            <a:avLst/>
          </a:prstGeom>
        </p:spPr>
      </p:pic>
      <p:sp>
        <p:nvSpPr>
          <p:cNvPr id="22" name="Text 16"/>
          <p:cNvSpPr txBox="1"/>
          <p:nvPr/>
        </p:nvSpPr>
        <p:spPr>
          <a:xfrm>
            <a:off x="9921240" y="1920240"/>
            <a:ext cx="1691640" cy="54864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Kanban flow metrics</a:t>
            </a:r>
            <a:endParaRPr lang="en-US" sz="1400" dirty="0"/>
          </a:p>
        </p:txBody>
      </p:sp>
      <p:sp>
        <p:nvSpPr>
          <p:cNvPr id="23" name="Text 17"/>
          <p:cNvSpPr txBox="1"/>
          <p:nvPr/>
        </p:nvSpPr>
        <p:spPr>
          <a:xfrm>
            <a:off x="9235440" y="2606040"/>
            <a:ext cx="2286000" cy="118872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WIP limits, lead time, throughput, aging items — simple visible progress.</a:t>
            </a:r>
            <a:endParaRPr lang="en-US" sz="1250" dirty="0"/>
          </a:p>
        </p:txBody>
      </p:sp>
      <p:sp>
        <p:nvSpPr>
          <p:cNvPr id="24" name="Shape 18"/>
          <p:cNvSpPr/>
          <p:nvPr/>
        </p:nvSpPr>
        <p:spPr>
          <a:xfrm>
            <a:off x="548640" y="4023360"/>
            <a:ext cx="2651760" cy="21031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5" name="Shape 19"/>
          <p:cNvSpPr/>
          <p:nvPr/>
        </p:nvSpPr>
        <p:spPr>
          <a:xfrm>
            <a:off x="731520" y="4206240"/>
            <a:ext cx="548640" cy="548640"/>
          </a:xfrm>
          <a:prstGeom prst="ellipse">
            <a:avLst/>
          </a:prstGeom>
          <a:solidFill>
            <a:srgbClr val="0F766E"/>
          </a:solidFill>
          <a:ln w="12700">
            <a:solidFill>
              <a:srgbClr val="0F766E"/>
            </a:solidFill>
            <a:prstDash val="solid"/>
          </a:ln>
        </p:spPr>
      </p:sp>
      <p:pic>
        <p:nvPicPr>
          <p:cNvPr id="26" name="Image 4" descr="preencoded.png">    </p:cNvPr>
          <p:cNvPicPr>
            <a:picLocks noChangeAspect="1"/>
          </p:cNvPicPr>
          <p:nvPr/>
        </p:nvPicPr>
        <p:blipFill>
          <a:blip r:embed="rId5"/>
          <a:stretch>
            <a:fillRect/>
          </a:stretch>
        </p:blipFill>
        <p:spPr>
          <a:xfrm>
            <a:off x="874166" y="4348886"/>
            <a:ext cx="263347" cy="263347"/>
          </a:xfrm>
          <a:prstGeom prst="rect">
            <a:avLst/>
          </a:prstGeom>
        </p:spPr>
      </p:pic>
      <p:sp>
        <p:nvSpPr>
          <p:cNvPr id="27" name="Text 20"/>
          <p:cNvSpPr txBox="1"/>
          <p:nvPr/>
        </p:nvSpPr>
        <p:spPr>
          <a:xfrm>
            <a:off x="1417320" y="4206240"/>
            <a:ext cx="1691640" cy="54864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DORA metrics</a:t>
            </a:r>
            <a:endParaRPr lang="en-US" sz="1400" dirty="0"/>
          </a:p>
        </p:txBody>
      </p:sp>
      <p:sp>
        <p:nvSpPr>
          <p:cNvPr id="28" name="Text 21"/>
          <p:cNvSpPr txBox="1"/>
          <p:nvPr/>
        </p:nvSpPr>
        <p:spPr>
          <a:xfrm>
            <a:off x="731520" y="4892040"/>
            <a:ext cx="2286000" cy="118872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Deployment frequency, lead time, change failure rate, restore time — for BTP / integration delivery.</a:t>
            </a:r>
            <a:endParaRPr lang="en-US" sz="1250" dirty="0"/>
          </a:p>
        </p:txBody>
      </p:sp>
      <p:sp>
        <p:nvSpPr>
          <p:cNvPr id="29" name="Shape 22"/>
          <p:cNvSpPr/>
          <p:nvPr/>
        </p:nvSpPr>
        <p:spPr>
          <a:xfrm>
            <a:off x="3383280" y="4023360"/>
            <a:ext cx="2651760" cy="21031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30" name="Shape 23"/>
          <p:cNvSpPr/>
          <p:nvPr/>
        </p:nvSpPr>
        <p:spPr>
          <a:xfrm>
            <a:off x="3566160" y="4206240"/>
            <a:ext cx="548640" cy="548640"/>
          </a:xfrm>
          <a:prstGeom prst="ellipse">
            <a:avLst/>
          </a:prstGeom>
          <a:solidFill>
            <a:srgbClr val="0F766E"/>
          </a:solidFill>
          <a:ln w="12700">
            <a:solidFill>
              <a:srgbClr val="0F766E"/>
            </a:solidFill>
            <a:prstDash val="solid"/>
          </a:ln>
        </p:spPr>
      </p:sp>
      <p:pic>
        <p:nvPicPr>
          <p:cNvPr id="31" name="Image 5" descr="preencoded.png">    </p:cNvPr>
          <p:cNvPicPr>
            <a:picLocks noChangeAspect="1"/>
          </p:cNvPicPr>
          <p:nvPr/>
        </p:nvPicPr>
        <p:blipFill>
          <a:blip r:embed="rId6"/>
          <a:stretch>
            <a:fillRect/>
          </a:stretch>
        </p:blipFill>
        <p:spPr>
          <a:xfrm>
            <a:off x="3708806" y="4348886"/>
            <a:ext cx="263347" cy="263347"/>
          </a:xfrm>
          <a:prstGeom prst="rect">
            <a:avLst/>
          </a:prstGeom>
        </p:spPr>
      </p:pic>
      <p:sp>
        <p:nvSpPr>
          <p:cNvPr id="32" name="Text 24"/>
          <p:cNvSpPr txBox="1"/>
          <p:nvPr/>
        </p:nvSpPr>
        <p:spPr>
          <a:xfrm>
            <a:off x="4251960" y="4206240"/>
            <a:ext cx="1691640" cy="54864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TOGAF-style design authority</a:t>
            </a:r>
            <a:endParaRPr lang="en-US" sz="1400" dirty="0"/>
          </a:p>
        </p:txBody>
      </p:sp>
      <p:sp>
        <p:nvSpPr>
          <p:cNvPr id="33" name="Text 25"/>
          <p:cNvSpPr txBox="1"/>
          <p:nvPr/>
        </p:nvSpPr>
        <p:spPr>
          <a:xfrm>
            <a:off x="3566160" y="4892040"/>
            <a:ext cx="2286000" cy="118872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Architecture board approves extension and integration patterns; prevents new debt.</a:t>
            </a:r>
            <a:endParaRPr lang="en-US" sz="1250" dirty="0"/>
          </a:p>
        </p:txBody>
      </p:sp>
      <p:sp>
        <p:nvSpPr>
          <p:cNvPr id="34" name="Shape 26"/>
          <p:cNvSpPr/>
          <p:nvPr/>
        </p:nvSpPr>
        <p:spPr>
          <a:xfrm>
            <a:off x="6217920" y="4023360"/>
            <a:ext cx="2651760" cy="21031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35" name="Shape 27"/>
          <p:cNvSpPr/>
          <p:nvPr/>
        </p:nvSpPr>
        <p:spPr>
          <a:xfrm>
            <a:off x="6400800" y="4206240"/>
            <a:ext cx="548640" cy="548640"/>
          </a:xfrm>
          <a:prstGeom prst="ellipse">
            <a:avLst/>
          </a:prstGeom>
          <a:solidFill>
            <a:srgbClr val="0F766E"/>
          </a:solidFill>
          <a:ln w="12700">
            <a:solidFill>
              <a:srgbClr val="0F766E"/>
            </a:solidFill>
            <a:prstDash val="solid"/>
          </a:ln>
        </p:spPr>
      </p:sp>
      <p:pic>
        <p:nvPicPr>
          <p:cNvPr id="36" name="Image 6" descr="preencoded.png">    </p:cNvPr>
          <p:cNvPicPr>
            <a:picLocks noChangeAspect="1"/>
          </p:cNvPicPr>
          <p:nvPr/>
        </p:nvPicPr>
        <p:blipFill>
          <a:blip r:embed="rId7"/>
          <a:stretch>
            <a:fillRect/>
          </a:stretch>
        </p:blipFill>
        <p:spPr>
          <a:xfrm>
            <a:off x="6543446" y="4348886"/>
            <a:ext cx="263347" cy="263347"/>
          </a:xfrm>
          <a:prstGeom prst="rect">
            <a:avLst/>
          </a:prstGeom>
        </p:spPr>
      </p:pic>
      <p:sp>
        <p:nvSpPr>
          <p:cNvPr id="37" name="Text 28"/>
          <p:cNvSpPr txBox="1"/>
          <p:nvPr/>
        </p:nvSpPr>
        <p:spPr>
          <a:xfrm>
            <a:off x="7086600" y="4206240"/>
            <a:ext cx="1691640" cy="54864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ITIL 4 problem management</a:t>
            </a:r>
            <a:endParaRPr lang="en-US" sz="1400" dirty="0"/>
          </a:p>
        </p:txBody>
      </p:sp>
      <p:sp>
        <p:nvSpPr>
          <p:cNvPr id="38" name="Text 29"/>
          <p:cNvSpPr txBox="1"/>
          <p:nvPr/>
        </p:nvSpPr>
        <p:spPr>
          <a:xfrm>
            <a:off x="6400800" y="4892040"/>
            <a:ext cx="2286000" cy="118872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Turns repeat incidents into root-cause backlog items instead of recurring tickets.</a:t>
            </a:r>
            <a:endParaRPr lang="en-US" sz="1250" dirty="0"/>
          </a:p>
        </p:txBody>
      </p:sp>
      <p:sp>
        <p:nvSpPr>
          <p:cNvPr id="39" name="Shape 30"/>
          <p:cNvSpPr/>
          <p:nvPr/>
        </p:nvSpPr>
        <p:spPr>
          <a:xfrm>
            <a:off x="9052560" y="4023360"/>
            <a:ext cx="2651760" cy="2103120"/>
          </a:xfrm>
          <a:prstGeom prst="roundRect">
            <a:avLst>
              <a:gd name="adj" fmla="val 3478"/>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40" name="Shape 31"/>
          <p:cNvSpPr/>
          <p:nvPr/>
        </p:nvSpPr>
        <p:spPr>
          <a:xfrm>
            <a:off x="9235440" y="4206240"/>
            <a:ext cx="548640" cy="548640"/>
          </a:xfrm>
          <a:prstGeom prst="ellipse">
            <a:avLst/>
          </a:prstGeom>
          <a:solidFill>
            <a:srgbClr val="0F766E"/>
          </a:solidFill>
          <a:ln w="12700">
            <a:solidFill>
              <a:srgbClr val="0F766E"/>
            </a:solidFill>
            <a:prstDash val="solid"/>
          </a:ln>
        </p:spPr>
      </p:sp>
      <p:pic>
        <p:nvPicPr>
          <p:cNvPr id="41" name="Image 7" descr="preencoded.png">    </p:cNvPr>
          <p:cNvPicPr>
            <a:picLocks noChangeAspect="1"/>
          </p:cNvPicPr>
          <p:nvPr/>
        </p:nvPicPr>
        <p:blipFill>
          <a:blip r:embed="rId8"/>
          <a:stretch>
            <a:fillRect/>
          </a:stretch>
        </p:blipFill>
        <p:spPr>
          <a:xfrm>
            <a:off x="9378086" y="4348886"/>
            <a:ext cx="263347" cy="263347"/>
          </a:xfrm>
          <a:prstGeom prst="rect">
            <a:avLst/>
          </a:prstGeom>
        </p:spPr>
      </p:pic>
      <p:sp>
        <p:nvSpPr>
          <p:cNvPr id="42" name="Text 32"/>
          <p:cNvSpPr txBox="1"/>
          <p:nvPr/>
        </p:nvSpPr>
        <p:spPr>
          <a:xfrm>
            <a:off x="9921240" y="4206240"/>
            <a:ext cx="1691640" cy="54864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Delivery tools</a:t>
            </a:r>
            <a:endParaRPr lang="en-US" sz="1400" dirty="0"/>
          </a:p>
        </p:txBody>
      </p:sp>
      <p:sp>
        <p:nvSpPr>
          <p:cNvPr id="43" name="Text 33"/>
          <p:cNvSpPr txBox="1"/>
          <p:nvPr/>
        </p:nvSpPr>
        <p:spPr>
          <a:xfrm>
            <a:off x="9235440" y="4892040"/>
            <a:ext cx="2286000" cy="118872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Cloud ALM, Jira / Azure DevOps or ServiceNow SPM for the board; Tricentis or Cloud ALM for test automation.</a:t>
            </a:r>
            <a:endParaRPr lang="en-US" sz="1250" dirty="0"/>
          </a:p>
        </p:txBody>
      </p:sp>
      <p:sp>
        <p:nvSpPr>
          <p:cNvPr id="44" name="Text 34"/>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How work flows to the IT team</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One front door, clear gates, and an expedite lane for production issues</a:t>
            </a:r>
            <a:endParaRPr lang="en-US" sz="1600" dirty="0"/>
          </a:p>
        </p:txBody>
      </p:sp>
      <p:sp>
        <p:nvSpPr>
          <p:cNvPr id="4" name="Shape 2"/>
          <p:cNvSpPr/>
          <p:nvPr/>
        </p:nvSpPr>
        <p:spPr>
          <a:xfrm>
            <a:off x="548640" y="1783080"/>
            <a:ext cx="1371600" cy="777240"/>
          </a:xfrm>
          <a:prstGeom prst="homePlate">
            <a:avLst/>
          </a:prstGeom>
          <a:solidFill>
            <a:srgbClr val="17313B"/>
          </a:solidFill>
          <a:ln w="12700">
            <a:solidFill>
              <a:srgbClr val="FFFFFF"/>
            </a:solidFill>
            <a:prstDash val="solid"/>
          </a:ln>
        </p:spPr>
      </p:sp>
      <p:sp>
        <p:nvSpPr>
          <p:cNvPr id="5" name="Text 3"/>
          <p:cNvSpPr txBox="1"/>
          <p:nvPr/>
        </p:nvSpPr>
        <p:spPr>
          <a:xfrm>
            <a:off x="749808" y="1783080"/>
            <a:ext cx="10607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Intake</a:t>
            </a:r>
            <a:endParaRPr lang="en-US" sz="1150" dirty="0"/>
          </a:p>
        </p:txBody>
      </p:sp>
      <p:sp>
        <p:nvSpPr>
          <p:cNvPr id="6" name="Text 4"/>
          <p:cNvSpPr txBox="1"/>
          <p:nvPr/>
        </p:nvSpPr>
        <p:spPr>
          <a:xfrm>
            <a:off x="594360" y="2697480"/>
            <a:ext cx="1280160" cy="320040"/>
          </a:xfrm>
          <a:prstGeom prst="rect">
            <a:avLst/>
          </a:prstGeom>
          <a:noFill/>
          <a:ln/>
        </p:spPr>
        <p:txBody>
          <a:bodyPr wrap="square" lIns="0" tIns="0" rIns="0" bIns="0" rtlCol="0" anchor="t"/>
          <a:lstStyle/>
          <a:p>
            <a:pPr algn="ctr" indent="0" marL="0">
              <a:buNone/>
            </a:pPr>
            <a:r>
              <a:rPr lang="en-US" sz="1100" b="1" dirty="0">
                <a:solidFill>
                  <a:srgbClr val="0F766E"/>
                </a:solidFill>
                <a:latin typeface="Calibri" pitchFamily="34" charset="0"/>
                <a:ea typeface="Calibri" pitchFamily="34" charset="-122"/>
                <a:cs typeface="Calibri" pitchFamily="34" charset="-120"/>
              </a:rPr>
              <a:t>Anyone</a:t>
            </a:r>
            <a:endParaRPr lang="en-US" sz="1100" dirty="0"/>
          </a:p>
        </p:txBody>
      </p:sp>
      <p:sp>
        <p:nvSpPr>
          <p:cNvPr id="7" name="Text 5"/>
          <p:cNvSpPr txBox="1"/>
          <p:nvPr/>
        </p:nvSpPr>
        <p:spPr>
          <a:xfrm>
            <a:off x="594360" y="3017520"/>
            <a:ext cx="1280160" cy="10058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Request, incident, ATC / monitoring finding logged</a:t>
            </a:r>
            <a:endParaRPr lang="en-US" sz="1100" dirty="0"/>
          </a:p>
        </p:txBody>
      </p:sp>
      <p:sp>
        <p:nvSpPr>
          <p:cNvPr id="8" name="Shape 6"/>
          <p:cNvSpPr/>
          <p:nvPr/>
        </p:nvSpPr>
        <p:spPr>
          <a:xfrm>
            <a:off x="1938528" y="1783080"/>
            <a:ext cx="1371600" cy="777240"/>
          </a:xfrm>
          <a:prstGeom prst="chevron">
            <a:avLst/>
          </a:prstGeom>
          <a:solidFill>
            <a:srgbClr val="0F766E"/>
          </a:solidFill>
          <a:ln w="12700">
            <a:solidFill>
              <a:srgbClr val="FFFFFF"/>
            </a:solidFill>
            <a:prstDash val="solid"/>
          </a:ln>
        </p:spPr>
      </p:sp>
      <p:sp>
        <p:nvSpPr>
          <p:cNvPr id="9" name="Text 7"/>
          <p:cNvSpPr txBox="1"/>
          <p:nvPr/>
        </p:nvSpPr>
        <p:spPr>
          <a:xfrm>
            <a:off x="2139696" y="1783080"/>
            <a:ext cx="10607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Triage</a:t>
            </a:r>
            <a:endParaRPr lang="en-US" sz="1150" dirty="0"/>
          </a:p>
        </p:txBody>
      </p:sp>
      <p:sp>
        <p:nvSpPr>
          <p:cNvPr id="10" name="Text 8"/>
          <p:cNvSpPr txBox="1"/>
          <p:nvPr/>
        </p:nvSpPr>
        <p:spPr>
          <a:xfrm>
            <a:off x="1984248" y="2697480"/>
            <a:ext cx="1280160" cy="320040"/>
          </a:xfrm>
          <a:prstGeom prst="rect">
            <a:avLst/>
          </a:prstGeom>
          <a:noFill/>
          <a:ln/>
        </p:spPr>
        <p:txBody>
          <a:bodyPr wrap="square" lIns="0" tIns="0" rIns="0" bIns="0" rtlCol="0" anchor="t"/>
          <a:lstStyle/>
          <a:p>
            <a:pPr algn="ctr" indent="0" marL="0">
              <a:buNone/>
            </a:pPr>
            <a:r>
              <a:rPr lang="en-US" sz="1100" b="1" dirty="0">
                <a:solidFill>
                  <a:srgbClr val="0F766E"/>
                </a:solidFill>
                <a:latin typeface="Calibri" pitchFamily="34" charset="0"/>
                <a:ea typeface="Calibri" pitchFamily="34" charset="-122"/>
                <a:cs typeface="Calibri" pitchFamily="34" charset="-120"/>
              </a:rPr>
              <a:t>PO + leads, weekly</a:t>
            </a:r>
            <a:endParaRPr lang="en-US" sz="1100" dirty="0"/>
          </a:p>
        </p:txBody>
      </p:sp>
      <p:sp>
        <p:nvSpPr>
          <p:cNvPr id="11" name="Text 9"/>
          <p:cNvSpPr txBox="1"/>
          <p:nvPr/>
        </p:nvSpPr>
        <p:spPr>
          <a:xfrm>
            <a:off x="1984248" y="3017520"/>
            <a:ext cx="1280160" cy="10058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Type, dimension, severity; duplicates closed</a:t>
            </a:r>
            <a:endParaRPr lang="en-US" sz="1100" dirty="0"/>
          </a:p>
        </p:txBody>
      </p:sp>
      <p:sp>
        <p:nvSpPr>
          <p:cNvPr id="12" name="Shape 10"/>
          <p:cNvSpPr/>
          <p:nvPr/>
        </p:nvSpPr>
        <p:spPr>
          <a:xfrm>
            <a:off x="3328416" y="1783080"/>
            <a:ext cx="1371600" cy="777240"/>
          </a:xfrm>
          <a:prstGeom prst="chevron">
            <a:avLst/>
          </a:prstGeom>
          <a:solidFill>
            <a:srgbClr val="17313B"/>
          </a:solidFill>
          <a:ln w="12700">
            <a:solidFill>
              <a:srgbClr val="FFFFFF"/>
            </a:solidFill>
            <a:prstDash val="solid"/>
          </a:ln>
        </p:spPr>
      </p:sp>
      <p:sp>
        <p:nvSpPr>
          <p:cNvPr id="13" name="Text 11"/>
          <p:cNvSpPr txBox="1"/>
          <p:nvPr/>
        </p:nvSpPr>
        <p:spPr>
          <a:xfrm>
            <a:off x="3529584" y="1783080"/>
            <a:ext cx="10607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Refine</a:t>
            </a:r>
            <a:endParaRPr lang="en-US" sz="1150" dirty="0"/>
          </a:p>
        </p:txBody>
      </p:sp>
      <p:sp>
        <p:nvSpPr>
          <p:cNvPr id="14" name="Text 12"/>
          <p:cNvSpPr txBox="1"/>
          <p:nvPr/>
        </p:nvSpPr>
        <p:spPr>
          <a:xfrm>
            <a:off x="3374136" y="2697480"/>
            <a:ext cx="1280160" cy="320040"/>
          </a:xfrm>
          <a:prstGeom prst="rect">
            <a:avLst/>
          </a:prstGeom>
          <a:noFill/>
          <a:ln/>
        </p:spPr>
        <p:txBody>
          <a:bodyPr wrap="square" lIns="0" tIns="0" rIns="0" bIns="0" rtlCol="0" anchor="t"/>
          <a:lstStyle/>
          <a:p>
            <a:pPr algn="ctr" indent="0" marL="0">
              <a:buNone/>
            </a:pPr>
            <a:r>
              <a:rPr lang="en-US" sz="1100" b="1" dirty="0">
                <a:solidFill>
                  <a:srgbClr val="0F766E"/>
                </a:solidFill>
                <a:latin typeface="Calibri" pitchFamily="34" charset="0"/>
                <a:ea typeface="Calibri" pitchFamily="34" charset="-122"/>
                <a:cs typeface="Calibri" pitchFamily="34" charset="-120"/>
              </a:rPr>
              <a:t>PO + architects</a:t>
            </a:r>
            <a:endParaRPr lang="en-US" sz="1100" dirty="0"/>
          </a:p>
        </p:txBody>
      </p:sp>
      <p:sp>
        <p:nvSpPr>
          <p:cNvPr id="15" name="Text 13"/>
          <p:cNvSpPr txBox="1"/>
          <p:nvPr/>
        </p:nvSpPr>
        <p:spPr>
          <a:xfrm>
            <a:off x="3374136" y="3017520"/>
            <a:ext cx="1280160" cy="10058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Sized, WSJF, owners → Definition of Ready</a:t>
            </a:r>
            <a:endParaRPr lang="en-US" sz="1100" dirty="0"/>
          </a:p>
        </p:txBody>
      </p:sp>
      <p:sp>
        <p:nvSpPr>
          <p:cNvPr id="16" name="Shape 14"/>
          <p:cNvSpPr/>
          <p:nvPr/>
        </p:nvSpPr>
        <p:spPr>
          <a:xfrm>
            <a:off x="4718304" y="1783080"/>
            <a:ext cx="1371600" cy="777240"/>
          </a:xfrm>
          <a:prstGeom prst="chevron">
            <a:avLst/>
          </a:prstGeom>
          <a:solidFill>
            <a:srgbClr val="0F766E"/>
          </a:solidFill>
          <a:ln w="12700">
            <a:solidFill>
              <a:srgbClr val="FFFFFF"/>
            </a:solidFill>
            <a:prstDash val="solid"/>
          </a:ln>
        </p:spPr>
      </p:sp>
      <p:sp>
        <p:nvSpPr>
          <p:cNvPr id="17" name="Text 15"/>
          <p:cNvSpPr txBox="1"/>
          <p:nvPr/>
        </p:nvSpPr>
        <p:spPr>
          <a:xfrm>
            <a:off x="4919472" y="1783080"/>
            <a:ext cx="10607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Prioritise</a:t>
            </a:r>
            <a:endParaRPr lang="en-US" sz="1150" dirty="0"/>
          </a:p>
        </p:txBody>
      </p:sp>
      <p:sp>
        <p:nvSpPr>
          <p:cNvPr id="18" name="Text 16"/>
          <p:cNvSpPr txBox="1"/>
          <p:nvPr/>
        </p:nvSpPr>
        <p:spPr>
          <a:xfrm>
            <a:off x="4764024" y="2697480"/>
            <a:ext cx="1280160" cy="320040"/>
          </a:xfrm>
          <a:prstGeom prst="rect">
            <a:avLst/>
          </a:prstGeom>
          <a:noFill/>
          <a:ln/>
        </p:spPr>
        <p:txBody>
          <a:bodyPr wrap="square" lIns="0" tIns="0" rIns="0" bIns="0" rtlCol="0" anchor="t"/>
          <a:lstStyle/>
          <a:p>
            <a:pPr algn="ctr" indent="0" marL="0">
              <a:buNone/>
            </a:pPr>
            <a:r>
              <a:rPr lang="en-US" sz="1100" b="1" dirty="0">
                <a:solidFill>
                  <a:srgbClr val="0F766E"/>
                </a:solidFill>
                <a:latin typeface="Calibri" pitchFamily="34" charset="0"/>
                <a:ea typeface="Calibri" pitchFamily="34" charset="-122"/>
                <a:cs typeface="Calibri" pitchFamily="34" charset="-120"/>
              </a:rPr>
              <a:t>Portfolio, monthly</a:t>
            </a:r>
            <a:endParaRPr lang="en-US" sz="1100" dirty="0"/>
          </a:p>
        </p:txBody>
      </p:sp>
      <p:sp>
        <p:nvSpPr>
          <p:cNvPr id="19" name="Text 17"/>
          <p:cNvSpPr txBox="1"/>
          <p:nvPr/>
        </p:nvSpPr>
        <p:spPr>
          <a:xfrm>
            <a:off x="4764024" y="3017520"/>
            <a:ext cx="1280160" cy="10058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Ranked inside capacity guardrails</a:t>
            </a:r>
            <a:endParaRPr lang="en-US" sz="1100" dirty="0"/>
          </a:p>
        </p:txBody>
      </p:sp>
      <p:sp>
        <p:nvSpPr>
          <p:cNvPr id="20" name="Shape 18"/>
          <p:cNvSpPr/>
          <p:nvPr/>
        </p:nvSpPr>
        <p:spPr>
          <a:xfrm>
            <a:off x="6108192" y="1783080"/>
            <a:ext cx="1371600" cy="777240"/>
          </a:xfrm>
          <a:prstGeom prst="chevron">
            <a:avLst/>
          </a:prstGeom>
          <a:solidFill>
            <a:srgbClr val="17313B"/>
          </a:solidFill>
          <a:ln w="12700">
            <a:solidFill>
              <a:srgbClr val="FFFFFF"/>
            </a:solidFill>
            <a:prstDash val="solid"/>
          </a:ln>
        </p:spPr>
      </p:sp>
      <p:sp>
        <p:nvSpPr>
          <p:cNvPr id="21" name="Text 19"/>
          <p:cNvSpPr txBox="1"/>
          <p:nvPr/>
        </p:nvSpPr>
        <p:spPr>
          <a:xfrm>
            <a:off x="6309360" y="1783080"/>
            <a:ext cx="10607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Plan</a:t>
            </a:r>
            <a:endParaRPr lang="en-US" sz="1150" dirty="0"/>
          </a:p>
        </p:txBody>
      </p:sp>
      <p:sp>
        <p:nvSpPr>
          <p:cNvPr id="22" name="Text 20"/>
          <p:cNvSpPr txBox="1"/>
          <p:nvPr/>
        </p:nvSpPr>
        <p:spPr>
          <a:xfrm>
            <a:off x="6153912" y="2697480"/>
            <a:ext cx="1280160" cy="320040"/>
          </a:xfrm>
          <a:prstGeom prst="rect">
            <a:avLst/>
          </a:prstGeom>
          <a:noFill/>
          <a:ln/>
        </p:spPr>
        <p:txBody>
          <a:bodyPr wrap="square" lIns="0" tIns="0" rIns="0" bIns="0" rtlCol="0" anchor="t"/>
          <a:lstStyle/>
          <a:p>
            <a:pPr algn="ctr" indent="0" marL="0">
              <a:buNone/>
            </a:pPr>
            <a:r>
              <a:rPr lang="en-US" sz="1100" b="1" dirty="0">
                <a:solidFill>
                  <a:srgbClr val="0F766E"/>
                </a:solidFill>
                <a:latin typeface="Calibri" pitchFamily="34" charset="0"/>
                <a:ea typeface="Calibri" pitchFamily="34" charset="-122"/>
                <a:cs typeface="Calibri" pitchFamily="34" charset="-120"/>
              </a:rPr>
              <a:t>Team, bi-weekly</a:t>
            </a:r>
            <a:endParaRPr lang="en-US" sz="1100" dirty="0"/>
          </a:p>
        </p:txBody>
      </p:sp>
      <p:sp>
        <p:nvSpPr>
          <p:cNvPr id="23" name="Text 21"/>
          <p:cNvSpPr txBox="1"/>
          <p:nvPr/>
        </p:nvSpPr>
        <p:spPr>
          <a:xfrm>
            <a:off x="6153912" y="3017520"/>
            <a:ext cx="1280160" cy="10058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Sprint goal; mix per allocation %</a:t>
            </a:r>
            <a:endParaRPr lang="en-US" sz="1100" dirty="0"/>
          </a:p>
        </p:txBody>
      </p:sp>
      <p:sp>
        <p:nvSpPr>
          <p:cNvPr id="24" name="Shape 22"/>
          <p:cNvSpPr/>
          <p:nvPr/>
        </p:nvSpPr>
        <p:spPr>
          <a:xfrm>
            <a:off x="7498080" y="1783080"/>
            <a:ext cx="1371600" cy="777240"/>
          </a:xfrm>
          <a:prstGeom prst="chevron">
            <a:avLst/>
          </a:prstGeom>
          <a:solidFill>
            <a:srgbClr val="0F766E"/>
          </a:solidFill>
          <a:ln w="12700">
            <a:solidFill>
              <a:srgbClr val="FFFFFF"/>
            </a:solidFill>
            <a:prstDash val="solid"/>
          </a:ln>
        </p:spPr>
      </p:sp>
      <p:sp>
        <p:nvSpPr>
          <p:cNvPr id="25" name="Text 23"/>
          <p:cNvSpPr txBox="1"/>
          <p:nvPr/>
        </p:nvSpPr>
        <p:spPr>
          <a:xfrm>
            <a:off x="7699248" y="1783080"/>
            <a:ext cx="10607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Build &amp; test</a:t>
            </a:r>
            <a:endParaRPr lang="en-US" sz="1150" dirty="0"/>
          </a:p>
        </p:txBody>
      </p:sp>
      <p:sp>
        <p:nvSpPr>
          <p:cNvPr id="26" name="Text 24"/>
          <p:cNvSpPr txBox="1"/>
          <p:nvPr/>
        </p:nvSpPr>
        <p:spPr>
          <a:xfrm>
            <a:off x="7543800" y="2697480"/>
            <a:ext cx="1280160" cy="320040"/>
          </a:xfrm>
          <a:prstGeom prst="rect">
            <a:avLst/>
          </a:prstGeom>
          <a:noFill/>
          <a:ln/>
        </p:spPr>
        <p:txBody>
          <a:bodyPr wrap="square" lIns="0" tIns="0" rIns="0" bIns="0" rtlCol="0" anchor="t"/>
          <a:lstStyle/>
          <a:p>
            <a:pPr algn="ctr" indent="0" marL="0">
              <a:buNone/>
            </a:pPr>
            <a:r>
              <a:rPr lang="en-US" sz="1100" b="1" dirty="0">
                <a:solidFill>
                  <a:srgbClr val="0F766E"/>
                </a:solidFill>
                <a:latin typeface="Calibri" pitchFamily="34" charset="0"/>
                <a:ea typeface="Calibri" pitchFamily="34" charset="-122"/>
                <a:cs typeface="Calibri" pitchFamily="34" charset="-120"/>
              </a:rPr>
              <a:t>Delivery team</a:t>
            </a:r>
            <a:endParaRPr lang="en-US" sz="1100" dirty="0"/>
          </a:p>
        </p:txBody>
      </p:sp>
      <p:sp>
        <p:nvSpPr>
          <p:cNvPr id="27" name="Text 25"/>
          <p:cNvSpPr txBox="1"/>
          <p:nvPr/>
        </p:nvSpPr>
        <p:spPr>
          <a:xfrm>
            <a:off x="7543800" y="3017520"/>
            <a:ext cx="1280160" cy="10058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Design authority for new extensions; automated regression</a:t>
            </a:r>
            <a:endParaRPr lang="en-US" sz="1100" dirty="0"/>
          </a:p>
        </p:txBody>
      </p:sp>
      <p:sp>
        <p:nvSpPr>
          <p:cNvPr id="28" name="Shape 26"/>
          <p:cNvSpPr/>
          <p:nvPr/>
        </p:nvSpPr>
        <p:spPr>
          <a:xfrm>
            <a:off x="8887968" y="1783080"/>
            <a:ext cx="1371600" cy="777240"/>
          </a:xfrm>
          <a:prstGeom prst="chevron">
            <a:avLst/>
          </a:prstGeom>
          <a:solidFill>
            <a:srgbClr val="17313B"/>
          </a:solidFill>
          <a:ln w="12700">
            <a:solidFill>
              <a:srgbClr val="FFFFFF"/>
            </a:solidFill>
            <a:prstDash val="solid"/>
          </a:ln>
        </p:spPr>
      </p:sp>
      <p:sp>
        <p:nvSpPr>
          <p:cNvPr id="29" name="Text 27"/>
          <p:cNvSpPr txBox="1"/>
          <p:nvPr/>
        </p:nvSpPr>
        <p:spPr>
          <a:xfrm>
            <a:off x="9089136" y="1783080"/>
            <a:ext cx="10607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Release</a:t>
            </a:r>
            <a:endParaRPr lang="en-US" sz="1150" dirty="0"/>
          </a:p>
        </p:txBody>
      </p:sp>
      <p:sp>
        <p:nvSpPr>
          <p:cNvPr id="30" name="Text 28"/>
          <p:cNvSpPr txBox="1"/>
          <p:nvPr/>
        </p:nvSpPr>
        <p:spPr>
          <a:xfrm>
            <a:off x="8933688" y="2697480"/>
            <a:ext cx="1280160" cy="320040"/>
          </a:xfrm>
          <a:prstGeom prst="rect">
            <a:avLst/>
          </a:prstGeom>
          <a:noFill/>
          <a:ln/>
        </p:spPr>
        <p:txBody>
          <a:bodyPr wrap="square" lIns="0" tIns="0" rIns="0" bIns="0" rtlCol="0" anchor="t"/>
          <a:lstStyle/>
          <a:p>
            <a:pPr algn="ctr" indent="0" marL="0">
              <a:buNone/>
            </a:pPr>
            <a:r>
              <a:rPr lang="en-US" sz="1100" b="1" dirty="0">
                <a:solidFill>
                  <a:srgbClr val="0F766E"/>
                </a:solidFill>
                <a:latin typeface="Calibri" pitchFamily="34" charset="0"/>
                <a:ea typeface="Calibri" pitchFamily="34" charset="-122"/>
                <a:cs typeface="Calibri" pitchFamily="34" charset="-120"/>
              </a:rPr>
              <a:t>Change board</a:t>
            </a:r>
            <a:endParaRPr lang="en-US" sz="1100" dirty="0"/>
          </a:p>
        </p:txBody>
      </p:sp>
      <p:sp>
        <p:nvSpPr>
          <p:cNvPr id="31" name="Text 29"/>
          <p:cNvSpPr txBox="1"/>
          <p:nvPr/>
        </p:nvSpPr>
        <p:spPr>
          <a:xfrm>
            <a:off x="8933688" y="3017520"/>
            <a:ext cx="1280160" cy="10058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Transport / cTMS; release notes</a:t>
            </a:r>
            <a:endParaRPr lang="en-US" sz="1100" dirty="0"/>
          </a:p>
        </p:txBody>
      </p:sp>
      <p:sp>
        <p:nvSpPr>
          <p:cNvPr id="32" name="Shape 30"/>
          <p:cNvSpPr/>
          <p:nvPr/>
        </p:nvSpPr>
        <p:spPr>
          <a:xfrm>
            <a:off x="10277856" y="1783080"/>
            <a:ext cx="1371600" cy="777240"/>
          </a:xfrm>
          <a:prstGeom prst="chevron">
            <a:avLst/>
          </a:prstGeom>
          <a:solidFill>
            <a:srgbClr val="0F766E"/>
          </a:solidFill>
          <a:ln w="12700">
            <a:solidFill>
              <a:srgbClr val="FFFFFF"/>
            </a:solidFill>
            <a:prstDash val="solid"/>
          </a:ln>
        </p:spPr>
      </p:sp>
      <p:sp>
        <p:nvSpPr>
          <p:cNvPr id="33" name="Text 31"/>
          <p:cNvSpPr txBox="1"/>
          <p:nvPr/>
        </p:nvSpPr>
        <p:spPr>
          <a:xfrm>
            <a:off x="10479024" y="1783080"/>
            <a:ext cx="10607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Measure</a:t>
            </a:r>
            <a:endParaRPr lang="en-US" sz="1150" dirty="0"/>
          </a:p>
        </p:txBody>
      </p:sp>
      <p:sp>
        <p:nvSpPr>
          <p:cNvPr id="34" name="Text 32"/>
          <p:cNvSpPr txBox="1"/>
          <p:nvPr/>
        </p:nvSpPr>
        <p:spPr>
          <a:xfrm>
            <a:off x="10323576" y="2697480"/>
            <a:ext cx="1280160" cy="320040"/>
          </a:xfrm>
          <a:prstGeom prst="rect">
            <a:avLst/>
          </a:prstGeom>
          <a:noFill/>
          <a:ln/>
        </p:spPr>
        <p:txBody>
          <a:bodyPr wrap="square" lIns="0" tIns="0" rIns="0" bIns="0" rtlCol="0" anchor="t"/>
          <a:lstStyle/>
          <a:p>
            <a:pPr algn="ctr" indent="0" marL="0">
              <a:buNone/>
            </a:pPr>
            <a:r>
              <a:rPr lang="en-US" sz="1100" b="1" dirty="0">
                <a:solidFill>
                  <a:srgbClr val="0F766E"/>
                </a:solidFill>
                <a:latin typeface="Calibri" pitchFamily="34" charset="0"/>
                <a:ea typeface="Calibri" pitchFamily="34" charset="-122"/>
                <a:cs typeface="Calibri" pitchFamily="34" charset="-120"/>
              </a:rPr>
              <a:t>PO + EA</a:t>
            </a:r>
            <a:endParaRPr lang="en-US" sz="1100" dirty="0"/>
          </a:p>
        </p:txBody>
      </p:sp>
      <p:sp>
        <p:nvSpPr>
          <p:cNvPr id="35" name="Text 33"/>
          <p:cNvSpPr txBox="1"/>
          <p:nvPr/>
        </p:nvSpPr>
        <p:spPr>
          <a:xfrm>
            <a:off x="10323576" y="3017520"/>
            <a:ext cx="1280160" cy="1005840"/>
          </a:xfrm>
          <a:prstGeom prst="rect">
            <a:avLst/>
          </a:prstGeom>
          <a:noFill/>
          <a:ln/>
        </p:spPr>
        <p:txBody>
          <a:bodyPr wrap="square" lIns="0" tIns="0" rIns="0" bIns="0" rtlCol="0" anchor="t"/>
          <a:lstStyle/>
          <a:p>
            <a:pPr algn="ctr" indent="0" marL="0">
              <a:buNone/>
            </a:pPr>
            <a:r>
              <a:rPr lang="en-US" sz="1100" dirty="0">
                <a:solidFill>
                  <a:srgbClr val="1F2937"/>
                </a:solidFill>
                <a:latin typeface="Calibri" pitchFamily="34" charset="0"/>
                <a:ea typeface="Calibri" pitchFamily="34" charset="-122"/>
                <a:cs typeface="Calibri" pitchFamily="34" charset="-120"/>
              </a:rPr>
              <a:t>KPIs, demo, feedback into backlog</a:t>
            </a:r>
            <a:endParaRPr lang="en-US" sz="1100" dirty="0"/>
          </a:p>
        </p:txBody>
      </p:sp>
      <p:sp>
        <p:nvSpPr>
          <p:cNvPr id="36" name="Shape 34"/>
          <p:cNvSpPr/>
          <p:nvPr/>
        </p:nvSpPr>
        <p:spPr>
          <a:xfrm>
            <a:off x="548640" y="4160520"/>
            <a:ext cx="11064240" cy="731520"/>
          </a:xfrm>
          <a:prstGeom prst="roundRect">
            <a:avLst>
              <a:gd name="adj" fmla="val 10000"/>
            </a:avLst>
          </a:prstGeom>
          <a:solidFill>
            <a:srgbClr val="FEF3C7"/>
          </a:solidFill>
          <a:ln w="9525">
            <a:solidFill>
              <a:srgbClr val="FEF3C7"/>
            </a:solidFill>
            <a:prstDash val="solid"/>
          </a:ln>
        </p:spPr>
      </p:sp>
      <p:sp>
        <p:nvSpPr>
          <p:cNvPr id="37" name="Shape 35"/>
          <p:cNvSpPr/>
          <p:nvPr/>
        </p:nvSpPr>
        <p:spPr>
          <a:xfrm>
            <a:off x="731520" y="4251960"/>
            <a:ext cx="548640" cy="548640"/>
          </a:xfrm>
          <a:prstGeom prst="ellipse">
            <a:avLst/>
          </a:prstGeom>
          <a:solidFill>
            <a:srgbClr val="F59E0B"/>
          </a:solidFill>
          <a:ln w="12700">
            <a:solidFill>
              <a:srgbClr val="F59E0B"/>
            </a:solidFill>
            <a:prstDash val="solid"/>
          </a:ln>
        </p:spPr>
      </p:sp>
      <p:pic>
        <p:nvPicPr>
          <p:cNvPr id="38" name="Image 0" descr="preencoded.png">    </p:cNvPr>
          <p:cNvPicPr>
            <a:picLocks noChangeAspect="1"/>
          </p:cNvPicPr>
          <p:nvPr/>
        </p:nvPicPr>
        <p:blipFill>
          <a:blip r:embed="rId1"/>
          <a:stretch>
            <a:fillRect/>
          </a:stretch>
        </p:blipFill>
        <p:spPr>
          <a:xfrm>
            <a:off x="874166" y="4394606"/>
            <a:ext cx="263347" cy="263347"/>
          </a:xfrm>
          <a:prstGeom prst="rect">
            <a:avLst/>
          </a:prstGeom>
        </p:spPr>
      </p:pic>
      <p:sp>
        <p:nvSpPr>
          <p:cNvPr id="39" name="Text 36"/>
          <p:cNvSpPr txBox="1"/>
          <p:nvPr/>
        </p:nvSpPr>
        <p:spPr>
          <a:xfrm>
            <a:off x="1463040" y="4160520"/>
            <a:ext cx="9966960" cy="731520"/>
          </a:xfrm>
          <a:prstGeom prst="rect">
            <a:avLst/>
          </a:prstGeom>
          <a:noFill/>
          <a:ln/>
        </p:spPr>
        <p:txBody>
          <a:bodyPr wrap="square" lIns="0" tIns="0" rIns="0" bIns="0" rtlCol="0" anchor="ctr"/>
          <a:lstStyle/>
          <a:p>
            <a:pPr algn="l" indent="0" marL="0">
              <a:buNone/>
            </a:pPr>
            <a:r>
              <a:rPr lang="en-US" sz="1400" b="1" dirty="0">
                <a:solidFill>
                  <a:srgbClr val="1F2937"/>
                </a:solidFill>
                <a:latin typeface="Calibri" pitchFamily="34" charset="0"/>
                <a:ea typeface="Calibri" pitchFamily="34" charset="-122"/>
                <a:cs typeface="Calibri" pitchFamily="34" charset="-120"/>
              </a:rPr>
              <a:t>Expedite lane: </a:t>
            </a:r>
            <a:pPr algn="l" indent="0" marL="0">
              <a:buNone/>
            </a:pPr>
            <a:r>
              <a:rPr lang="en-US" sz="1400" dirty="0">
                <a:solidFill>
                  <a:srgbClr val="1F2937"/>
                </a:solidFill>
                <a:latin typeface="Calibri" pitchFamily="34" charset="0"/>
                <a:ea typeface="Calibri" pitchFamily="34" charset="-122"/>
                <a:cs typeface="Calibri" pitchFamily="34" charset="-120"/>
              </a:rPr>
              <a:t>P1 / P2 defects skip triage and ranking, are swarmed immediately and funded from the defect allocation. Everything else waits its turn.</a:t>
            </a:r>
            <a:endParaRPr lang="en-US" sz="1400" dirty="0"/>
          </a:p>
        </p:txBody>
      </p:sp>
      <p:sp>
        <p:nvSpPr>
          <p:cNvPr id="40" name="Shape 37"/>
          <p:cNvSpPr/>
          <p:nvPr/>
        </p:nvSpPr>
        <p:spPr>
          <a:xfrm>
            <a:off x="548640" y="5074920"/>
            <a:ext cx="5440680" cy="1188720"/>
          </a:xfrm>
          <a:prstGeom prst="roundRect">
            <a:avLst>
              <a:gd name="adj" fmla="val 6154"/>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41" name="Shape 38"/>
          <p:cNvSpPr/>
          <p:nvPr/>
        </p:nvSpPr>
        <p:spPr>
          <a:xfrm>
            <a:off x="731520" y="5257800"/>
            <a:ext cx="502920" cy="502920"/>
          </a:xfrm>
          <a:prstGeom prst="ellipse">
            <a:avLst/>
          </a:prstGeom>
          <a:solidFill>
            <a:srgbClr val="0F766E"/>
          </a:solidFill>
          <a:ln w="12700">
            <a:solidFill>
              <a:srgbClr val="0F766E"/>
            </a:solidFill>
            <a:prstDash val="solid"/>
          </a:ln>
        </p:spPr>
      </p:sp>
      <p:pic>
        <p:nvPicPr>
          <p:cNvPr id="42" name="Image 1" descr="preencoded.png">    </p:cNvPr>
          <p:cNvPicPr>
            <a:picLocks noChangeAspect="1"/>
          </p:cNvPicPr>
          <p:nvPr/>
        </p:nvPicPr>
        <p:blipFill>
          <a:blip r:embed="rId2"/>
          <a:stretch>
            <a:fillRect/>
          </a:stretch>
        </p:blipFill>
        <p:spPr>
          <a:xfrm>
            <a:off x="862279" y="5388559"/>
            <a:ext cx="241402" cy="241402"/>
          </a:xfrm>
          <a:prstGeom prst="rect">
            <a:avLst/>
          </a:prstGeom>
        </p:spPr>
      </p:pic>
      <p:sp>
        <p:nvSpPr>
          <p:cNvPr id="43" name="Text 39"/>
          <p:cNvSpPr txBox="1"/>
          <p:nvPr/>
        </p:nvSpPr>
        <p:spPr>
          <a:xfrm>
            <a:off x="1417320" y="5166360"/>
            <a:ext cx="4389120" cy="365760"/>
          </a:xfrm>
          <a:prstGeom prst="rect">
            <a:avLst/>
          </a:prstGeom>
          <a:noFill/>
          <a:ln/>
        </p:spPr>
        <p:txBody>
          <a:bodyPr wrap="square" lIns="0" tIns="0" rIns="0" bIns="0" rtlCol="0" anchor="t"/>
          <a:lstStyle/>
          <a:p>
            <a:pPr algn="l" indent="0" marL="0">
              <a:buNone/>
            </a:pPr>
            <a:r>
              <a:rPr lang="en-US" sz="1400" b="1" dirty="0">
                <a:solidFill>
                  <a:srgbClr val="17313B"/>
                </a:solidFill>
                <a:latin typeface="Calibri" pitchFamily="34" charset="0"/>
                <a:ea typeface="Calibri" pitchFamily="34" charset="-122"/>
                <a:cs typeface="Calibri" pitchFamily="34" charset="-120"/>
              </a:rPr>
              <a:t>Definition of Ready</a:t>
            </a:r>
            <a:endParaRPr lang="en-US" sz="1400" dirty="0"/>
          </a:p>
        </p:txBody>
      </p:sp>
      <p:sp>
        <p:nvSpPr>
          <p:cNvPr id="44" name="Text 40"/>
          <p:cNvSpPr txBox="1"/>
          <p:nvPr/>
        </p:nvSpPr>
        <p:spPr>
          <a:xfrm>
            <a:off x="1417320" y="5532120"/>
            <a:ext cx="4434840" cy="6858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Business owner named, acceptance criteria, WSJF scored, clean core level and design approved, test data known.</a:t>
            </a:r>
            <a:endParaRPr lang="en-US" sz="1200" dirty="0"/>
          </a:p>
        </p:txBody>
      </p:sp>
      <p:sp>
        <p:nvSpPr>
          <p:cNvPr id="45" name="Shape 41"/>
          <p:cNvSpPr/>
          <p:nvPr/>
        </p:nvSpPr>
        <p:spPr>
          <a:xfrm>
            <a:off x="6172200" y="5074920"/>
            <a:ext cx="5440680" cy="1188720"/>
          </a:xfrm>
          <a:prstGeom prst="roundRect">
            <a:avLst>
              <a:gd name="adj" fmla="val 6154"/>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46" name="Shape 42"/>
          <p:cNvSpPr/>
          <p:nvPr/>
        </p:nvSpPr>
        <p:spPr>
          <a:xfrm>
            <a:off x="6355080" y="5257800"/>
            <a:ext cx="502920" cy="502920"/>
          </a:xfrm>
          <a:prstGeom prst="ellipse">
            <a:avLst/>
          </a:prstGeom>
          <a:solidFill>
            <a:srgbClr val="0F766E"/>
          </a:solidFill>
          <a:ln w="12700">
            <a:solidFill>
              <a:srgbClr val="0F766E"/>
            </a:solidFill>
            <a:prstDash val="solid"/>
          </a:ln>
        </p:spPr>
      </p:sp>
      <p:pic>
        <p:nvPicPr>
          <p:cNvPr id="47" name="Image 2" descr="preencoded.png">    </p:cNvPr>
          <p:cNvPicPr>
            <a:picLocks noChangeAspect="1"/>
          </p:cNvPicPr>
          <p:nvPr/>
        </p:nvPicPr>
        <p:blipFill>
          <a:blip r:embed="rId3"/>
          <a:stretch>
            <a:fillRect/>
          </a:stretch>
        </p:blipFill>
        <p:spPr>
          <a:xfrm>
            <a:off x="6485839" y="5388559"/>
            <a:ext cx="241402" cy="241402"/>
          </a:xfrm>
          <a:prstGeom prst="rect">
            <a:avLst/>
          </a:prstGeom>
        </p:spPr>
      </p:pic>
      <p:sp>
        <p:nvSpPr>
          <p:cNvPr id="48" name="Text 43"/>
          <p:cNvSpPr txBox="1"/>
          <p:nvPr/>
        </p:nvSpPr>
        <p:spPr>
          <a:xfrm>
            <a:off x="7040880" y="5166360"/>
            <a:ext cx="4389120" cy="365760"/>
          </a:xfrm>
          <a:prstGeom prst="rect">
            <a:avLst/>
          </a:prstGeom>
          <a:noFill/>
          <a:ln/>
        </p:spPr>
        <p:txBody>
          <a:bodyPr wrap="square" lIns="0" tIns="0" rIns="0" bIns="0" rtlCol="0" anchor="t"/>
          <a:lstStyle/>
          <a:p>
            <a:pPr algn="l" indent="0" marL="0">
              <a:buNone/>
            </a:pPr>
            <a:r>
              <a:rPr lang="en-US" sz="1400" b="1" dirty="0">
                <a:solidFill>
                  <a:srgbClr val="17313B"/>
                </a:solidFill>
                <a:latin typeface="Calibri" pitchFamily="34" charset="0"/>
                <a:ea typeface="Calibri" pitchFamily="34" charset="-122"/>
                <a:cs typeface="Calibri" pitchFamily="34" charset="-120"/>
              </a:rPr>
              <a:t>Definition of Done</a:t>
            </a:r>
            <a:endParaRPr lang="en-US" sz="1400" dirty="0"/>
          </a:p>
        </p:txBody>
      </p:sp>
      <p:sp>
        <p:nvSpPr>
          <p:cNvPr id="49" name="Text 44"/>
          <p:cNvSpPr txBox="1"/>
          <p:nvPr/>
        </p:nvSpPr>
        <p:spPr>
          <a:xfrm>
            <a:off x="7040880" y="5532120"/>
            <a:ext cx="4434840" cy="6858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Tested (automated where possible), documented in Cloud ALM, no new level C/D code without waiver, KPI impact recorded.</a:t>
            </a:r>
            <a:endParaRPr lang="en-US" sz="1200" dirty="0"/>
          </a:p>
        </p:txBody>
      </p:sp>
      <p:sp>
        <p:nvSpPr>
          <p:cNvPr id="50" name="Text 45"/>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One backlog, five work types</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Everything competes for the same capacity — so trade-offs become visible</a:t>
            </a:r>
            <a:endParaRPr lang="en-US" sz="1600" dirty="0"/>
          </a:p>
        </p:txBody>
      </p:sp>
      <p:sp>
        <p:nvSpPr>
          <p:cNvPr id="4" name="Shape 2"/>
          <p:cNvSpPr/>
          <p:nvPr/>
        </p:nvSpPr>
        <p:spPr>
          <a:xfrm>
            <a:off x="548640" y="1783080"/>
            <a:ext cx="4754880" cy="914400"/>
          </a:xfrm>
          <a:prstGeom prst="roundRect">
            <a:avLst>
              <a:gd name="adj" fmla="val 8000"/>
            </a:avLst>
          </a:prstGeom>
          <a:solidFill>
            <a:srgbClr val="17313B"/>
          </a:solidFill>
          <a:ln w="9525">
            <a:solidFill>
              <a:srgbClr val="17313B"/>
            </a:solidFill>
            <a:prstDash val="solid"/>
          </a:ln>
        </p:spPr>
      </p:sp>
      <p:sp>
        <p:nvSpPr>
          <p:cNvPr id="5" name="Text 3"/>
          <p:cNvSpPr txBox="1"/>
          <p:nvPr/>
        </p:nvSpPr>
        <p:spPr>
          <a:xfrm>
            <a:off x="731520" y="1874520"/>
            <a:ext cx="4389120" cy="320040"/>
          </a:xfrm>
          <a:prstGeom prst="rect">
            <a:avLst/>
          </a:prstGeom>
          <a:noFill/>
          <a:ln/>
        </p:spPr>
        <p:txBody>
          <a:bodyPr wrap="square" lIns="0" tIns="0" rIns="0" bIns="0" rtlCol="0" anchor="t"/>
          <a:lstStyle/>
          <a:p>
            <a:pPr algn="l" indent="0" marL="0">
              <a:buNone/>
            </a:pPr>
            <a:r>
              <a:rPr lang="en-US" sz="1400" b="1" dirty="0">
                <a:solidFill>
                  <a:srgbClr val="FFFFFF"/>
                </a:solidFill>
                <a:latin typeface="Calibri" pitchFamily="34" charset="0"/>
                <a:ea typeface="Calibri" pitchFamily="34" charset="-122"/>
                <a:cs typeface="Calibri" pitchFamily="34" charset="-120"/>
              </a:rPr>
              <a:t>Theme</a:t>
            </a:r>
            <a:endParaRPr lang="en-US" sz="1400" dirty="0"/>
          </a:p>
        </p:txBody>
      </p:sp>
      <p:sp>
        <p:nvSpPr>
          <p:cNvPr id="6" name="Text 4"/>
          <p:cNvSpPr txBox="1"/>
          <p:nvPr/>
        </p:nvSpPr>
        <p:spPr>
          <a:xfrm>
            <a:off x="731520" y="2221992"/>
            <a:ext cx="4389120" cy="411480"/>
          </a:xfrm>
          <a:prstGeom prst="rect">
            <a:avLst/>
          </a:prstGeom>
          <a:noFill/>
          <a:ln/>
        </p:spPr>
        <p:txBody>
          <a:bodyPr wrap="square" lIns="0" tIns="0" rIns="0" bIns="0" rtlCol="0" anchor="t"/>
          <a:lstStyle/>
          <a:p>
            <a:pPr algn="l" indent="0" marL="0">
              <a:buNone/>
            </a:pPr>
            <a:r>
              <a:rPr lang="en-US" sz="1200" dirty="0">
                <a:solidFill>
                  <a:srgbClr val="E2E8F0"/>
                </a:solidFill>
                <a:latin typeface="Calibri" pitchFamily="34" charset="0"/>
                <a:ea typeface="Calibri" pitchFamily="34" charset="-122"/>
                <a:cs typeface="Calibri" pitchFamily="34" charset="-120"/>
              </a:rPr>
              <a:t>Clean core dimension, e.g. Data</a:t>
            </a:r>
            <a:endParaRPr lang="en-US" sz="1200" dirty="0"/>
          </a:p>
        </p:txBody>
      </p:sp>
      <p:sp>
        <p:nvSpPr>
          <p:cNvPr id="7" name="Shape 5"/>
          <p:cNvSpPr/>
          <p:nvPr/>
        </p:nvSpPr>
        <p:spPr>
          <a:xfrm>
            <a:off x="868680" y="2862072"/>
            <a:ext cx="4434840" cy="914400"/>
          </a:xfrm>
          <a:prstGeom prst="roundRect">
            <a:avLst>
              <a:gd name="adj" fmla="val 8000"/>
            </a:avLst>
          </a:prstGeom>
          <a:solidFill>
            <a:srgbClr val="0F766E"/>
          </a:solidFill>
          <a:ln w="9525">
            <a:solidFill>
              <a:srgbClr val="0F766E"/>
            </a:solidFill>
            <a:prstDash val="solid"/>
          </a:ln>
        </p:spPr>
      </p:sp>
      <p:sp>
        <p:nvSpPr>
          <p:cNvPr id="8" name="Text 6"/>
          <p:cNvSpPr txBox="1"/>
          <p:nvPr/>
        </p:nvSpPr>
        <p:spPr>
          <a:xfrm>
            <a:off x="1051560" y="2953512"/>
            <a:ext cx="4069080" cy="320040"/>
          </a:xfrm>
          <a:prstGeom prst="rect">
            <a:avLst/>
          </a:prstGeom>
          <a:noFill/>
          <a:ln/>
        </p:spPr>
        <p:txBody>
          <a:bodyPr wrap="square" lIns="0" tIns="0" rIns="0" bIns="0" rtlCol="0" anchor="t"/>
          <a:lstStyle/>
          <a:p>
            <a:pPr algn="l" indent="0" marL="0">
              <a:buNone/>
            </a:pPr>
            <a:r>
              <a:rPr lang="en-US" sz="1400" b="1" dirty="0">
                <a:solidFill>
                  <a:srgbClr val="FFFFFF"/>
                </a:solidFill>
                <a:latin typeface="Calibri" pitchFamily="34" charset="0"/>
                <a:ea typeface="Calibri" pitchFamily="34" charset="-122"/>
                <a:cs typeface="Calibri" pitchFamily="34" charset="-120"/>
              </a:rPr>
              <a:t>Epic</a:t>
            </a:r>
            <a:endParaRPr lang="en-US" sz="1400" dirty="0"/>
          </a:p>
        </p:txBody>
      </p:sp>
      <p:sp>
        <p:nvSpPr>
          <p:cNvPr id="9" name="Text 7"/>
          <p:cNvSpPr txBox="1"/>
          <p:nvPr/>
        </p:nvSpPr>
        <p:spPr>
          <a:xfrm>
            <a:off x="1051560" y="3300984"/>
            <a:ext cx="4069080" cy="411480"/>
          </a:xfrm>
          <a:prstGeom prst="rect">
            <a:avLst/>
          </a:prstGeom>
          <a:noFill/>
          <a:ln/>
        </p:spPr>
        <p:txBody>
          <a:bodyPr wrap="square" lIns="0" tIns="0" rIns="0" bIns="0" rtlCol="0" anchor="t"/>
          <a:lstStyle/>
          <a:p>
            <a:pPr algn="l" indent="0" marL="0">
              <a:buNone/>
            </a:pPr>
            <a:r>
              <a:rPr lang="en-US" sz="1200" dirty="0">
                <a:solidFill>
                  <a:srgbClr val="E2E8F0"/>
                </a:solidFill>
                <a:latin typeface="Calibri" pitchFamily="34" charset="0"/>
                <a:ea typeface="Calibri" pitchFamily="34" charset="-122"/>
                <a:cs typeface="Calibri" pitchFamily="34" charset="-120"/>
              </a:rPr>
              <a:t>Custom-field remediation for material master</a:t>
            </a:r>
            <a:endParaRPr lang="en-US" sz="1200" dirty="0"/>
          </a:p>
        </p:txBody>
      </p:sp>
      <p:sp>
        <p:nvSpPr>
          <p:cNvPr id="10" name="Shape 8"/>
          <p:cNvSpPr/>
          <p:nvPr/>
        </p:nvSpPr>
        <p:spPr>
          <a:xfrm>
            <a:off x="1188720" y="3941064"/>
            <a:ext cx="4114800" cy="914400"/>
          </a:xfrm>
          <a:prstGeom prst="roundRect">
            <a:avLst>
              <a:gd name="adj" fmla="val 8000"/>
            </a:avLst>
          </a:prstGeom>
          <a:solidFill>
            <a:srgbClr val="E6F2F0"/>
          </a:solidFill>
          <a:ln w="9525">
            <a:solidFill>
              <a:srgbClr val="E6F2F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1371600" y="4032504"/>
            <a:ext cx="3749040" cy="320040"/>
          </a:xfrm>
          <a:prstGeom prst="rect">
            <a:avLst/>
          </a:prstGeom>
          <a:noFill/>
          <a:ln/>
        </p:spPr>
        <p:txBody>
          <a:bodyPr wrap="square" lIns="0" tIns="0" rIns="0" bIns="0" rtlCol="0" anchor="t"/>
          <a:lstStyle/>
          <a:p>
            <a:pPr algn="l" indent="0" marL="0">
              <a:buNone/>
            </a:pPr>
            <a:r>
              <a:rPr lang="en-US" sz="1400" b="1" dirty="0">
                <a:solidFill>
                  <a:srgbClr val="17313B"/>
                </a:solidFill>
                <a:latin typeface="Calibri" pitchFamily="34" charset="0"/>
                <a:ea typeface="Calibri" pitchFamily="34" charset="-122"/>
                <a:cs typeface="Calibri" pitchFamily="34" charset="-120"/>
              </a:rPr>
              <a:t>Feature</a:t>
            </a:r>
            <a:endParaRPr lang="en-US" sz="1400" dirty="0"/>
          </a:p>
        </p:txBody>
      </p:sp>
      <p:sp>
        <p:nvSpPr>
          <p:cNvPr id="12" name="Text 10"/>
          <p:cNvSpPr txBox="1"/>
          <p:nvPr/>
        </p:nvSpPr>
        <p:spPr>
          <a:xfrm>
            <a:off x="1371600" y="4379976"/>
            <a:ext cx="3749040" cy="41148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Expose Z-fields via Custom Fields app</a:t>
            </a:r>
            <a:endParaRPr lang="en-US" sz="1200" dirty="0"/>
          </a:p>
        </p:txBody>
      </p:sp>
      <p:sp>
        <p:nvSpPr>
          <p:cNvPr id="13" name="Shape 11"/>
          <p:cNvSpPr/>
          <p:nvPr/>
        </p:nvSpPr>
        <p:spPr>
          <a:xfrm>
            <a:off x="1508760" y="5020056"/>
            <a:ext cx="3794760" cy="914400"/>
          </a:xfrm>
          <a:prstGeom prst="roundRect">
            <a:avLst>
              <a:gd name="adj" fmla="val 8000"/>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1691640" y="5111496"/>
            <a:ext cx="3429000" cy="320040"/>
          </a:xfrm>
          <a:prstGeom prst="rect">
            <a:avLst/>
          </a:prstGeom>
          <a:noFill/>
          <a:ln/>
        </p:spPr>
        <p:txBody>
          <a:bodyPr wrap="square" lIns="0" tIns="0" rIns="0" bIns="0" rtlCol="0" anchor="t"/>
          <a:lstStyle/>
          <a:p>
            <a:pPr algn="l" indent="0" marL="0">
              <a:buNone/>
            </a:pPr>
            <a:r>
              <a:rPr lang="en-US" sz="1400" b="1" dirty="0">
                <a:solidFill>
                  <a:srgbClr val="17313B"/>
                </a:solidFill>
                <a:latin typeface="Calibri" pitchFamily="34" charset="0"/>
                <a:ea typeface="Calibri" pitchFamily="34" charset="-122"/>
                <a:cs typeface="Calibri" pitchFamily="34" charset="-120"/>
              </a:rPr>
              <a:t>Story / task</a:t>
            </a:r>
            <a:endParaRPr lang="en-US" sz="1400" dirty="0"/>
          </a:p>
        </p:txBody>
      </p:sp>
      <p:sp>
        <p:nvSpPr>
          <p:cNvPr id="15" name="Text 13"/>
          <p:cNvSpPr txBox="1"/>
          <p:nvPr/>
        </p:nvSpPr>
        <p:spPr>
          <a:xfrm>
            <a:off x="1691640" y="5458968"/>
            <a:ext cx="3429000" cy="41148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Map ZZ_REGION to standard field; test; migrate</a:t>
            </a:r>
            <a:endParaRPr lang="en-US" sz="1200" dirty="0"/>
          </a:p>
        </p:txBody>
      </p:sp>
      <p:sp>
        <p:nvSpPr>
          <p:cNvPr id="16" name="Text 14"/>
          <p:cNvSpPr txBox="1"/>
          <p:nvPr/>
        </p:nvSpPr>
        <p:spPr>
          <a:xfrm>
            <a:off x="5943600" y="1691640"/>
            <a:ext cx="5486400" cy="365760"/>
          </a:xfrm>
          <a:prstGeom prst="rect">
            <a:avLst/>
          </a:prstGeom>
          <a:noFill/>
          <a:ln/>
        </p:spPr>
        <p:txBody>
          <a:bodyPr wrap="square" lIns="0" tIns="0" rIns="0" bIns="0" rtlCol="0" anchor="t"/>
          <a:lstStyle/>
          <a:p>
            <a:pPr algn="l" indent="0" marL="0">
              <a:buNone/>
            </a:pPr>
            <a:r>
              <a:rPr lang="en-US" sz="1600" b="1" dirty="0">
                <a:solidFill>
                  <a:srgbClr val="17313B"/>
                </a:solidFill>
                <a:latin typeface="Calibri" pitchFamily="34" charset="0"/>
                <a:ea typeface="Calibri" pitchFamily="34" charset="-122"/>
                <a:cs typeface="Calibri" pitchFamily="34" charset="-120"/>
              </a:rPr>
              <a:t>Work types</a:t>
            </a:r>
            <a:endParaRPr lang="en-US" sz="1600" dirty="0"/>
          </a:p>
        </p:txBody>
      </p:sp>
      <p:sp>
        <p:nvSpPr>
          <p:cNvPr id="17" name="Shape 15"/>
          <p:cNvSpPr/>
          <p:nvPr/>
        </p:nvSpPr>
        <p:spPr>
          <a:xfrm>
            <a:off x="5943600" y="2103120"/>
            <a:ext cx="1737360" cy="502920"/>
          </a:xfrm>
          <a:prstGeom prst="roundRect">
            <a:avLst>
              <a:gd name="adj" fmla="val 14545"/>
            </a:avLst>
          </a:prstGeom>
          <a:solidFill>
            <a:srgbClr val="0F766E"/>
          </a:solidFill>
          <a:ln w="12700">
            <a:solidFill>
              <a:srgbClr val="0F766E"/>
            </a:solidFill>
            <a:prstDash val="solid"/>
          </a:ln>
        </p:spPr>
      </p:sp>
      <p:sp>
        <p:nvSpPr>
          <p:cNvPr id="18" name="Text 16"/>
          <p:cNvSpPr txBox="1"/>
          <p:nvPr/>
        </p:nvSpPr>
        <p:spPr>
          <a:xfrm>
            <a:off x="5943600" y="2103120"/>
            <a:ext cx="17373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p>
        </p:txBody>
      </p:sp>
      <p:sp>
        <p:nvSpPr>
          <p:cNvPr id="19" name="Text 17"/>
          <p:cNvSpPr txBox="1"/>
          <p:nvPr/>
        </p:nvSpPr>
        <p:spPr>
          <a:xfrm>
            <a:off x="7818120" y="2103120"/>
            <a:ext cx="3840480" cy="502920"/>
          </a:xfrm>
          <a:prstGeom prst="rect">
            <a:avLst/>
          </a:prstGeom>
          <a:noFill/>
          <a:ln/>
        </p:spPr>
        <p:txBody>
          <a:bodyPr wrap="square" lIns="0" tIns="0" rIns="0" bIns="0" rtlCol="0" anchor="ctr"/>
          <a:lstStyle/>
          <a:p>
            <a:pPr algn="l" indent="0" marL="0">
              <a:buNone/>
            </a:pPr>
            <a:r>
              <a:rPr lang="en-US" sz="1300" dirty="0">
                <a:solidFill>
                  <a:srgbClr val="1F2937"/>
                </a:solidFill>
                <a:latin typeface="Calibri" pitchFamily="34" charset="0"/>
                <a:ea typeface="Calibri" pitchFamily="34" charset="-122"/>
                <a:cs typeface="Calibri" pitchFamily="34" charset="-120"/>
              </a:rPr>
              <a:t>New capability, e.g. Fiori wave, Work Zone site</a:t>
            </a:r>
            <a:endParaRPr lang="en-US" sz="1300" dirty="0"/>
          </a:p>
        </p:txBody>
      </p:sp>
      <p:sp>
        <p:nvSpPr>
          <p:cNvPr id="20" name="Shape 18"/>
          <p:cNvSpPr/>
          <p:nvPr/>
        </p:nvSpPr>
        <p:spPr>
          <a:xfrm>
            <a:off x="5943600" y="2743200"/>
            <a:ext cx="1737360" cy="502920"/>
          </a:xfrm>
          <a:prstGeom prst="roundRect">
            <a:avLst>
              <a:gd name="adj" fmla="val 14545"/>
            </a:avLst>
          </a:prstGeom>
          <a:solidFill>
            <a:srgbClr val="BE123C"/>
          </a:solidFill>
          <a:ln w="12700">
            <a:solidFill>
              <a:srgbClr val="BE123C"/>
            </a:solidFill>
            <a:prstDash val="solid"/>
          </a:ln>
        </p:spPr>
      </p:sp>
      <p:sp>
        <p:nvSpPr>
          <p:cNvPr id="21" name="Text 19"/>
          <p:cNvSpPr txBox="1"/>
          <p:nvPr/>
        </p:nvSpPr>
        <p:spPr>
          <a:xfrm>
            <a:off x="5943600" y="2743200"/>
            <a:ext cx="17373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Defect</a:t>
            </a:r>
            <a:endParaRPr lang="en-US" sz="1300" dirty="0"/>
          </a:p>
        </p:txBody>
      </p:sp>
      <p:sp>
        <p:nvSpPr>
          <p:cNvPr id="22" name="Text 20"/>
          <p:cNvSpPr txBox="1"/>
          <p:nvPr/>
        </p:nvSpPr>
        <p:spPr>
          <a:xfrm>
            <a:off x="7818120" y="2743200"/>
            <a:ext cx="3840480" cy="502920"/>
          </a:xfrm>
          <a:prstGeom prst="rect">
            <a:avLst/>
          </a:prstGeom>
          <a:noFill/>
          <a:ln/>
        </p:spPr>
        <p:txBody>
          <a:bodyPr wrap="square" lIns="0" tIns="0" rIns="0" bIns="0" rtlCol="0" anchor="ctr"/>
          <a:lstStyle/>
          <a:p>
            <a:pPr algn="l" indent="0" marL="0">
              <a:buNone/>
            </a:pPr>
            <a:r>
              <a:rPr lang="en-US" sz="1300" dirty="0">
                <a:solidFill>
                  <a:srgbClr val="1F2937"/>
                </a:solidFill>
                <a:latin typeface="Calibri" pitchFamily="34" charset="0"/>
                <a:ea typeface="Calibri" pitchFamily="34" charset="-122"/>
                <a:cs typeface="Calibri" pitchFamily="34" charset="-120"/>
              </a:rPr>
              <a:t>Doesn’t work as designed; P1–P4</a:t>
            </a:r>
            <a:endParaRPr lang="en-US" sz="1300" dirty="0"/>
          </a:p>
        </p:txBody>
      </p:sp>
      <p:sp>
        <p:nvSpPr>
          <p:cNvPr id="23" name="Shape 21"/>
          <p:cNvSpPr/>
          <p:nvPr/>
        </p:nvSpPr>
        <p:spPr>
          <a:xfrm>
            <a:off x="5943600" y="3383280"/>
            <a:ext cx="1737360" cy="502920"/>
          </a:xfrm>
          <a:prstGeom prst="roundRect">
            <a:avLst>
              <a:gd name="adj" fmla="val 14545"/>
            </a:avLst>
          </a:prstGeom>
          <a:solidFill>
            <a:srgbClr val="7C3AED"/>
          </a:solidFill>
          <a:ln w="12700">
            <a:solidFill>
              <a:srgbClr val="7C3AED"/>
            </a:solidFill>
            <a:prstDash val="solid"/>
          </a:ln>
        </p:spPr>
      </p:sp>
      <p:sp>
        <p:nvSpPr>
          <p:cNvPr id="24" name="Text 22"/>
          <p:cNvSpPr txBox="1"/>
          <p:nvPr/>
        </p:nvSpPr>
        <p:spPr>
          <a:xfrm>
            <a:off x="5943600" y="3383280"/>
            <a:ext cx="17373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Tech debt</a:t>
            </a:r>
            <a:endParaRPr lang="en-US" sz="1300" dirty="0"/>
          </a:p>
        </p:txBody>
      </p:sp>
      <p:sp>
        <p:nvSpPr>
          <p:cNvPr id="25" name="Text 23"/>
          <p:cNvSpPr txBox="1"/>
          <p:nvPr/>
        </p:nvSpPr>
        <p:spPr>
          <a:xfrm>
            <a:off x="7818120" y="3383280"/>
            <a:ext cx="3840480" cy="502920"/>
          </a:xfrm>
          <a:prstGeom prst="rect">
            <a:avLst/>
          </a:prstGeom>
          <a:noFill/>
          <a:ln/>
        </p:spPr>
        <p:txBody>
          <a:bodyPr wrap="square" lIns="0" tIns="0" rIns="0" bIns="0" rtlCol="0" anchor="ctr"/>
          <a:lstStyle/>
          <a:p>
            <a:pPr algn="l" indent="0" marL="0">
              <a:buNone/>
            </a:pPr>
            <a:r>
              <a:rPr lang="en-US" sz="1300" dirty="0">
                <a:solidFill>
                  <a:srgbClr val="1F2937"/>
                </a:solidFill>
                <a:latin typeface="Calibri" pitchFamily="34" charset="0"/>
                <a:ea typeface="Calibri" pitchFamily="34" charset="-122"/>
                <a:cs typeface="Calibri" pitchFamily="34" charset="-120"/>
              </a:rPr>
              <a:t>Works but slows / blocks change; has interest</a:t>
            </a:r>
            <a:endParaRPr lang="en-US" sz="1300" dirty="0"/>
          </a:p>
        </p:txBody>
      </p:sp>
      <p:sp>
        <p:nvSpPr>
          <p:cNvPr id="26" name="Shape 24"/>
          <p:cNvSpPr/>
          <p:nvPr/>
        </p:nvSpPr>
        <p:spPr>
          <a:xfrm>
            <a:off x="5943600" y="4023360"/>
            <a:ext cx="1737360" cy="502920"/>
          </a:xfrm>
          <a:prstGeom prst="roundRect">
            <a:avLst>
              <a:gd name="adj" fmla="val 14545"/>
            </a:avLst>
          </a:prstGeom>
          <a:solidFill>
            <a:srgbClr val="1D4ED8"/>
          </a:solidFill>
          <a:ln w="12700">
            <a:solidFill>
              <a:srgbClr val="1D4ED8"/>
            </a:solidFill>
            <a:prstDash val="solid"/>
          </a:ln>
        </p:spPr>
      </p:sp>
      <p:sp>
        <p:nvSpPr>
          <p:cNvPr id="27" name="Text 25"/>
          <p:cNvSpPr txBox="1"/>
          <p:nvPr/>
        </p:nvSpPr>
        <p:spPr>
          <a:xfrm>
            <a:off x="5943600" y="4023360"/>
            <a:ext cx="17373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Enabler</a:t>
            </a:r>
            <a:endParaRPr lang="en-US" sz="1300" dirty="0"/>
          </a:p>
        </p:txBody>
      </p:sp>
      <p:sp>
        <p:nvSpPr>
          <p:cNvPr id="28" name="Text 26"/>
          <p:cNvSpPr txBox="1"/>
          <p:nvPr/>
        </p:nvSpPr>
        <p:spPr>
          <a:xfrm>
            <a:off x="7818120" y="4023360"/>
            <a:ext cx="3840480" cy="502920"/>
          </a:xfrm>
          <a:prstGeom prst="rect">
            <a:avLst/>
          </a:prstGeom>
          <a:noFill/>
          <a:ln/>
        </p:spPr>
        <p:txBody>
          <a:bodyPr wrap="square" lIns="0" tIns="0" rIns="0" bIns="0" rtlCol="0" anchor="ctr"/>
          <a:lstStyle/>
          <a:p>
            <a:pPr algn="l" indent="0" marL="0">
              <a:buNone/>
            </a:pPr>
            <a:r>
              <a:rPr lang="en-US" sz="1300" dirty="0">
                <a:solidFill>
                  <a:srgbClr val="1F2937"/>
                </a:solidFill>
                <a:latin typeface="Calibri" pitchFamily="34" charset="0"/>
                <a:ea typeface="Calibri" pitchFamily="34" charset="-122"/>
                <a:cs typeface="Calibri" pitchFamily="34" charset="-120"/>
              </a:rPr>
              <a:t>Platform work others depend on, e.g. landing zone</a:t>
            </a:r>
            <a:endParaRPr lang="en-US" sz="1300" dirty="0"/>
          </a:p>
        </p:txBody>
      </p:sp>
      <p:sp>
        <p:nvSpPr>
          <p:cNvPr id="29" name="Shape 27"/>
          <p:cNvSpPr/>
          <p:nvPr/>
        </p:nvSpPr>
        <p:spPr>
          <a:xfrm>
            <a:off x="5943600" y="4663440"/>
            <a:ext cx="1737360" cy="502920"/>
          </a:xfrm>
          <a:prstGeom prst="roundRect">
            <a:avLst>
              <a:gd name="adj" fmla="val 14545"/>
            </a:avLst>
          </a:prstGeom>
          <a:solidFill>
            <a:srgbClr val="B45309"/>
          </a:solidFill>
          <a:ln w="12700">
            <a:solidFill>
              <a:srgbClr val="B45309"/>
            </a:solidFill>
            <a:prstDash val="solid"/>
          </a:ln>
        </p:spPr>
      </p:sp>
      <p:sp>
        <p:nvSpPr>
          <p:cNvPr id="30" name="Text 28"/>
          <p:cNvSpPr txBox="1"/>
          <p:nvPr/>
        </p:nvSpPr>
        <p:spPr>
          <a:xfrm>
            <a:off x="5943600" y="4663440"/>
            <a:ext cx="17373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Risk / compliance</a:t>
            </a:r>
            <a:endParaRPr lang="en-US" sz="1300" dirty="0"/>
          </a:p>
        </p:txBody>
      </p:sp>
      <p:sp>
        <p:nvSpPr>
          <p:cNvPr id="31" name="Text 29"/>
          <p:cNvSpPr txBox="1"/>
          <p:nvPr/>
        </p:nvSpPr>
        <p:spPr>
          <a:xfrm>
            <a:off x="7818120" y="4663440"/>
            <a:ext cx="3840480" cy="502920"/>
          </a:xfrm>
          <a:prstGeom prst="rect">
            <a:avLst/>
          </a:prstGeom>
          <a:noFill/>
          <a:ln/>
        </p:spPr>
        <p:txBody>
          <a:bodyPr wrap="square" lIns="0" tIns="0" rIns="0" bIns="0" rtlCol="0" anchor="ctr"/>
          <a:lstStyle/>
          <a:p>
            <a:pPr algn="l" indent="0" marL="0">
              <a:buNone/>
            </a:pPr>
            <a:r>
              <a:rPr lang="en-US" sz="1300" dirty="0">
                <a:solidFill>
                  <a:srgbClr val="1F2937"/>
                </a:solidFill>
                <a:latin typeface="Calibri" pitchFamily="34" charset="0"/>
                <a:ea typeface="Calibri" pitchFamily="34" charset="-122"/>
                <a:cs typeface="Calibri" pitchFamily="34" charset="-120"/>
              </a:rPr>
              <a:t>Security, audit, maintenance deadlines</a:t>
            </a:r>
            <a:endParaRPr lang="en-US" sz="1300" dirty="0"/>
          </a:p>
        </p:txBody>
      </p:sp>
      <p:sp>
        <p:nvSpPr>
          <p:cNvPr id="32" name="Shape 30"/>
          <p:cNvSpPr/>
          <p:nvPr/>
        </p:nvSpPr>
        <p:spPr>
          <a:xfrm>
            <a:off x="5943600" y="5440680"/>
            <a:ext cx="5669280" cy="822960"/>
          </a:xfrm>
          <a:prstGeom prst="roundRect">
            <a:avLst>
              <a:gd name="adj" fmla="val 8889"/>
            </a:avLst>
          </a:prstGeom>
          <a:solidFill>
            <a:srgbClr val="E6F2F0"/>
          </a:solidFill>
          <a:ln w="9525">
            <a:solidFill>
              <a:srgbClr val="E6F2F0"/>
            </a:solidFill>
            <a:prstDash val="solid"/>
          </a:ln>
        </p:spPr>
      </p:sp>
      <p:sp>
        <p:nvSpPr>
          <p:cNvPr id="33" name="Text 31"/>
          <p:cNvSpPr txBox="1"/>
          <p:nvPr/>
        </p:nvSpPr>
        <p:spPr>
          <a:xfrm>
            <a:off x="6126480" y="5440680"/>
            <a:ext cx="5394960" cy="822960"/>
          </a:xfrm>
          <a:prstGeom prst="rect">
            <a:avLst/>
          </a:prstGeom>
          <a:noFill/>
          <a:ln/>
        </p:spPr>
        <p:txBody>
          <a:bodyPr wrap="square" lIns="0" tIns="0" rIns="0" bIns="0" rtlCol="0" anchor="ctr"/>
          <a:lstStyle/>
          <a:p>
            <a:pPr algn="l" indent="0" marL="0">
              <a:buNone/>
            </a:pPr>
            <a:r>
              <a:rPr lang="en-US" sz="1300" b="1" dirty="0">
                <a:solidFill>
                  <a:srgbClr val="0F766E"/>
                </a:solidFill>
                <a:latin typeface="Calibri" pitchFamily="34" charset="0"/>
                <a:ea typeface="Calibri" pitchFamily="34" charset="-122"/>
                <a:cs typeface="Calibri" pitchFamily="34" charset="-120"/>
              </a:rPr>
              <a:t>Every item carries: </a:t>
            </a:r>
            <a:pPr algn="l" indent="0" marL="0">
              <a:buNone/>
            </a:pPr>
            <a:r>
              <a:rPr lang="en-US" sz="1300" dirty="0">
                <a:solidFill>
                  <a:srgbClr val="1F2937"/>
                </a:solidFill>
                <a:latin typeface="Calibri" pitchFamily="34" charset="0"/>
                <a:ea typeface="Calibri" pitchFamily="34" charset="-122"/>
                <a:cs typeface="Calibri" pitchFamily="34" charset="-120"/>
              </a:rPr>
              <a:t>dimension, clean core level, interest, principal, WSJF inputs, business + IT owner, target quarter. See Planner → Tech Debt Register.</a:t>
            </a:r>
            <a:endParaRPr lang="en-US" sz="1300" dirty="0"/>
          </a:p>
        </p:txBody>
      </p:sp>
      <p:sp>
        <p:nvSpPr>
          <p:cNvPr id="34" name="Text 32"/>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Prioritising bugs vs features vs tech debt</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Three decisions, made at three different levels</a:t>
            </a:r>
            <a:endParaRPr lang="en-US" sz="1600" dirty="0"/>
          </a:p>
        </p:txBody>
      </p:sp>
      <p:sp>
        <p:nvSpPr>
          <p:cNvPr id="4" name="Shape 2"/>
          <p:cNvSpPr/>
          <p:nvPr/>
        </p:nvSpPr>
        <p:spPr>
          <a:xfrm>
            <a:off x="548640" y="1737360"/>
            <a:ext cx="6492240"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2057400"/>
            <a:ext cx="685800" cy="685800"/>
          </a:xfrm>
          <a:prstGeom prst="ellipse">
            <a:avLst/>
          </a:prstGeom>
          <a:solidFill>
            <a:srgbClr val="17313B"/>
          </a:solidFill>
          <a:ln w="12700">
            <a:solidFill>
              <a:srgbClr val="17313B"/>
            </a:solidFill>
            <a:prstDash val="solid"/>
          </a:ln>
        </p:spPr>
      </p:sp>
      <p:sp>
        <p:nvSpPr>
          <p:cNvPr id="6" name="Text 4"/>
          <p:cNvSpPr txBox="1"/>
          <p:nvPr/>
        </p:nvSpPr>
        <p:spPr>
          <a:xfrm>
            <a:off x="731520" y="20574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7" name="Text 5"/>
          <p:cNvSpPr txBox="1"/>
          <p:nvPr/>
        </p:nvSpPr>
        <p:spPr>
          <a:xfrm>
            <a:off x="1645920" y="1847088"/>
            <a:ext cx="3200400" cy="365760"/>
          </a:xfrm>
          <a:prstGeom prst="rect">
            <a:avLst/>
          </a:prstGeom>
          <a:noFill/>
          <a:ln/>
        </p:spPr>
        <p:txBody>
          <a:bodyPr wrap="square" lIns="0" tIns="0" rIns="0" bIns="0" rtlCol="0" anchor="t"/>
          <a:lstStyle/>
          <a:p>
            <a:pPr algn="l" indent="0" marL="0">
              <a:buNone/>
            </a:pPr>
            <a:r>
              <a:rPr lang="en-US" sz="1700" b="1" dirty="0">
                <a:solidFill>
                  <a:srgbClr val="17313B"/>
                </a:solidFill>
                <a:latin typeface="Calibri" pitchFamily="34" charset="0"/>
                <a:ea typeface="Calibri" pitchFamily="34" charset="-122"/>
                <a:cs typeface="Calibri" pitchFamily="34" charset="-120"/>
              </a:rPr>
              <a:t>Expedite</a:t>
            </a:r>
            <a:endParaRPr lang="en-US" sz="1700" dirty="0"/>
          </a:p>
        </p:txBody>
      </p:sp>
      <p:sp>
        <p:nvSpPr>
          <p:cNvPr id="8" name="Text 6"/>
          <p:cNvSpPr txBox="1"/>
          <p:nvPr/>
        </p:nvSpPr>
        <p:spPr>
          <a:xfrm>
            <a:off x="4480560" y="1865376"/>
            <a:ext cx="2377440" cy="365760"/>
          </a:xfrm>
          <a:prstGeom prst="rect">
            <a:avLst/>
          </a:prstGeom>
          <a:noFill/>
          <a:ln/>
        </p:spPr>
        <p:txBody>
          <a:bodyPr wrap="square" lIns="0" tIns="0" rIns="0" bIns="0" rtlCol="0" anchor="t"/>
          <a:lstStyle/>
          <a:p>
            <a:pPr algn="r" indent="0" marL="0">
              <a:buNone/>
            </a:pPr>
            <a:r>
              <a:rPr lang="en-US" sz="1200" b="1" dirty="0">
                <a:solidFill>
                  <a:srgbClr val="0F766E"/>
                </a:solidFill>
                <a:latin typeface="Calibri" pitchFamily="34" charset="0"/>
                <a:ea typeface="Calibri" pitchFamily="34" charset="-122"/>
                <a:cs typeface="Calibri" pitchFamily="34" charset="-120"/>
              </a:rPr>
              <a:t>Daily</a:t>
            </a:r>
            <a:endParaRPr lang="en-US" sz="1200" dirty="0"/>
          </a:p>
        </p:txBody>
      </p:sp>
      <p:sp>
        <p:nvSpPr>
          <p:cNvPr id="9" name="Text 7"/>
          <p:cNvSpPr txBox="1"/>
          <p:nvPr/>
        </p:nvSpPr>
        <p:spPr>
          <a:xfrm>
            <a:off x="1645920" y="2212848"/>
            <a:ext cx="5212080" cy="82296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P1 / P2 defects and security issues go first. Non-negotiable, but capped by the defect allocation; overflow triggers a portfolio conversation.</a:t>
            </a:r>
            <a:endParaRPr lang="en-US" sz="1250" dirty="0"/>
          </a:p>
        </p:txBody>
      </p:sp>
      <p:sp>
        <p:nvSpPr>
          <p:cNvPr id="10" name="Shape 8"/>
          <p:cNvSpPr/>
          <p:nvPr/>
        </p:nvSpPr>
        <p:spPr>
          <a:xfrm>
            <a:off x="548640" y="3200400"/>
            <a:ext cx="6492240"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731520" y="3520440"/>
            <a:ext cx="685800" cy="685800"/>
          </a:xfrm>
          <a:prstGeom prst="ellipse">
            <a:avLst/>
          </a:prstGeom>
          <a:solidFill>
            <a:srgbClr val="17313B"/>
          </a:solidFill>
          <a:ln w="12700">
            <a:solidFill>
              <a:srgbClr val="17313B"/>
            </a:solidFill>
            <a:prstDash val="solid"/>
          </a:ln>
        </p:spPr>
      </p:sp>
      <p:sp>
        <p:nvSpPr>
          <p:cNvPr id="12" name="Text 10"/>
          <p:cNvSpPr txBox="1"/>
          <p:nvPr/>
        </p:nvSpPr>
        <p:spPr>
          <a:xfrm>
            <a:off x="731520" y="35204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txBox="1"/>
          <p:nvPr/>
        </p:nvSpPr>
        <p:spPr>
          <a:xfrm>
            <a:off x="1645920" y="3310128"/>
            <a:ext cx="3200400" cy="365760"/>
          </a:xfrm>
          <a:prstGeom prst="rect">
            <a:avLst/>
          </a:prstGeom>
          <a:noFill/>
          <a:ln/>
        </p:spPr>
        <p:txBody>
          <a:bodyPr wrap="square" lIns="0" tIns="0" rIns="0" bIns="0" rtlCol="0" anchor="t"/>
          <a:lstStyle/>
          <a:p>
            <a:pPr algn="l" indent="0" marL="0">
              <a:buNone/>
            </a:pPr>
            <a:r>
              <a:rPr lang="en-US" sz="1700" b="1" dirty="0">
                <a:solidFill>
                  <a:srgbClr val="17313B"/>
                </a:solidFill>
                <a:latin typeface="Calibri" pitchFamily="34" charset="0"/>
                <a:ea typeface="Calibri" pitchFamily="34" charset="-122"/>
                <a:cs typeface="Calibri" pitchFamily="34" charset="-120"/>
              </a:rPr>
              <a:t>Allocate</a:t>
            </a:r>
            <a:endParaRPr lang="en-US" sz="1700" dirty="0"/>
          </a:p>
        </p:txBody>
      </p:sp>
      <p:sp>
        <p:nvSpPr>
          <p:cNvPr id="14" name="Text 12"/>
          <p:cNvSpPr txBox="1"/>
          <p:nvPr/>
        </p:nvSpPr>
        <p:spPr>
          <a:xfrm>
            <a:off x="4480560" y="3328416"/>
            <a:ext cx="2377440" cy="365760"/>
          </a:xfrm>
          <a:prstGeom prst="rect">
            <a:avLst/>
          </a:prstGeom>
          <a:noFill/>
          <a:ln/>
        </p:spPr>
        <p:txBody>
          <a:bodyPr wrap="square" lIns="0" tIns="0" rIns="0" bIns="0" rtlCol="0" anchor="t"/>
          <a:lstStyle/>
          <a:p>
            <a:pPr algn="r" indent="0" marL="0">
              <a:buNone/>
            </a:pPr>
            <a:r>
              <a:rPr lang="en-US" sz="1200" b="1" dirty="0">
                <a:solidFill>
                  <a:srgbClr val="0F766E"/>
                </a:solidFill>
                <a:latin typeface="Calibri" pitchFamily="34" charset="0"/>
                <a:ea typeface="Calibri" pitchFamily="34" charset="-122"/>
                <a:cs typeface="Calibri" pitchFamily="34" charset="-120"/>
              </a:rPr>
              <a:t>Monthly / quarterly</a:t>
            </a:r>
            <a:endParaRPr lang="en-US" sz="1200" dirty="0"/>
          </a:p>
        </p:txBody>
      </p:sp>
      <p:sp>
        <p:nvSpPr>
          <p:cNvPr id="15" name="Text 13"/>
          <p:cNvSpPr txBox="1"/>
          <p:nvPr/>
        </p:nvSpPr>
        <p:spPr>
          <a:xfrm>
            <a:off x="1645920" y="3675888"/>
            <a:ext cx="5212080" cy="82296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Portfolio sets % of capacity per work type each quarter (next slide). This is the budget decision, made once — not item by item.</a:t>
            </a:r>
            <a:endParaRPr lang="en-US" sz="1250" dirty="0"/>
          </a:p>
        </p:txBody>
      </p:sp>
      <p:sp>
        <p:nvSpPr>
          <p:cNvPr id="16" name="Shape 14"/>
          <p:cNvSpPr/>
          <p:nvPr/>
        </p:nvSpPr>
        <p:spPr>
          <a:xfrm>
            <a:off x="548640" y="4663440"/>
            <a:ext cx="6492240"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31520" y="4983480"/>
            <a:ext cx="685800" cy="685800"/>
          </a:xfrm>
          <a:prstGeom prst="ellipse">
            <a:avLst/>
          </a:prstGeom>
          <a:solidFill>
            <a:srgbClr val="17313B"/>
          </a:solidFill>
          <a:ln w="12700">
            <a:solidFill>
              <a:srgbClr val="17313B"/>
            </a:solidFill>
            <a:prstDash val="solid"/>
          </a:ln>
        </p:spPr>
      </p:sp>
      <p:sp>
        <p:nvSpPr>
          <p:cNvPr id="18" name="Text 16"/>
          <p:cNvSpPr txBox="1"/>
          <p:nvPr/>
        </p:nvSpPr>
        <p:spPr>
          <a:xfrm>
            <a:off x="731520" y="49834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9" name="Text 17"/>
          <p:cNvSpPr txBox="1"/>
          <p:nvPr/>
        </p:nvSpPr>
        <p:spPr>
          <a:xfrm>
            <a:off x="1645920" y="4773168"/>
            <a:ext cx="3200400" cy="365760"/>
          </a:xfrm>
          <a:prstGeom prst="rect">
            <a:avLst/>
          </a:prstGeom>
          <a:noFill/>
          <a:ln/>
        </p:spPr>
        <p:txBody>
          <a:bodyPr wrap="square" lIns="0" tIns="0" rIns="0" bIns="0" rtlCol="0" anchor="t"/>
          <a:lstStyle/>
          <a:p>
            <a:pPr algn="l" indent="0" marL="0">
              <a:buNone/>
            </a:pPr>
            <a:r>
              <a:rPr lang="en-US" sz="1700" b="1" dirty="0">
                <a:solidFill>
                  <a:srgbClr val="17313B"/>
                </a:solidFill>
                <a:latin typeface="Calibri" pitchFamily="34" charset="0"/>
                <a:ea typeface="Calibri" pitchFamily="34" charset="-122"/>
                <a:cs typeface="Calibri" pitchFamily="34" charset="-120"/>
              </a:rPr>
              <a:t>Rank</a:t>
            </a:r>
            <a:endParaRPr lang="en-US" sz="1700" dirty="0"/>
          </a:p>
        </p:txBody>
      </p:sp>
      <p:sp>
        <p:nvSpPr>
          <p:cNvPr id="20" name="Text 18"/>
          <p:cNvSpPr txBox="1"/>
          <p:nvPr/>
        </p:nvSpPr>
        <p:spPr>
          <a:xfrm>
            <a:off x="4480560" y="4791456"/>
            <a:ext cx="2377440" cy="365760"/>
          </a:xfrm>
          <a:prstGeom prst="rect">
            <a:avLst/>
          </a:prstGeom>
          <a:noFill/>
          <a:ln/>
        </p:spPr>
        <p:txBody>
          <a:bodyPr wrap="square" lIns="0" tIns="0" rIns="0" bIns="0" rtlCol="0" anchor="t"/>
          <a:lstStyle/>
          <a:p>
            <a:pPr algn="r" indent="0" marL="0">
              <a:buNone/>
            </a:pPr>
            <a:r>
              <a:rPr lang="en-US" sz="1200" b="1" dirty="0">
                <a:solidFill>
                  <a:srgbClr val="0F766E"/>
                </a:solidFill>
                <a:latin typeface="Calibri" pitchFamily="34" charset="0"/>
                <a:ea typeface="Calibri" pitchFamily="34" charset="-122"/>
                <a:cs typeface="Calibri" pitchFamily="34" charset="-120"/>
              </a:rPr>
              <a:t>Weekly refinement</a:t>
            </a:r>
            <a:endParaRPr lang="en-US" sz="1200" dirty="0"/>
          </a:p>
        </p:txBody>
      </p:sp>
      <p:sp>
        <p:nvSpPr>
          <p:cNvPr id="21" name="Text 19"/>
          <p:cNvSpPr txBox="1"/>
          <p:nvPr/>
        </p:nvSpPr>
        <p:spPr>
          <a:xfrm>
            <a:off x="1645920" y="5138928"/>
            <a:ext cx="5212080" cy="822960"/>
          </a:xfrm>
          <a:prstGeom prst="rect">
            <a:avLst/>
          </a:prstGeom>
          <a:noFill/>
          <a:ln/>
        </p:spPr>
        <p:txBody>
          <a:bodyPr wrap="square" lIns="0" tIns="0" rIns="0" bIns="0" rtlCol="0" anchor="t"/>
          <a:lstStyle/>
          <a:p>
            <a:pPr algn="l" indent="0" marL="0">
              <a:buNone/>
            </a:pPr>
            <a:r>
              <a:rPr lang="en-US" sz="1250" dirty="0">
                <a:solidFill>
                  <a:srgbClr val="1F2937"/>
                </a:solidFill>
                <a:latin typeface="Calibri" pitchFamily="34" charset="0"/>
                <a:ea typeface="Calibri" pitchFamily="34" charset="-122"/>
                <a:cs typeface="Calibri" pitchFamily="34" charset="-120"/>
              </a:rPr>
              <a:t>Inside each bucket, rank by WSJF. Tech debt scores on risk reduction and opportunity enablement, not just business value.</a:t>
            </a:r>
            <a:endParaRPr lang="en-US" sz="1250" dirty="0"/>
          </a:p>
        </p:txBody>
      </p:sp>
      <p:sp>
        <p:nvSpPr>
          <p:cNvPr id="22" name="Shape 20"/>
          <p:cNvSpPr/>
          <p:nvPr/>
        </p:nvSpPr>
        <p:spPr>
          <a:xfrm>
            <a:off x="7315200" y="1737360"/>
            <a:ext cx="4297680" cy="1325880"/>
          </a:xfrm>
          <a:prstGeom prst="roundRect">
            <a:avLst>
              <a:gd name="adj" fmla="val 5517"/>
            </a:avLst>
          </a:prstGeom>
          <a:solidFill>
            <a:srgbClr val="FEF3C7"/>
          </a:solidFill>
          <a:ln w="9525">
            <a:solidFill>
              <a:srgbClr val="FEF3C7"/>
            </a:solidFill>
            <a:prstDash val="solid"/>
          </a:ln>
        </p:spPr>
      </p:sp>
      <p:sp>
        <p:nvSpPr>
          <p:cNvPr id="23" name="Text 21"/>
          <p:cNvSpPr txBox="1"/>
          <p:nvPr/>
        </p:nvSpPr>
        <p:spPr>
          <a:xfrm>
            <a:off x="7498080" y="1828800"/>
            <a:ext cx="3931920" cy="320040"/>
          </a:xfrm>
          <a:prstGeom prst="rect">
            <a:avLst/>
          </a:prstGeom>
          <a:noFill/>
          <a:ln/>
        </p:spPr>
        <p:txBody>
          <a:bodyPr wrap="square" lIns="0" tIns="0" rIns="0" bIns="0" rtlCol="0" anchor="t"/>
          <a:lstStyle/>
          <a:p>
            <a:pPr algn="l" indent="0" marL="0">
              <a:buNone/>
            </a:pPr>
            <a:r>
              <a:rPr lang="en-US" sz="1300" b="1" dirty="0">
                <a:solidFill>
                  <a:srgbClr val="B45309"/>
                </a:solidFill>
                <a:latin typeface="Calibri" pitchFamily="34" charset="0"/>
                <a:ea typeface="Calibri" pitchFamily="34" charset="-122"/>
                <a:cs typeface="Calibri" pitchFamily="34" charset="-120"/>
              </a:rPr>
              <a:t>WSJF</a:t>
            </a:r>
            <a:endParaRPr lang="en-US" sz="1300" dirty="0"/>
          </a:p>
        </p:txBody>
      </p:sp>
      <p:sp>
        <p:nvSpPr>
          <p:cNvPr id="24" name="Text 22"/>
          <p:cNvSpPr txBox="1"/>
          <p:nvPr/>
        </p:nvSpPr>
        <p:spPr>
          <a:xfrm>
            <a:off x="7498080" y="2148840"/>
            <a:ext cx="3931920" cy="868680"/>
          </a:xfrm>
          <a:prstGeom prst="rect">
            <a:avLst/>
          </a:prstGeom>
          <a:noFill/>
          <a:ln/>
        </p:spPr>
        <p:txBody>
          <a:bodyPr wrap="square" lIns="0" tIns="0" rIns="0" bIns="0" rtlCol="0" anchor="t"/>
          <a:lstStyle/>
          <a:p>
            <a:pPr algn="l" indent="0" marL="0">
              <a:buNone/>
            </a:pPr>
            <a:r>
              <a:rPr lang="en-US" sz="1400" b="1" dirty="0">
                <a:solidFill>
                  <a:srgbClr val="17313B"/>
                </a:solidFill>
                <a:latin typeface="Calibri" pitchFamily="34" charset="0"/>
                <a:ea typeface="Calibri" pitchFamily="34" charset="-122"/>
                <a:cs typeface="Calibri" pitchFamily="34" charset="-120"/>
              </a:rPr>
              <a:t>(Business value + Time criticality + Risk reduction / Opportunity enablement) ÷ Job size</a:t>
            </a:r>
            <a:endParaRPr lang="en-US" sz="1400" dirty="0"/>
          </a:p>
        </p:txBody>
      </p:sp>
      <p:sp>
        <p:nvSpPr>
          <p:cNvPr id="25" name="Text 23"/>
          <p:cNvSpPr txBox="1"/>
          <p:nvPr/>
        </p:nvSpPr>
        <p:spPr>
          <a:xfrm>
            <a:off x="7315200" y="3246120"/>
            <a:ext cx="4297680" cy="320040"/>
          </a:xfrm>
          <a:prstGeom prst="rect">
            <a:avLst/>
          </a:prstGeom>
          <a:noFill/>
          <a:ln/>
        </p:spPr>
        <p:txBody>
          <a:bodyPr wrap="square" lIns="0" tIns="0" rIns="0" bIns="0" rtlCol="0" anchor="t"/>
          <a:lstStyle/>
          <a:p>
            <a:pPr algn="l" indent="0" marL="0">
              <a:buNone/>
            </a:pPr>
            <a:r>
              <a:rPr lang="en-US" sz="1400" b="1" dirty="0">
                <a:solidFill>
                  <a:srgbClr val="17313B"/>
                </a:solidFill>
                <a:latin typeface="Calibri" pitchFamily="34" charset="0"/>
                <a:ea typeface="Calibri" pitchFamily="34" charset="-122"/>
                <a:cs typeface="Calibri" pitchFamily="34" charset="-120"/>
              </a:rPr>
              <a:t>Tech debt: interest vs principal</a:t>
            </a:r>
            <a:endParaRPr lang="en-US" sz="1400" dirty="0"/>
          </a:p>
        </p:txBody>
      </p:sp>
      <p:sp>
        <p:nvSpPr>
          <p:cNvPr id="26" name="Shape 24"/>
          <p:cNvSpPr/>
          <p:nvPr/>
        </p:nvSpPr>
        <p:spPr>
          <a:xfrm>
            <a:off x="7680960" y="3611880"/>
            <a:ext cx="1938528" cy="1188720"/>
          </a:xfrm>
          <a:prstGeom prst="rect">
            <a:avLst/>
          </a:prstGeom>
          <a:solidFill>
            <a:srgbClr val="0F766E"/>
          </a:solidFill>
          <a:ln w="12700">
            <a:solidFill>
              <a:srgbClr val="FFFFFF"/>
            </a:solidFill>
            <a:prstDash val="solid"/>
          </a:ln>
        </p:spPr>
      </p:sp>
      <p:sp>
        <p:nvSpPr>
          <p:cNvPr id="27" name="Text 25"/>
          <p:cNvSpPr txBox="1"/>
          <p:nvPr/>
        </p:nvSpPr>
        <p:spPr>
          <a:xfrm>
            <a:off x="7772400" y="3794760"/>
            <a:ext cx="1755648"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Pay down now</a:t>
            </a:r>
            <a:endParaRPr lang="en-US" sz="1400" dirty="0"/>
          </a:p>
        </p:txBody>
      </p:sp>
      <p:sp>
        <p:nvSpPr>
          <p:cNvPr id="28" name="Text 26"/>
          <p:cNvSpPr txBox="1"/>
          <p:nvPr/>
        </p:nvSpPr>
        <p:spPr>
          <a:xfrm>
            <a:off x="7772400" y="4178808"/>
            <a:ext cx="1755648"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High interest, low principal</a:t>
            </a:r>
            <a:endParaRPr lang="en-US" sz="1100" dirty="0"/>
          </a:p>
        </p:txBody>
      </p:sp>
      <p:sp>
        <p:nvSpPr>
          <p:cNvPr id="29" name="Shape 27"/>
          <p:cNvSpPr/>
          <p:nvPr/>
        </p:nvSpPr>
        <p:spPr>
          <a:xfrm>
            <a:off x="9665208" y="3611880"/>
            <a:ext cx="1938528" cy="1188720"/>
          </a:xfrm>
          <a:prstGeom prst="rect">
            <a:avLst/>
          </a:prstGeom>
          <a:solidFill>
            <a:srgbClr val="14B8A6"/>
          </a:solidFill>
          <a:ln w="12700">
            <a:solidFill>
              <a:srgbClr val="FFFFFF"/>
            </a:solidFill>
            <a:prstDash val="solid"/>
          </a:ln>
        </p:spPr>
      </p:sp>
      <p:sp>
        <p:nvSpPr>
          <p:cNvPr id="30" name="Text 28"/>
          <p:cNvSpPr txBox="1"/>
          <p:nvPr/>
        </p:nvSpPr>
        <p:spPr>
          <a:xfrm>
            <a:off x="9756648" y="3794760"/>
            <a:ext cx="1755648"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Plan an epic</a:t>
            </a:r>
            <a:endParaRPr lang="en-US" sz="1400" dirty="0"/>
          </a:p>
        </p:txBody>
      </p:sp>
      <p:sp>
        <p:nvSpPr>
          <p:cNvPr id="31" name="Text 29"/>
          <p:cNvSpPr txBox="1"/>
          <p:nvPr/>
        </p:nvSpPr>
        <p:spPr>
          <a:xfrm>
            <a:off x="9756648" y="4178808"/>
            <a:ext cx="1755648" cy="5029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High interest, high principal</a:t>
            </a:r>
            <a:endParaRPr lang="en-US" sz="1100" dirty="0"/>
          </a:p>
        </p:txBody>
      </p:sp>
      <p:sp>
        <p:nvSpPr>
          <p:cNvPr id="32" name="Shape 30"/>
          <p:cNvSpPr/>
          <p:nvPr/>
        </p:nvSpPr>
        <p:spPr>
          <a:xfrm>
            <a:off x="7680960" y="4846320"/>
            <a:ext cx="1938528" cy="1188720"/>
          </a:xfrm>
          <a:prstGeom prst="rect">
            <a:avLst/>
          </a:prstGeom>
          <a:solidFill>
            <a:srgbClr val="E6F2F0"/>
          </a:solidFill>
          <a:ln w="12700">
            <a:solidFill>
              <a:srgbClr val="FFFFFF"/>
            </a:solidFill>
            <a:prstDash val="solid"/>
          </a:ln>
        </p:spPr>
      </p:sp>
      <p:sp>
        <p:nvSpPr>
          <p:cNvPr id="33" name="Text 31"/>
          <p:cNvSpPr txBox="1"/>
          <p:nvPr/>
        </p:nvSpPr>
        <p:spPr>
          <a:xfrm>
            <a:off x="7772400" y="5029200"/>
            <a:ext cx="1755648" cy="365760"/>
          </a:xfrm>
          <a:prstGeom prst="rect">
            <a:avLst/>
          </a:prstGeom>
          <a:noFill/>
          <a:ln/>
        </p:spPr>
        <p:txBody>
          <a:bodyPr wrap="square" lIns="0" tIns="0" rIns="0" bIns="0" rtlCol="0" anchor="t"/>
          <a:lstStyle/>
          <a:p>
            <a:pPr algn="ctr" indent="0" marL="0">
              <a:buNone/>
            </a:pPr>
            <a:r>
              <a:rPr lang="en-US" sz="1400" b="1" dirty="0">
                <a:solidFill>
                  <a:srgbClr val="17313B"/>
                </a:solidFill>
                <a:latin typeface="Calibri" pitchFamily="34" charset="0"/>
                <a:ea typeface="Calibri" pitchFamily="34" charset="-122"/>
                <a:cs typeface="Calibri" pitchFamily="34" charset="-120"/>
              </a:rPr>
              <a:t>Fix when touched</a:t>
            </a:r>
            <a:endParaRPr lang="en-US" sz="1400" dirty="0"/>
          </a:p>
        </p:txBody>
      </p:sp>
      <p:sp>
        <p:nvSpPr>
          <p:cNvPr id="34" name="Text 32"/>
          <p:cNvSpPr txBox="1"/>
          <p:nvPr/>
        </p:nvSpPr>
        <p:spPr>
          <a:xfrm>
            <a:off x="7772400" y="5413248"/>
            <a:ext cx="1755648" cy="502920"/>
          </a:xfrm>
          <a:prstGeom prst="rect">
            <a:avLst/>
          </a:prstGeom>
          <a:noFill/>
          <a:ln/>
        </p:spPr>
        <p:txBody>
          <a:bodyPr wrap="square" lIns="0" tIns="0" rIns="0" bIns="0" rtlCol="0" anchor="t"/>
          <a:lstStyle/>
          <a:p>
            <a:pPr algn="ctr" indent="0" marL="0">
              <a:buNone/>
            </a:pPr>
            <a:r>
              <a:rPr lang="en-US" sz="1100" dirty="0">
                <a:solidFill>
                  <a:srgbClr val="17313B"/>
                </a:solidFill>
                <a:latin typeface="Calibri" pitchFamily="34" charset="0"/>
                <a:ea typeface="Calibri" pitchFamily="34" charset="-122"/>
                <a:cs typeface="Calibri" pitchFamily="34" charset="-120"/>
              </a:rPr>
              <a:t>Low interest, low principal</a:t>
            </a:r>
            <a:endParaRPr lang="en-US" sz="1100" dirty="0"/>
          </a:p>
        </p:txBody>
      </p:sp>
      <p:sp>
        <p:nvSpPr>
          <p:cNvPr id="35" name="Shape 33"/>
          <p:cNvSpPr/>
          <p:nvPr/>
        </p:nvSpPr>
        <p:spPr>
          <a:xfrm>
            <a:off x="9665208" y="4846320"/>
            <a:ext cx="1938528" cy="1188720"/>
          </a:xfrm>
          <a:prstGeom prst="rect">
            <a:avLst/>
          </a:prstGeom>
          <a:solidFill>
            <a:srgbClr val="F3F4F6"/>
          </a:solidFill>
          <a:ln w="12700">
            <a:solidFill>
              <a:srgbClr val="FFFFFF"/>
            </a:solidFill>
            <a:prstDash val="solid"/>
          </a:ln>
        </p:spPr>
      </p:sp>
      <p:sp>
        <p:nvSpPr>
          <p:cNvPr id="36" name="Text 34"/>
          <p:cNvSpPr txBox="1"/>
          <p:nvPr/>
        </p:nvSpPr>
        <p:spPr>
          <a:xfrm>
            <a:off x="9756648" y="5029200"/>
            <a:ext cx="1755648" cy="365760"/>
          </a:xfrm>
          <a:prstGeom prst="rect">
            <a:avLst/>
          </a:prstGeom>
          <a:noFill/>
          <a:ln/>
        </p:spPr>
        <p:txBody>
          <a:bodyPr wrap="square" lIns="0" tIns="0" rIns="0" bIns="0" rtlCol="0" anchor="t"/>
          <a:lstStyle/>
          <a:p>
            <a:pPr algn="ctr" indent="0" marL="0">
              <a:buNone/>
            </a:pPr>
            <a:r>
              <a:rPr lang="en-US" sz="1400" b="1" dirty="0">
                <a:solidFill>
                  <a:srgbClr val="17313B"/>
                </a:solidFill>
                <a:latin typeface="Calibri" pitchFamily="34" charset="0"/>
                <a:ea typeface="Calibri" pitchFamily="34" charset="-122"/>
                <a:cs typeface="Calibri" pitchFamily="34" charset="-120"/>
              </a:rPr>
              <a:t>Accept &amp; document</a:t>
            </a:r>
            <a:endParaRPr lang="en-US" sz="1400" dirty="0"/>
          </a:p>
        </p:txBody>
      </p:sp>
      <p:sp>
        <p:nvSpPr>
          <p:cNvPr id="37" name="Text 35"/>
          <p:cNvSpPr txBox="1"/>
          <p:nvPr/>
        </p:nvSpPr>
        <p:spPr>
          <a:xfrm>
            <a:off x="9756648" y="5413248"/>
            <a:ext cx="1755648" cy="502920"/>
          </a:xfrm>
          <a:prstGeom prst="rect">
            <a:avLst/>
          </a:prstGeom>
          <a:noFill/>
          <a:ln/>
        </p:spPr>
        <p:txBody>
          <a:bodyPr wrap="square" lIns="0" tIns="0" rIns="0" bIns="0" rtlCol="0" anchor="t"/>
          <a:lstStyle/>
          <a:p>
            <a:pPr algn="ctr" indent="0" marL="0">
              <a:buNone/>
            </a:pPr>
            <a:r>
              <a:rPr lang="en-US" sz="1100" dirty="0">
                <a:solidFill>
                  <a:srgbClr val="17313B"/>
                </a:solidFill>
                <a:latin typeface="Calibri" pitchFamily="34" charset="0"/>
                <a:ea typeface="Calibri" pitchFamily="34" charset="-122"/>
                <a:cs typeface="Calibri" pitchFamily="34" charset="-120"/>
              </a:rPr>
              <a:t>Low interest, high principal</a:t>
            </a:r>
            <a:endParaRPr lang="en-US" sz="1100" dirty="0"/>
          </a:p>
        </p:txBody>
      </p:sp>
      <p:sp>
        <p:nvSpPr>
          <p:cNvPr id="38" name="Text 36"/>
          <p:cNvSpPr txBox="1"/>
          <p:nvPr/>
        </p:nvSpPr>
        <p:spPr>
          <a:xfrm>
            <a:off x="7269480" y="3931920"/>
            <a:ext cx="411480" cy="16459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Interest ↑</a:t>
            </a:r>
            <a:endParaRPr lang="en-US" sz="1000" dirty="0"/>
          </a:p>
        </p:txBody>
      </p:sp>
      <p:sp>
        <p:nvSpPr>
          <p:cNvPr id="39" name="Text 37"/>
          <p:cNvSpPr txBox="1"/>
          <p:nvPr/>
        </p:nvSpPr>
        <p:spPr>
          <a:xfrm>
            <a:off x="7680960" y="6099048"/>
            <a:ext cx="3931920" cy="27432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Principal →</a:t>
            </a:r>
            <a:endParaRPr lang="en-US" sz="1000" dirty="0"/>
          </a:p>
        </p:txBody>
      </p:sp>
      <p:sp>
        <p:nvSpPr>
          <p:cNvPr id="40" name="Text 38"/>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Capacity guardrails keep the budget flat</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Fund a stable team, then shift the mix as debt comes down (illustrative %)</a:t>
            </a:r>
            <a:endParaRPr lang="en-US" sz="1600" dirty="0"/>
          </a:p>
        </p:txBody>
      </p:sp>
      <p:graphicFrame>
        <p:nvGraphicFramePr>
          <p:cNvPr id="4" name="Chart 0" descr=""/>
          <p:cNvGraphicFramePr/>
          <p:nvPr/>
        </p:nvGraphicFramePr>
        <p:xfrm>
          <a:off x="548640" y="1645920"/>
          <a:ext cx="6309360" cy="4663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223760" y="1691640"/>
            <a:ext cx="4389120" cy="365760"/>
          </a:xfrm>
          <a:prstGeom prst="rect">
            <a:avLst/>
          </a:prstGeom>
          <a:noFill/>
          <a:ln/>
        </p:spPr>
        <p:txBody>
          <a:bodyPr wrap="square" lIns="0" tIns="0" rIns="0" bIns="0" rtlCol="0" anchor="t"/>
          <a:lstStyle/>
          <a:p>
            <a:pPr algn="l" indent="0" marL="0">
              <a:buNone/>
            </a:pPr>
            <a:r>
              <a:rPr lang="en-US" sz="1600" b="1" dirty="0">
                <a:solidFill>
                  <a:srgbClr val="17313B"/>
                </a:solidFill>
                <a:latin typeface="Calibri" pitchFamily="34" charset="0"/>
                <a:ea typeface="Calibri" pitchFamily="34" charset="-122"/>
                <a:cs typeface="Calibri" pitchFamily="34" charset="-120"/>
              </a:rPr>
              <a:t>Funding tactics that don’t need new budget</a:t>
            </a:r>
            <a:endParaRPr lang="en-US" sz="1600" dirty="0"/>
          </a:p>
        </p:txBody>
      </p:sp>
      <p:sp>
        <p:nvSpPr>
          <p:cNvPr id="6" name="Text 3"/>
          <p:cNvSpPr txBox="1"/>
          <p:nvPr/>
        </p:nvSpPr>
        <p:spPr>
          <a:xfrm>
            <a:off x="7223760" y="2148840"/>
            <a:ext cx="4389120" cy="4114800"/>
          </a:xfrm>
          <a:prstGeom prst="rect">
            <a:avLst/>
          </a:prstGeom>
          <a:noFill/>
          <a:ln/>
        </p:spPr>
        <p:txBody>
          <a:bodyPr wrap="square" lIns="0" tIns="0" rIns="0" bIns="0" rtlCol="0" anchor="t"/>
          <a:lstStyle/>
          <a:p>
            <a:pPr algn="l" marL="177800" indent="-177800">
              <a:spcAft>
                <a:spcPts val="800"/>
              </a:spcAft>
              <a:buSzPct val="100000"/>
              <a:buChar char="•"/>
            </a:pPr>
            <a:r>
              <a:rPr lang="en-US" sz="1300" b="1" dirty="0">
                <a:solidFill>
                  <a:srgbClr val="1F2937"/>
                </a:solidFill>
                <a:latin typeface="Calibri" pitchFamily="34" charset="0"/>
                <a:ea typeface="Calibri" pitchFamily="34" charset="-122"/>
                <a:cs typeface="Calibri" pitchFamily="34" charset="-120"/>
              </a:rPr>
              <a:t>Stable team, flexible mix: </a:t>
            </a:r>
            <a:pPr algn="l" indent="0" marL="0">
              <a:spcAft>
                <a:spcPts val="800"/>
              </a:spcAft>
              <a:buNone/>
            </a:pPr>
            <a:r>
              <a:rPr lang="en-US" sz="1300" dirty="0">
                <a:solidFill>
                  <a:srgbClr val="1F2937"/>
                </a:solidFill>
                <a:latin typeface="Calibri" pitchFamily="34" charset="0"/>
                <a:ea typeface="Calibri" pitchFamily="34" charset="-122"/>
                <a:cs typeface="Calibri" pitchFamily="34" charset="-120"/>
              </a:rPr>
              <a:t>fund capacity once; the portfolio moves the % each quarter.</a:t>
            </a:r>
            <a:endParaRPr lang="en-US" sz="1300" dirty="0"/>
          </a:p>
          <a:p>
            <a:pPr algn="l" marL="177800" indent="-177800">
              <a:spcAft>
                <a:spcPts val="800"/>
              </a:spcAft>
              <a:buSzPct val="100000"/>
              <a:buChar char="•"/>
            </a:pPr>
            <a:r>
              <a:rPr lang="en-US" sz="1300" b="1" dirty="0">
                <a:solidFill>
                  <a:srgbClr val="1F2937"/>
                </a:solidFill>
                <a:latin typeface="Calibri" pitchFamily="34" charset="0"/>
                <a:ea typeface="Calibri" pitchFamily="34" charset="-122"/>
                <a:cs typeface="Calibri" pitchFamily="34" charset="-120"/>
              </a:rPr>
              <a:t>Bundle: </a:t>
            </a:r>
            <a:pPr algn="l" indent="0" marL="0">
              <a:spcAft>
                <a:spcPts val="800"/>
              </a:spcAft>
              <a:buNone/>
            </a:pPr>
            <a:r>
              <a:rPr lang="en-US" sz="1300" dirty="0">
                <a:solidFill>
                  <a:srgbClr val="1F2937"/>
                </a:solidFill>
                <a:latin typeface="Calibri" pitchFamily="34" charset="0"/>
                <a:ea typeface="Calibri" pitchFamily="34" charset="-122"/>
                <a:cs typeface="Calibri" pitchFamily="34" charset="-120"/>
              </a:rPr>
              <a:t>fix debt in the objects a feature already touches (Boy Scout rule).</a:t>
            </a:r>
            <a:endParaRPr lang="en-US" sz="1300" dirty="0"/>
          </a:p>
          <a:p>
            <a:pPr algn="l" marL="177800" indent="-177800">
              <a:spcAft>
                <a:spcPts val="800"/>
              </a:spcAft>
              <a:buSzPct val="100000"/>
              <a:buChar char="•"/>
            </a:pPr>
            <a:r>
              <a:rPr lang="en-US" sz="1300" b="1" dirty="0">
                <a:solidFill>
                  <a:srgbClr val="1F2937"/>
                </a:solidFill>
                <a:latin typeface="Calibri" pitchFamily="34" charset="0"/>
                <a:ea typeface="Calibri" pitchFamily="34" charset="-122"/>
                <a:cs typeface="Calibri" pitchFamily="34" charset="-120"/>
              </a:rPr>
              <a:t>Retire before remediate: </a:t>
            </a:r>
            <a:pPr algn="l" indent="0" marL="0">
              <a:spcAft>
                <a:spcPts val="800"/>
              </a:spcAft>
              <a:buNone/>
            </a:pPr>
            <a:r>
              <a:rPr lang="en-US" sz="1300" dirty="0">
                <a:solidFill>
                  <a:srgbClr val="1F2937"/>
                </a:solidFill>
                <a:latin typeface="Calibri" pitchFamily="34" charset="0"/>
                <a:ea typeface="Calibri" pitchFamily="34" charset="-122"/>
                <a:cs typeface="Calibri" pitchFamily="34" charset="-120"/>
              </a:rPr>
              <a:t>unused code and interfaces cost nothing to delete.</a:t>
            </a:r>
            <a:endParaRPr lang="en-US" sz="1300" dirty="0"/>
          </a:p>
          <a:p>
            <a:pPr algn="l" marL="177800" indent="-177800">
              <a:spcAft>
                <a:spcPts val="800"/>
              </a:spcAft>
              <a:buSzPct val="100000"/>
              <a:buChar char="•"/>
            </a:pPr>
            <a:r>
              <a:rPr lang="en-US" sz="1300" b="1" dirty="0">
                <a:solidFill>
                  <a:srgbClr val="1F2937"/>
                </a:solidFill>
                <a:latin typeface="Calibri" pitchFamily="34" charset="0"/>
                <a:ea typeface="Calibri" pitchFamily="34" charset="-122"/>
                <a:cs typeface="Calibri" pitchFamily="34" charset="-120"/>
              </a:rPr>
              <a:t>Use what’s paid for: </a:t>
            </a:r>
            <a:pPr algn="l" indent="0" marL="0">
              <a:spcAft>
                <a:spcPts val="800"/>
              </a:spcAft>
              <a:buNone/>
            </a:pPr>
            <a:r>
              <a:rPr lang="en-US" sz="1300" dirty="0">
                <a:solidFill>
                  <a:srgbClr val="1F2937"/>
                </a:solidFill>
                <a:latin typeface="Calibri" pitchFamily="34" charset="0"/>
                <a:ea typeface="Calibri" pitchFamily="34" charset="-122"/>
                <a:cs typeface="Calibri" pitchFamily="34" charset="-120"/>
              </a:rPr>
              <a:t>Cloud ALM, Pathfinder, Readiness Check, BTP credits, Enterprise Support services.</a:t>
            </a:r>
            <a:endParaRPr lang="en-US" sz="1300" dirty="0"/>
          </a:p>
          <a:p>
            <a:pPr algn="l" marL="177800" indent="-177800">
              <a:spcAft>
                <a:spcPts val="800"/>
              </a:spcAft>
              <a:buSzPct val="100000"/>
              <a:buChar char="•"/>
            </a:pPr>
            <a:r>
              <a:rPr lang="en-US" sz="1300" b="1" dirty="0">
                <a:solidFill>
                  <a:srgbClr val="1F2937"/>
                </a:solidFill>
                <a:latin typeface="Calibri" pitchFamily="34" charset="0"/>
                <a:ea typeface="Calibri" pitchFamily="34" charset="-122"/>
                <a:cs typeface="Calibri" pitchFamily="34" charset="-120"/>
              </a:rPr>
              <a:t>Self-fund: </a:t>
            </a:r>
            <a:pPr algn="l" indent="0" marL="0">
              <a:spcAft>
                <a:spcPts val="800"/>
              </a:spcAft>
              <a:buNone/>
            </a:pPr>
            <a:r>
              <a:rPr lang="en-US" sz="1300" dirty="0">
                <a:solidFill>
                  <a:srgbClr val="1F2937"/>
                </a:solidFill>
                <a:latin typeface="Calibri" pitchFamily="34" charset="0"/>
                <a:ea typeface="Calibri" pitchFamily="34" charset="-122"/>
                <a:cs typeface="Calibri" pitchFamily="34" charset="-120"/>
              </a:rPr>
              <a:t>redeploy savings from fewer tickets, retired middleware and AMS effort.</a:t>
            </a:r>
            <a:endParaRPr lang="en-US" sz="1300" dirty="0"/>
          </a:p>
          <a:p>
            <a:pPr algn="l" marL="177800" indent="-177800">
              <a:spcAft>
                <a:spcPts val="800"/>
              </a:spcAft>
              <a:buSzPct val="100000"/>
              <a:buChar char="•"/>
            </a:pPr>
            <a:r>
              <a:rPr lang="en-US" sz="1300" b="1" dirty="0">
                <a:solidFill>
                  <a:srgbClr val="1F2937"/>
                </a:solidFill>
                <a:latin typeface="Calibri" pitchFamily="34" charset="0"/>
                <a:ea typeface="Calibri" pitchFamily="34" charset="-122"/>
                <a:cs typeface="Calibri" pitchFamily="34" charset="-120"/>
              </a:rPr>
              <a:t>Stage-gate epics: </a:t>
            </a:r>
            <a:pPr algn="l" indent="0" marL="0">
              <a:spcAft>
                <a:spcPts val="800"/>
              </a:spcAft>
              <a:buNone/>
            </a:pPr>
            <a:r>
              <a:rPr lang="en-US" sz="1300" dirty="0">
                <a:solidFill>
                  <a:srgbClr val="1F2937"/>
                </a:solidFill>
                <a:latin typeface="Calibri" pitchFamily="34" charset="0"/>
                <a:ea typeface="Calibri" pitchFamily="34" charset="-122"/>
                <a:cs typeface="Calibri" pitchFamily="34" charset="-120"/>
              </a:rPr>
              <a:t>release funding in slices tied to KPI movement.</a:t>
            </a:r>
            <a:endParaRPr lang="en-US" sz="1300" dirty="0"/>
          </a:p>
        </p:txBody>
      </p:sp>
      <p:sp>
        <p:nvSpPr>
          <p:cNvPr id="7" name="Text 4"/>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Grooming and repetition: the operating cadence</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Same meetings, same day, every cycle — the rhythm is what makes the backlog trustworthy</a:t>
            </a:r>
            <a:endParaRPr lang="en-US" sz="1600" dirty="0"/>
          </a:p>
        </p:txBody>
      </p:sp>
      <p:sp>
        <p:nvSpPr>
          <p:cNvPr id="4" name="Shape 2"/>
          <p:cNvSpPr/>
          <p:nvPr/>
        </p:nvSpPr>
        <p:spPr>
          <a:xfrm>
            <a:off x="548640" y="1691640"/>
            <a:ext cx="1645920" cy="621792"/>
          </a:xfrm>
          <a:prstGeom prst="roundRect">
            <a:avLst>
              <a:gd name="adj" fmla="val 11765"/>
            </a:avLst>
          </a:prstGeom>
          <a:solidFill>
            <a:srgbClr val="475569"/>
          </a:solidFill>
          <a:ln w="12700">
            <a:solidFill>
              <a:srgbClr val="475569"/>
            </a:solidFill>
            <a:prstDash val="solid"/>
          </a:ln>
        </p:spPr>
      </p:sp>
      <p:sp>
        <p:nvSpPr>
          <p:cNvPr id="5" name="Text 3"/>
          <p:cNvSpPr txBox="1"/>
          <p:nvPr/>
        </p:nvSpPr>
        <p:spPr>
          <a:xfrm>
            <a:off x="548640" y="1691640"/>
            <a:ext cx="1645920"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Daily</a:t>
            </a:r>
            <a:endParaRPr lang="en-US" sz="1400" dirty="0"/>
          </a:p>
        </p:txBody>
      </p:sp>
      <p:sp>
        <p:nvSpPr>
          <p:cNvPr id="6" name="Shape 4"/>
          <p:cNvSpPr/>
          <p:nvPr/>
        </p:nvSpPr>
        <p:spPr>
          <a:xfrm>
            <a:off x="2377440" y="1728216"/>
            <a:ext cx="1920240"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2468880" y="1728216"/>
            <a:ext cx="173736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Stand-up (15 min)</a:t>
            </a:r>
            <a:endParaRPr lang="en-US" sz="1200" dirty="0"/>
          </a:p>
        </p:txBody>
      </p:sp>
      <p:sp>
        <p:nvSpPr>
          <p:cNvPr id="8" name="Shape 6"/>
          <p:cNvSpPr/>
          <p:nvPr/>
        </p:nvSpPr>
        <p:spPr>
          <a:xfrm>
            <a:off x="548640" y="2450592"/>
            <a:ext cx="1645920" cy="621792"/>
          </a:xfrm>
          <a:prstGeom prst="roundRect">
            <a:avLst>
              <a:gd name="adj" fmla="val 11765"/>
            </a:avLst>
          </a:prstGeom>
          <a:solidFill>
            <a:srgbClr val="0F766E"/>
          </a:solidFill>
          <a:ln w="12700">
            <a:solidFill>
              <a:srgbClr val="0F766E"/>
            </a:solidFill>
            <a:prstDash val="solid"/>
          </a:ln>
        </p:spPr>
      </p:sp>
      <p:sp>
        <p:nvSpPr>
          <p:cNvPr id="9" name="Text 7"/>
          <p:cNvSpPr txBox="1"/>
          <p:nvPr/>
        </p:nvSpPr>
        <p:spPr>
          <a:xfrm>
            <a:off x="548640" y="2450592"/>
            <a:ext cx="1645920"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Weekly</a:t>
            </a:r>
            <a:endParaRPr lang="en-US" sz="1400" dirty="0"/>
          </a:p>
        </p:txBody>
      </p:sp>
      <p:sp>
        <p:nvSpPr>
          <p:cNvPr id="10" name="Shape 8"/>
          <p:cNvSpPr/>
          <p:nvPr/>
        </p:nvSpPr>
        <p:spPr>
          <a:xfrm>
            <a:off x="2377440" y="2487168"/>
            <a:ext cx="2075688"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2468880" y="2487168"/>
            <a:ext cx="1892808"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Intake triage (45 min)</a:t>
            </a:r>
            <a:endParaRPr lang="en-US" sz="1200" dirty="0"/>
          </a:p>
        </p:txBody>
      </p:sp>
      <p:sp>
        <p:nvSpPr>
          <p:cNvPr id="12" name="Shape 10"/>
          <p:cNvSpPr/>
          <p:nvPr/>
        </p:nvSpPr>
        <p:spPr>
          <a:xfrm>
            <a:off x="4590288" y="2487168"/>
            <a:ext cx="2697480"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4681728" y="2487168"/>
            <a:ext cx="251460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Backlog refinement (60–90 min)</a:t>
            </a:r>
            <a:endParaRPr lang="en-US" sz="1200" dirty="0"/>
          </a:p>
        </p:txBody>
      </p:sp>
      <p:sp>
        <p:nvSpPr>
          <p:cNvPr id="14" name="Shape 12"/>
          <p:cNvSpPr/>
          <p:nvPr/>
        </p:nvSpPr>
        <p:spPr>
          <a:xfrm>
            <a:off x="548640" y="3209544"/>
            <a:ext cx="1645920" cy="621792"/>
          </a:xfrm>
          <a:prstGeom prst="roundRect">
            <a:avLst>
              <a:gd name="adj" fmla="val 11765"/>
            </a:avLst>
          </a:prstGeom>
          <a:solidFill>
            <a:srgbClr val="14B8A6"/>
          </a:solidFill>
          <a:ln w="12700">
            <a:solidFill>
              <a:srgbClr val="14B8A6"/>
            </a:solidFill>
            <a:prstDash val="solid"/>
          </a:ln>
        </p:spPr>
      </p:sp>
      <p:sp>
        <p:nvSpPr>
          <p:cNvPr id="15" name="Text 13"/>
          <p:cNvSpPr txBox="1"/>
          <p:nvPr/>
        </p:nvSpPr>
        <p:spPr>
          <a:xfrm>
            <a:off x="548640" y="3209544"/>
            <a:ext cx="1645920"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Bi-weekly</a:t>
            </a:r>
            <a:endParaRPr lang="en-US" sz="1400" dirty="0"/>
          </a:p>
        </p:txBody>
      </p:sp>
      <p:sp>
        <p:nvSpPr>
          <p:cNvPr id="16" name="Shape 14"/>
          <p:cNvSpPr/>
          <p:nvPr/>
        </p:nvSpPr>
        <p:spPr>
          <a:xfrm>
            <a:off x="2377440" y="3246120"/>
            <a:ext cx="1920240"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2468880" y="3246120"/>
            <a:ext cx="173736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Sprint planning</a:t>
            </a:r>
            <a:endParaRPr lang="en-US" sz="1200" dirty="0"/>
          </a:p>
        </p:txBody>
      </p:sp>
      <p:sp>
        <p:nvSpPr>
          <p:cNvPr id="18" name="Shape 16"/>
          <p:cNvSpPr/>
          <p:nvPr/>
        </p:nvSpPr>
        <p:spPr>
          <a:xfrm>
            <a:off x="4434840" y="3246120"/>
            <a:ext cx="2775204"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4526280" y="3246120"/>
            <a:ext cx="2592324"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Sprint review / demo with users</a:t>
            </a:r>
            <a:endParaRPr lang="en-US" sz="1200" dirty="0"/>
          </a:p>
        </p:txBody>
      </p:sp>
      <p:sp>
        <p:nvSpPr>
          <p:cNvPr id="20" name="Shape 18"/>
          <p:cNvSpPr/>
          <p:nvPr/>
        </p:nvSpPr>
        <p:spPr>
          <a:xfrm>
            <a:off x="7347204" y="3246120"/>
            <a:ext cx="1920240"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7438644" y="3246120"/>
            <a:ext cx="173736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Retrospective</a:t>
            </a:r>
            <a:endParaRPr lang="en-US" sz="1200" dirty="0"/>
          </a:p>
        </p:txBody>
      </p:sp>
      <p:sp>
        <p:nvSpPr>
          <p:cNvPr id="22" name="Shape 20"/>
          <p:cNvSpPr/>
          <p:nvPr/>
        </p:nvSpPr>
        <p:spPr>
          <a:xfrm>
            <a:off x="9404604" y="3246120"/>
            <a:ext cx="1920240"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3" name="Text 21"/>
          <p:cNvSpPr txBox="1"/>
          <p:nvPr/>
        </p:nvSpPr>
        <p:spPr>
          <a:xfrm>
            <a:off x="9496044" y="3246120"/>
            <a:ext cx="1737360"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Design authority</a:t>
            </a:r>
            <a:endParaRPr lang="en-US" sz="1200" dirty="0"/>
          </a:p>
        </p:txBody>
      </p:sp>
      <p:sp>
        <p:nvSpPr>
          <p:cNvPr id="24" name="Shape 22"/>
          <p:cNvSpPr/>
          <p:nvPr/>
        </p:nvSpPr>
        <p:spPr>
          <a:xfrm>
            <a:off x="548640" y="3968496"/>
            <a:ext cx="1645920" cy="621792"/>
          </a:xfrm>
          <a:prstGeom prst="roundRect">
            <a:avLst>
              <a:gd name="adj" fmla="val 11765"/>
            </a:avLst>
          </a:prstGeom>
          <a:solidFill>
            <a:srgbClr val="1D4ED8"/>
          </a:solidFill>
          <a:ln w="12700">
            <a:solidFill>
              <a:srgbClr val="1D4ED8"/>
            </a:solidFill>
            <a:prstDash val="solid"/>
          </a:ln>
        </p:spPr>
      </p:sp>
      <p:sp>
        <p:nvSpPr>
          <p:cNvPr id="25" name="Text 23"/>
          <p:cNvSpPr txBox="1"/>
          <p:nvPr/>
        </p:nvSpPr>
        <p:spPr>
          <a:xfrm>
            <a:off x="548640" y="3968496"/>
            <a:ext cx="1645920"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Monthly</a:t>
            </a:r>
            <a:endParaRPr lang="en-US" sz="1400" dirty="0"/>
          </a:p>
        </p:txBody>
      </p:sp>
      <p:sp>
        <p:nvSpPr>
          <p:cNvPr id="26" name="Shape 24"/>
          <p:cNvSpPr/>
          <p:nvPr/>
        </p:nvSpPr>
        <p:spPr>
          <a:xfrm>
            <a:off x="2377440" y="4005072"/>
            <a:ext cx="2464308"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7" name="Text 25"/>
          <p:cNvSpPr txBox="1"/>
          <p:nvPr/>
        </p:nvSpPr>
        <p:spPr>
          <a:xfrm>
            <a:off x="2468880" y="4005072"/>
            <a:ext cx="2281428"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Portfolio &amp; capacity review</a:t>
            </a:r>
            <a:endParaRPr lang="en-US" sz="1200" dirty="0"/>
          </a:p>
        </p:txBody>
      </p:sp>
      <p:sp>
        <p:nvSpPr>
          <p:cNvPr id="28" name="Shape 26"/>
          <p:cNvSpPr/>
          <p:nvPr/>
        </p:nvSpPr>
        <p:spPr>
          <a:xfrm>
            <a:off x="4978908" y="4005072"/>
            <a:ext cx="2464308"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9" name="Text 27"/>
          <p:cNvSpPr txBox="1"/>
          <p:nvPr/>
        </p:nvSpPr>
        <p:spPr>
          <a:xfrm>
            <a:off x="5070348" y="4005072"/>
            <a:ext cx="2281428"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KPI dashboard to leadership</a:t>
            </a:r>
            <a:endParaRPr lang="en-US" sz="1200" dirty="0"/>
          </a:p>
        </p:txBody>
      </p:sp>
      <p:sp>
        <p:nvSpPr>
          <p:cNvPr id="30" name="Shape 28"/>
          <p:cNvSpPr/>
          <p:nvPr/>
        </p:nvSpPr>
        <p:spPr>
          <a:xfrm>
            <a:off x="548640" y="4727448"/>
            <a:ext cx="1645920" cy="621792"/>
          </a:xfrm>
          <a:prstGeom prst="roundRect">
            <a:avLst>
              <a:gd name="adj" fmla="val 11765"/>
            </a:avLst>
          </a:prstGeom>
          <a:solidFill>
            <a:srgbClr val="7C3AED"/>
          </a:solidFill>
          <a:ln w="12700">
            <a:solidFill>
              <a:srgbClr val="7C3AED"/>
            </a:solidFill>
            <a:prstDash val="solid"/>
          </a:ln>
        </p:spPr>
      </p:sp>
      <p:sp>
        <p:nvSpPr>
          <p:cNvPr id="31" name="Text 29"/>
          <p:cNvSpPr txBox="1"/>
          <p:nvPr/>
        </p:nvSpPr>
        <p:spPr>
          <a:xfrm>
            <a:off x="548640" y="4727448"/>
            <a:ext cx="1645920"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Quarterly</a:t>
            </a:r>
            <a:endParaRPr lang="en-US" sz="1400" dirty="0"/>
          </a:p>
        </p:txBody>
      </p:sp>
      <p:sp>
        <p:nvSpPr>
          <p:cNvPr id="32" name="Shape 30"/>
          <p:cNvSpPr/>
          <p:nvPr/>
        </p:nvSpPr>
        <p:spPr>
          <a:xfrm>
            <a:off x="2377440" y="4764024"/>
            <a:ext cx="2619756"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33" name="Text 31"/>
          <p:cNvSpPr txBox="1"/>
          <p:nvPr/>
        </p:nvSpPr>
        <p:spPr>
          <a:xfrm>
            <a:off x="2468880" y="4764024"/>
            <a:ext cx="2436876"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Roadmap refresh / PI planning</a:t>
            </a:r>
            <a:endParaRPr lang="en-US" sz="1200" dirty="0"/>
          </a:p>
        </p:txBody>
      </p:sp>
      <p:sp>
        <p:nvSpPr>
          <p:cNvPr id="34" name="Shape 32"/>
          <p:cNvSpPr/>
          <p:nvPr/>
        </p:nvSpPr>
        <p:spPr>
          <a:xfrm>
            <a:off x="5134356" y="4764024"/>
            <a:ext cx="2775204"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35" name="Text 33"/>
          <p:cNvSpPr txBox="1"/>
          <p:nvPr/>
        </p:nvSpPr>
        <p:spPr>
          <a:xfrm>
            <a:off x="5225796" y="4764024"/>
            <a:ext cx="2592324"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Tech debt register health check</a:t>
            </a:r>
            <a:endParaRPr lang="en-US" sz="1200" dirty="0"/>
          </a:p>
        </p:txBody>
      </p:sp>
      <p:sp>
        <p:nvSpPr>
          <p:cNvPr id="36" name="Shape 34"/>
          <p:cNvSpPr/>
          <p:nvPr/>
        </p:nvSpPr>
        <p:spPr>
          <a:xfrm>
            <a:off x="548640" y="5486400"/>
            <a:ext cx="1645920" cy="621792"/>
          </a:xfrm>
          <a:prstGeom prst="roundRect">
            <a:avLst>
              <a:gd name="adj" fmla="val 11765"/>
            </a:avLst>
          </a:prstGeom>
          <a:solidFill>
            <a:srgbClr val="B45309"/>
          </a:solidFill>
          <a:ln w="12700">
            <a:solidFill>
              <a:srgbClr val="B45309"/>
            </a:solidFill>
            <a:prstDash val="solid"/>
          </a:ln>
        </p:spPr>
      </p:sp>
      <p:sp>
        <p:nvSpPr>
          <p:cNvPr id="37" name="Text 35"/>
          <p:cNvSpPr txBox="1"/>
          <p:nvPr/>
        </p:nvSpPr>
        <p:spPr>
          <a:xfrm>
            <a:off x="548640" y="5486400"/>
            <a:ext cx="1645920"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Semi-annual</a:t>
            </a:r>
            <a:endParaRPr lang="en-US" sz="1400" dirty="0"/>
          </a:p>
        </p:txBody>
      </p:sp>
      <p:sp>
        <p:nvSpPr>
          <p:cNvPr id="38" name="Shape 36"/>
          <p:cNvSpPr/>
          <p:nvPr/>
        </p:nvSpPr>
        <p:spPr>
          <a:xfrm>
            <a:off x="2377440" y="5522976"/>
            <a:ext cx="5495544" cy="548640"/>
          </a:xfrm>
          <a:prstGeom prst="roundRect">
            <a:avLst>
              <a:gd name="adj" fmla="val 13333"/>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39" name="Text 37"/>
          <p:cNvSpPr txBox="1"/>
          <p:nvPr/>
        </p:nvSpPr>
        <p:spPr>
          <a:xfrm>
            <a:off x="2468880" y="5522976"/>
            <a:ext cx="5312664" cy="5486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SAP innovation scan (release notes, Pathfinder, Fiori app library)</a:t>
            </a:r>
            <a:endParaRPr lang="en-US" sz="1200" dirty="0"/>
          </a:p>
        </p:txBody>
      </p:sp>
      <p:sp>
        <p:nvSpPr>
          <p:cNvPr id="40" name="Text 38"/>
          <p:cNvSpPr txBox="1"/>
          <p:nvPr/>
        </p:nvSpPr>
        <p:spPr>
          <a:xfrm>
            <a:off x="548640" y="6263640"/>
            <a:ext cx="7315200" cy="228600"/>
          </a:xfrm>
          <a:prstGeom prst="rect">
            <a:avLst/>
          </a:prstGeom>
          <a:noFill/>
          <a:ln/>
        </p:spPr>
        <p:txBody>
          <a:bodyPr wrap="square" lIns="0" tIns="0" rIns="0" bIns="0" rtlCol="0" anchor="t"/>
          <a:lstStyle/>
          <a:p>
            <a:pPr algn="l" indent="0" marL="0">
              <a:buNone/>
            </a:pPr>
            <a:r>
              <a:rPr lang="en-US" sz="1000" i="1" dirty="0">
                <a:solidFill>
                  <a:srgbClr val="6B7280"/>
                </a:solidFill>
                <a:latin typeface="Calibri" pitchFamily="34" charset="0"/>
                <a:ea typeface="Calibri" pitchFamily="34" charset="-122"/>
                <a:cs typeface="Calibri" pitchFamily="34" charset="-120"/>
              </a:rPr>
              <a:t>Details, participants, inputs and outputs: Planner → Cadence tab.</a:t>
            </a:r>
            <a:endParaRPr lang="en-US" sz="1000" dirty="0"/>
          </a:p>
        </p:txBody>
      </p:sp>
      <p:sp>
        <p:nvSpPr>
          <p:cNvPr id="41" name="Text 39"/>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Making progress visible</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A handful of KPIs per dimension, reviewed monthly (baselines to be measured in discovery)</a:t>
            </a:r>
            <a:endParaRPr lang="en-US" sz="1600" dirty="0"/>
          </a:p>
        </p:txBody>
      </p:sp>
      <p:sp>
        <p:nvSpPr>
          <p:cNvPr id="4" name="Shape 2"/>
          <p:cNvSpPr/>
          <p:nvPr/>
        </p:nvSpPr>
        <p:spPr>
          <a:xfrm>
            <a:off x="548640" y="1691640"/>
            <a:ext cx="265176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1874520"/>
            <a:ext cx="502920" cy="502920"/>
          </a:xfrm>
          <a:prstGeom prst="ellipse">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862279" y="2005279"/>
            <a:ext cx="241402" cy="241402"/>
          </a:xfrm>
          <a:prstGeom prst="rect">
            <a:avLst/>
          </a:prstGeom>
        </p:spPr>
      </p:pic>
      <p:sp>
        <p:nvSpPr>
          <p:cNvPr id="7" name="Text 4"/>
          <p:cNvSpPr txBox="1"/>
          <p:nvPr/>
        </p:nvSpPr>
        <p:spPr>
          <a:xfrm>
            <a:off x="1371600" y="1874520"/>
            <a:ext cx="1737360" cy="50292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Fiori adoption</a:t>
            </a:r>
            <a:endParaRPr lang="en-US" sz="1400" dirty="0"/>
          </a:p>
        </p:txBody>
      </p:sp>
      <p:sp>
        <p:nvSpPr>
          <p:cNvPr id="8" name="Text 5"/>
          <p:cNvSpPr txBox="1"/>
          <p:nvPr/>
        </p:nvSpPr>
        <p:spPr>
          <a:xfrm>
            <a:off x="731520" y="2423160"/>
            <a:ext cx="2286000" cy="365760"/>
          </a:xfrm>
          <a:prstGeom prst="rect">
            <a:avLst/>
          </a:prstGeom>
          <a:noFill/>
          <a:ln/>
        </p:spPr>
        <p:txBody>
          <a:bodyPr wrap="square" lIns="0" tIns="0" rIns="0" bIns="0" rtlCol="0" anchor="t"/>
          <a:lstStyle/>
          <a:p>
            <a:pPr algn="l" indent="0" marL="0">
              <a:buNone/>
            </a:pPr>
            <a:r>
              <a:rPr lang="en-US" sz="2000" b="1" dirty="0">
                <a:solidFill>
                  <a:srgbClr val="0F766E"/>
                </a:solidFill>
                <a:latin typeface="Arial" pitchFamily="34" charset="0"/>
                <a:ea typeface="Arial" pitchFamily="34" charset="-122"/>
                <a:cs typeface="Arial" pitchFamily="34" charset="-120"/>
              </a:rPr>
              <a:t>0% → 75%</a:t>
            </a:r>
            <a:endParaRPr lang="en-US" sz="2000" dirty="0"/>
          </a:p>
        </p:txBody>
      </p:sp>
      <p:sp>
        <p:nvSpPr>
          <p:cNvPr id="9" name="Text 6"/>
          <p:cNvSpPr txBox="1"/>
          <p:nvPr/>
        </p:nvSpPr>
        <p:spPr>
          <a:xfrm>
            <a:off x="731520" y="2770632"/>
            <a:ext cx="2286000" cy="2743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 active users on Fiori</a:t>
            </a:r>
            <a:endParaRPr lang="en-US" sz="1100" dirty="0"/>
          </a:p>
        </p:txBody>
      </p:sp>
      <p:sp>
        <p:nvSpPr>
          <p:cNvPr id="10" name="Shape 7"/>
          <p:cNvSpPr/>
          <p:nvPr/>
        </p:nvSpPr>
        <p:spPr>
          <a:xfrm>
            <a:off x="3383280" y="1691640"/>
            <a:ext cx="265176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3566160" y="1874520"/>
            <a:ext cx="502920" cy="502920"/>
          </a:xfrm>
          <a:prstGeom prst="ellipse">
            <a:avLst/>
          </a:prstGeom>
          <a:solidFill>
            <a:srgbClr val="0F766E"/>
          </a:solidFill>
          <a:ln w="12700">
            <a:solidFill>
              <a:srgbClr val="0F766E"/>
            </a:solidFill>
            <a:prstDash val="solid"/>
          </a:ln>
        </p:spPr>
      </p:sp>
      <p:pic>
        <p:nvPicPr>
          <p:cNvPr id="12" name="Image 1" descr="preencoded.png">    </p:cNvPr>
          <p:cNvPicPr>
            <a:picLocks noChangeAspect="1"/>
          </p:cNvPicPr>
          <p:nvPr/>
        </p:nvPicPr>
        <p:blipFill>
          <a:blip r:embed="rId2"/>
          <a:stretch>
            <a:fillRect/>
          </a:stretch>
        </p:blipFill>
        <p:spPr>
          <a:xfrm>
            <a:off x="3696919" y="2005279"/>
            <a:ext cx="241402" cy="241402"/>
          </a:xfrm>
          <a:prstGeom prst="rect">
            <a:avLst/>
          </a:prstGeom>
        </p:spPr>
      </p:pic>
      <p:sp>
        <p:nvSpPr>
          <p:cNvPr id="13" name="Text 9"/>
          <p:cNvSpPr txBox="1"/>
          <p:nvPr/>
        </p:nvSpPr>
        <p:spPr>
          <a:xfrm>
            <a:off x="4206240" y="1874520"/>
            <a:ext cx="1737360" cy="50292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Work Zone reach</a:t>
            </a:r>
            <a:endParaRPr lang="en-US" sz="1400" dirty="0"/>
          </a:p>
        </p:txBody>
      </p:sp>
      <p:sp>
        <p:nvSpPr>
          <p:cNvPr id="14" name="Text 10"/>
          <p:cNvSpPr txBox="1"/>
          <p:nvPr/>
        </p:nvSpPr>
        <p:spPr>
          <a:xfrm>
            <a:off x="3566160" y="2423160"/>
            <a:ext cx="2286000" cy="365760"/>
          </a:xfrm>
          <a:prstGeom prst="rect">
            <a:avLst/>
          </a:prstGeom>
          <a:noFill/>
          <a:ln/>
        </p:spPr>
        <p:txBody>
          <a:bodyPr wrap="square" lIns="0" tIns="0" rIns="0" bIns="0" rtlCol="0" anchor="t"/>
          <a:lstStyle/>
          <a:p>
            <a:pPr algn="l" indent="0" marL="0">
              <a:buNone/>
            </a:pPr>
            <a:r>
              <a:rPr lang="en-US" sz="2000" b="1" dirty="0">
                <a:solidFill>
                  <a:srgbClr val="0F766E"/>
                </a:solidFill>
                <a:latin typeface="Arial" pitchFamily="34" charset="0"/>
                <a:ea typeface="Arial" pitchFamily="34" charset="-122"/>
                <a:cs typeface="Arial" pitchFamily="34" charset="-120"/>
              </a:rPr>
              <a:t>0 → 600</a:t>
            </a:r>
            <a:endParaRPr lang="en-US" sz="2000" dirty="0"/>
          </a:p>
        </p:txBody>
      </p:sp>
      <p:sp>
        <p:nvSpPr>
          <p:cNvPr id="15" name="Text 11"/>
          <p:cNvSpPr txBox="1"/>
          <p:nvPr/>
        </p:nvSpPr>
        <p:spPr>
          <a:xfrm>
            <a:off x="3566160" y="2770632"/>
            <a:ext cx="2286000" cy="2743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Users with a role-based site</a:t>
            </a:r>
            <a:endParaRPr lang="en-US" sz="1100" dirty="0"/>
          </a:p>
        </p:txBody>
      </p:sp>
      <p:sp>
        <p:nvSpPr>
          <p:cNvPr id="16" name="Shape 12"/>
          <p:cNvSpPr/>
          <p:nvPr/>
        </p:nvSpPr>
        <p:spPr>
          <a:xfrm>
            <a:off x="6217920" y="1691640"/>
            <a:ext cx="265176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6400800" y="1874520"/>
            <a:ext cx="502920" cy="502920"/>
          </a:xfrm>
          <a:prstGeom prst="ellipse">
            <a:avLst/>
          </a:prstGeom>
          <a:solidFill>
            <a:srgbClr val="0F766E"/>
          </a:solidFill>
          <a:ln w="12700">
            <a:solidFill>
              <a:srgbClr val="0F766E"/>
            </a:solidFill>
            <a:prstDash val="solid"/>
          </a:ln>
        </p:spPr>
      </p:sp>
      <p:pic>
        <p:nvPicPr>
          <p:cNvPr id="18" name="Image 2" descr="preencoded.png">    </p:cNvPr>
          <p:cNvPicPr>
            <a:picLocks noChangeAspect="1"/>
          </p:cNvPicPr>
          <p:nvPr/>
        </p:nvPicPr>
        <p:blipFill>
          <a:blip r:embed="rId3"/>
          <a:stretch>
            <a:fillRect/>
          </a:stretch>
        </p:blipFill>
        <p:spPr>
          <a:xfrm>
            <a:off x="6531559" y="2005279"/>
            <a:ext cx="241402" cy="241402"/>
          </a:xfrm>
          <a:prstGeom prst="rect">
            <a:avLst/>
          </a:prstGeom>
        </p:spPr>
      </p:pic>
      <p:sp>
        <p:nvSpPr>
          <p:cNvPr id="19" name="Text 14"/>
          <p:cNvSpPr txBox="1"/>
          <p:nvPr/>
        </p:nvSpPr>
        <p:spPr>
          <a:xfrm>
            <a:off x="7040880" y="1874520"/>
            <a:ext cx="1737360" cy="50292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Integration</a:t>
            </a:r>
            <a:endParaRPr lang="en-US" sz="1400" dirty="0"/>
          </a:p>
        </p:txBody>
      </p:sp>
      <p:sp>
        <p:nvSpPr>
          <p:cNvPr id="20" name="Text 15"/>
          <p:cNvSpPr txBox="1"/>
          <p:nvPr/>
        </p:nvSpPr>
        <p:spPr>
          <a:xfrm>
            <a:off x="6400800" y="2423160"/>
            <a:ext cx="2286000" cy="365760"/>
          </a:xfrm>
          <a:prstGeom prst="rect">
            <a:avLst/>
          </a:prstGeom>
          <a:noFill/>
          <a:ln/>
        </p:spPr>
        <p:txBody>
          <a:bodyPr wrap="square" lIns="0" tIns="0" rIns="0" bIns="0" rtlCol="0" anchor="t"/>
          <a:lstStyle/>
          <a:p>
            <a:pPr algn="l" indent="0" marL="0">
              <a:buNone/>
            </a:pPr>
            <a:r>
              <a:rPr lang="en-US" sz="2000" b="1" dirty="0">
                <a:solidFill>
                  <a:srgbClr val="0F766E"/>
                </a:solidFill>
                <a:latin typeface="Arial" pitchFamily="34" charset="0"/>
                <a:ea typeface="Arial" pitchFamily="34" charset="-122"/>
                <a:cs typeface="Arial" pitchFamily="34" charset="-120"/>
              </a:rPr>
              <a:t>5% → 70%</a:t>
            </a:r>
            <a:endParaRPr lang="en-US" sz="2000" dirty="0"/>
          </a:p>
        </p:txBody>
      </p:sp>
      <p:sp>
        <p:nvSpPr>
          <p:cNvPr id="21" name="Text 16"/>
          <p:cNvSpPr txBox="1"/>
          <p:nvPr/>
        </p:nvSpPr>
        <p:spPr>
          <a:xfrm>
            <a:off x="6400800" y="2770632"/>
            <a:ext cx="2286000" cy="2743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 interfaces on Integration Suite</a:t>
            </a:r>
            <a:endParaRPr lang="en-US" sz="1100" dirty="0"/>
          </a:p>
        </p:txBody>
      </p:sp>
      <p:sp>
        <p:nvSpPr>
          <p:cNvPr id="22" name="Shape 17"/>
          <p:cNvSpPr/>
          <p:nvPr/>
        </p:nvSpPr>
        <p:spPr>
          <a:xfrm>
            <a:off x="9052560" y="1691640"/>
            <a:ext cx="265176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9235440" y="1874520"/>
            <a:ext cx="502920" cy="502920"/>
          </a:xfrm>
          <a:prstGeom prst="ellipse">
            <a:avLst/>
          </a:prstGeom>
          <a:solidFill>
            <a:srgbClr val="0F766E"/>
          </a:solidFill>
          <a:ln w="12700">
            <a:solidFill>
              <a:srgbClr val="0F766E"/>
            </a:solidFill>
            <a:prstDash val="solid"/>
          </a:ln>
        </p:spPr>
      </p:sp>
      <p:pic>
        <p:nvPicPr>
          <p:cNvPr id="24" name="Image 3" descr="preencoded.png">    </p:cNvPr>
          <p:cNvPicPr>
            <a:picLocks noChangeAspect="1"/>
          </p:cNvPicPr>
          <p:nvPr/>
        </p:nvPicPr>
        <p:blipFill>
          <a:blip r:embed="rId4"/>
          <a:stretch>
            <a:fillRect/>
          </a:stretch>
        </p:blipFill>
        <p:spPr>
          <a:xfrm>
            <a:off x="9366199" y="2005279"/>
            <a:ext cx="241402" cy="241402"/>
          </a:xfrm>
          <a:prstGeom prst="rect">
            <a:avLst/>
          </a:prstGeom>
        </p:spPr>
      </p:pic>
      <p:sp>
        <p:nvSpPr>
          <p:cNvPr id="25" name="Text 19"/>
          <p:cNvSpPr txBox="1"/>
          <p:nvPr/>
        </p:nvSpPr>
        <p:spPr>
          <a:xfrm>
            <a:off x="9875520" y="1874520"/>
            <a:ext cx="1737360" cy="50292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Clean core</a:t>
            </a:r>
            <a:endParaRPr lang="en-US" sz="1400" dirty="0"/>
          </a:p>
        </p:txBody>
      </p:sp>
      <p:sp>
        <p:nvSpPr>
          <p:cNvPr id="26" name="Text 20"/>
          <p:cNvSpPr txBox="1"/>
          <p:nvPr/>
        </p:nvSpPr>
        <p:spPr>
          <a:xfrm>
            <a:off x="9235440" y="2423160"/>
            <a:ext cx="2286000" cy="365760"/>
          </a:xfrm>
          <a:prstGeom prst="rect">
            <a:avLst/>
          </a:prstGeom>
          <a:noFill/>
          <a:ln/>
        </p:spPr>
        <p:txBody>
          <a:bodyPr wrap="square" lIns="0" tIns="0" rIns="0" bIns="0" rtlCol="0" anchor="t"/>
          <a:lstStyle/>
          <a:p>
            <a:pPr algn="l" indent="0" marL="0">
              <a:buNone/>
            </a:pPr>
            <a:r>
              <a:rPr lang="en-US" sz="2000" b="1" dirty="0">
                <a:solidFill>
                  <a:srgbClr val="0F766E"/>
                </a:solidFill>
                <a:latin typeface="Arial" pitchFamily="34" charset="0"/>
                <a:ea typeface="Arial" pitchFamily="34" charset="-122"/>
                <a:cs typeface="Arial" pitchFamily="34" charset="-120"/>
              </a:rPr>
              <a:t>↓ 50%</a:t>
            </a:r>
            <a:endParaRPr lang="en-US" sz="2000" dirty="0"/>
          </a:p>
        </p:txBody>
      </p:sp>
      <p:sp>
        <p:nvSpPr>
          <p:cNvPr id="27" name="Text 21"/>
          <p:cNvSpPr txBox="1"/>
          <p:nvPr/>
        </p:nvSpPr>
        <p:spPr>
          <a:xfrm>
            <a:off x="9235440" y="2770632"/>
            <a:ext cx="2286000" cy="2743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ATC level C/D findings</a:t>
            </a:r>
            <a:endParaRPr lang="en-US" sz="1100" dirty="0"/>
          </a:p>
        </p:txBody>
      </p:sp>
      <p:sp>
        <p:nvSpPr>
          <p:cNvPr id="28" name="Shape 22"/>
          <p:cNvSpPr/>
          <p:nvPr/>
        </p:nvSpPr>
        <p:spPr>
          <a:xfrm>
            <a:off x="548640" y="3291840"/>
            <a:ext cx="265176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9" name="Shape 23"/>
          <p:cNvSpPr/>
          <p:nvPr/>
        </p:nvSpPr>
        <p:spPr>
          <a:xfrm>
            <a:off x="731520" y="3474720"/>
            <a:ext cx="502920" cy="502920"/>
          </a:xfrm>
          <a:prstGeom prst="ellipse">
            <a:avLst/>
          </a:prstGeom>
          <a:solidFill>
            <a:srgbClr val="0F766E"/>
          </a:solidFill>
          <a:ln w="12700">
            <a:solidFill>
              <a:srgbClr val="0F766E"/>
            </a:solidFill>
            <a:prstDash val="solid"/>
          </a:ln>
        </p:spPr>
      </p:sp>
      <p:pic>
        <p:nvPicPr>
          <p:cNvPr id="30" name="Image 4" descr="preencoded.png">    </p:cNvPr>
          <p:cNvPicPr>
            <a:picLocks noChangeAspect="1"/>
          </p:cNvPicPr>
          <p:nvPr/>
        </p:nvPicPr>
        <p:blipFill>
          <a:blip r:embed="rId5"/>
          <a:stretch>
            <a:fillRect/>
          </a:stretch>
        </p:blipFill>
        <p:spPr>
          <a:xfrm>
            <a:off x="862279" y="3605479"/>
            <a:ext cx="241402" cy="241402"/>
          </a:xfrm>
          <a:prstGeom prst="rect">
            <a:avLst/>
          </a:prstGeom>
        </p:spPr>
      </p:pic>
      <p:sp>
        <p:nvSpPr>
          <p:cNvPr id="31" name="Text 24"/>
          <p:cNvSpPr txBox="1"/>
          <p:nvPr/>
        </p:nvSpPr>
        <p:spPr>
          <a:xfrm>
            <a:off x="1371600" y="3474720"/>
            <a:ext cx="1737360" cy="50292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Data quality</a:t>
            </a:r>
            <a:endParaRPr lang="en-US" sz="1400" dirty="0"/>
          </a:p>
        </p:txBody>
      </p:sp>
      <p:sp>
        <p:nvSpPr>
          <p:cNvPr id="32" name="Text 25"/>
          <p:cNvSpPr txBox="1"/>
          <p:nvPr/>
        </p:nvSpPr>
        <p:spPr>
          <a:xfrm>
            <a:off x="731520" y="4023360"/>
            <a:ext cx="2286000" cy="365760"/>
          </a:xfrm>
          <a:prstGeom prst="rect">
            <a:avLst/>
          </a:prstGeom>
          <a:noFill/>
          <a:ln/>
        </p:spPr>
        <p:txBody>
          <a:bodyPr wrap="square" lIns="0" tIns="0" rIns="0" bIns="0" rtlCol="0" anchor="t"/>
          <a:lstStyle/>
          <a:p>
            <a:pPr algn="l" indent="0" marL="0">
              <a:buNone/>
            </a:pPr>
            <a:r>
              <a:rPr lang="en-US" sz="2000" b="1" dirty="0">
                <a:solidFill>
                  <a:srgbClr val="0F766E"/>
                </a:solidFill>
                <a:latin typeface="Arial" pitchFamily="34" charset="0"/>
                <a:ea typeface="Arial" pitchFamily="34" charset="-122"/>
                <a:cs typeface="Arial" pitchFamily="34" charset="-120"/>
              </a:rPr>
              <a:t>72% → 95%</a:t>
            </a:r>
            <a:endParaRPr lang="en-US" sz="2000" dirty="0"/>
          </a:p>
        </p:txBody>
      </p:sp>
      <p:sp>
        <p:nvSpPr>
          <p:cNvPr id="33" name="Text 26"/>
          <p:cNvSpPr txBox="1"/>
          <p:nvPr/>
        </p:nvSpPr>
        <p:spPr>
          <a:xfrm>
            <a:off x="731520" y="4370832"/>
            <a:ext cx="2286000" cy="2743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DQ rule pass rate</a:t>
            </a:r>
            <a:endParaRPr lang="en-US" sz="1100" dirty="0"/>
          </a:p>
        </p:txBody>
      </p:sp>
      <p:sp>
        <p:nvSpPr>
          <p:cNvPr id="34" name="Shape 27"/>
          <p:cNvSpPr/>
          <p:nvPr/>
        </p:nvSpPr>
        <p:spPr>
          <a:xfrm>
            <a:off x="3383280" y="3291840"/>
            <a:ext cx="265176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35" name="Shape 28"/>
          <p:cNvSpPr/>
          <p:nvPr/>
        </p:nvSpPr>
        <p:spPr>
          <a:xfrm>
            <a:off x="3566160" y="3474720"/>
            <a:ext cx="502920" cy="502920"/>
          </a:xfrm>
          <a:prstGeom prst="ellipse">
            <a:avLst/>
          </a:prstGeom>
          <a:solidFill>
            <a:srgbClr val="0F766E"/>
          </a:solidFill>
          <a:ln w="12700">
            <a:solidFill>
              <a:srgbClr val="0F766E"/>
            </a:solidFill>
            <a:prstDash val="solid"/>
          </a:ln>
        </p:spPr>
      </p:sp>
      <p:pic>
        <p:nvPicPr>
          <p:cNvPr id="36" name="Image 5" descr="preencoded.png">    </p:cNvPr>
          <p:cNvPicPr>
            <a:picLocks noChangeAspect="1"/>
          </p:cNvPicPr>
          <p:nvPr/>
        </p:nvPicPr>
        <p:blipFill>
          <a:blip r:embed="rId6"/>
          <a:stretch>
            <a:fillRect/>
          </a:stretch>
        </p:blipFill>
        <p:spPr>
          <a:xfrm>
            <a:off x="3696919" y="3605479"/>
            <a:ext cx="241402" cy="241402"/>
          </a:xfrm>
          <a:prstGeom prst="rect">
            <a:avLst/>
          </a:prstGeom>
        </p:spPr>
      </p:pic>
      <p:sp>
        <p:nvSpPr>
          <p:cNvPr id="37" name="Text 29"/>
          <p:cNvSpPr txBox="1"/>
          <p:nvPr/>
        </p:nvSpPr>
        <p:spPr>
          <a:xfrm>
            <a:off x="4206240" y="3474720"/>
            <a:ext cx="1737360" cy="50292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Custom fields</a:t>
            </a:r>
            <a:endParaRPr lang="en-US" sz="1400" dirty="0"/>
          </a:p>
        </p:txBody>
      </p:sp>
      <p:sp>
        <p:nvSpPr>
          <p:cNvPr id="38" name="Text 30"/>
          <p:cNvSpPr txBox="1"/>
          <p:nvPr/>
        </p:nvSpPr>
        <p:spPr>
          <a:xfrm>
            <a:off x="3566160" y="4023360"/>
            <a:ext cx="2286000" cy="365760"/>
          </a:xfrm>
          <a:prstGeom prst="rect">
            <a:avLst/>
          </a:prstGeom>
          <a:noFill/>
          <a:ln/>
        </p:spPr>
        <p:txBody>
          <a:bodyPr wrap="square" lIns="0" tIns="0" rIns="0" bIns="0" rtlCol="0" anchor="t"/>
          <a:lstStyle/>
          <a:p>
            <a:pPr algn="l" indent="0" marL="0">
              <a:buNone/>
            </a:pPr>
            <a:r>
              <a:rPr lang="en-US" sz="2000" b="1" dirty="0">
                <a:solidFill>
                  <a:srgbClr val="0F766E"/>
                </a:solidFill>
                <a:latin typeface="Arial" pitchFamily="34" charset="0"/>
                <a:ea typeface="Arial" pitchFamily="34" charset="-122"/>
                <a:cs typeface="Arial" pitchFamily="34" charset="-120"/>
              </a:rPr>
              <a:t>0% → 90%</a:t>
            </a:r>
            <a:endParaRPr lang="en-US" sz="2000" dirty="0"/>
          </a:p>
        </p:txBody>
      </p:sp>
      <p:sp>
        <p:nvSpPr>
          <p:cNvPr id="39" name="Text 31"/>
          <p:cNvSpPr txBox="1"/>
          <p:nvPr/>
        </p:nvSpPr>
        <p:spPr>
          <a:xfrm>
            <a:off x="3566160" y="4370832"/>
            <a:ext cx="2286000" cy="2743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Z-fields mapped or exposed</a:t>
            </a:r>
            <a:endParaRPr lang="en-US" sz="1100" dirty="0"/>
          </a:p>
        </p:txBody>
      </p:sp>
      <p:sp>
        <p:nvSpPr>
          <p:cNvPr id="40" name="Shape 32"/>
          <p:cNvSpPr/>
          <p:nvPr/>
        </p:nvSpPr>
        <p:spPr>
          <a:xfrm>
            <a:off x="6217920" y="3291840"/>
            <a:ext cx="265176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41" name="Shape 33"/>
          <p:cNvSpPr/>
          <p:nvPr/>
        </p:nvSpPr>
        <p:spPr>
          <a:xfrm>
            <a:off x="6400800" y="3474720"/>
            <a:ext cx="502920" cy="502920"/>
          </a:xfrm>
          <a:prstGeom prst="ellipse">
            <a:avLst/>
          </a:prstGeom>
          <a:solidFill>
            <a:srgbClr val="0F766E"/>
          </a:solidFill>
          <a:ln w="12700">
            <a:solidFill>
              <a:srgbClr val="0F766E"/>
            </a:solidFill>
            <a:prstDash val="solid"/>
          </a:ln>
        </p:spPr>
      </p:sp>
      <p:pic>
        <p:nvPicPr>
          <p:cNvPr id="42" name="Image 6" descr="preencoded.png">    </p:cNvPr>
          <p:cNvPicPr>
            <a:picLocks noChangeAspect="1"/>
          </p:cNvPicPr>
          <p:nvPr/>
        </p:nvPicPr>
        <p:blipFill>
          <a:blip r:embed="rId7"/>
          <a:stretch>
            <a:fillRect/>
          </a:stretch>
        </p:blipFill>
        <p:spPr>
          <a:xfrm>
            <a:off x="6531559" y="3605479"/>
            <a:ext cx="241402" cy="241402"/>
          </a:xfrm>
          <a:prstGeom prst="rect">
            <a:avLst/>
          </a:prstGeom>
        </p:spPr>
      </p:pic>
      <p:sp>
        <p:nvSpPr>
          <p:cNvPr id="43" name="Text 34"/>
          <p:cNvSpPr txBox="1"/>
          <p:nvPr/>
        </p:nvSpPr>
        <p:spPr>
          <a:xfrm>
            <a:off x="7040880" y="3474720"/>
            <a:ext cx="1737360" cy="50292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Flow</a:t>
            </a:r>
            <a:endParaRPr lang="en-US" sz="1400" dirty="0"/>
          </a:p>
        </p:txBody>
      </p:sp>
      <p:sp>
        <p:nvSpPr>
          <p:cNvPr id="44" name="Text 35"/>
          <p:cNvSpPr txBox="1"/>
          <p:nvPr/>
        </p:nvSpPr>
        <p:spPr>
          <a:xfrm>
            <a:off x="6400800" y="4023360"/>
            <a:ext cx="2286000" cy="365760"/>
          </a:xfrm>
          <a:prstGeom prst="rect">
            <a:avLst/>
          </a:prstGeom>
          <a:noFill/>
          <a:ln/>
        </p:spPr>
        <p:txBody>
          <a:bodyPr wrap="square" lIns="0" tIns="0" rIns="0" bIns="0" rtlCol="0" anchor="t"/>
          <a:lstStyle/>
          <a:p>
            <a:pPr algn="l" indent="0" marL="0">
              <a:buNone/>
            </a:pPr>
            <a:r>
              <a:rPr lang="en-US" sz="2000" b="1" dirty="0">
                <a:solidFill>
                  <a:srgbClr val="0F766E"/>
                </a:solidFill>
                <a:latin typeface="Arial" pitchFamily="34" charset="0"/>
                <a:ea typeface="Arial" pitchFamily="34" charset="-122"/>
                <a:cs typeface="Arial" pitchFamily="34" charset="-120"/>
              </a:rPr>
              <a:t>45 → 20</a:t>
            </a:r>
            <a:endParaRPr lang="en-US" sz="2000" dirty="0"/>
          </a:p>
        </p:txBody>
      </p:sp>
      <p:sp>
        <p:nvSpPr>
          <p:cNvPr id="45" name="Text 36"/>
          <p:cNvSpPr txBox="1"/>
          <p:nvPr/>
        </p:nvSpPr>
        <p:spPr>
          <a:xfrm>
            <a:off x="6400800" y="4370832"/>
            <a:ext cx="2286000" cy="2743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Median lead time (days)</a:t>
            </a:r>
            <a:endParaRPr lang="en-US" sz="1100" dirty="0"/>
          </a:p>
        </p:txBody>
      </p:sp>
      <p:sp>
        <p:nvSpPr>
          <p:cNvPr id="46" name="Shape 37"/>
          <p:cNvSpPr/>
          <p:nvPr/>
        </p:nvSpPr>
        <p:spPr>
          <a:xfrm>
            <a:off x="9052560" y="3291840"/>
            <a:ext cx="2651760" cy="1417320"/>
          </a:xfrm>
          <a:prstGeom prst="roundRect">
            <a:avLst>
              <a:gd name="adj" fmla="val 516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47" name="Shape 38"/>
          <p:cNvSpPr/>
          <p:nvPr/>
        </p:nvSpPr>
        <p:spPr>
          <a:xfrm>
            <a:off x="9235440" y="3474720"/>
            <a:ext cx="502920" cy="502920"/>
          </a:xfrm>
          <a:prstGeom prst="ellipse">
            <a:avLst/>
          </a:prstGeom>
          <a:solidFill>
            <a:srgbClr val="0F766E"/>
          </a:solidFill>
          <a:ln w="12700">
            <a:solidFill>
              <a:srgbClr val="0F766E"/>
            </a:solidFill>
            <a:prstDash val="solid"/>
          </a:ln>
        </p:spPr>
      </p:sp>
      <p:pic>
        <p:nvPicPr>
          <p:cNvPr id="48" name="Image 7" descr="preencoded.png">    </p:cNvPr>
          <p:cNvPicPr>
            <a:picLocks noChangeAspect="1"/>
          </p:cNvPicPr>
          <p:nvPr/>
        </p:nvPicPr>
        <p:blipFill>
          <a:blip r:embed="rId8"/>
          <a:stretch>
            <a:fillRect/>
          </a:stretch>
        </p:blipFill>
        <p:spPr>
          <a:xfrm>
            <a:off x="9366199" y="3605479"/>
            <a:ext cx="241402" cy="241402"/>
          </a:xfrm>
          <a:prstGeom prst="rect">
            <a:avLst/>
          </a:prstGeom>
        </p:spPr>
      </p:pic>
      <p:sp>
        <p:nvSpPr>
          <p:cNvPr id="49" name="Text 39"/>
          <p:cNvSpPr txBox="1"/>
          <p:nvPr/>
        </p:nvSpPr>
        <p:spPr>
          <a:xfrm>
            <a:off x="9875520" y="3474720"/>
            <a:ext cx="1737360" cy="502920"/>
          </a:xfrm>
          <a:prstGeom prst="rect">
            <a:avLst/>
          </a:prstGeom>
          <a:noFill/>
          <a:ln/>
        </p:spPr>
        <p:txBody>
          <a:bodyPr wrap="square" lIns="0" tIns="0" rIns="0" bIns="0" rtlCol="0" anchor="ctr"/>
          <a:lstStyle/>
          <a:p>
            <a:pPr algn="l" indent="0" marL="0">
              <a:buNone/>
            </a:pPr>
            <a:r>
              <a:rPr lang="en-US" sz="1400" b="1" dirty="0">
                <a:solidFill>
                  <a:srgbClr val="17313B"/>
                </a:solidFill>
                <a:latin typeface="Calibri" pitchFamily="34" charset="0"/>
                <a:ea typeface="Calibri" pitchFamily="34" charset="-122"/>
                <a:cs typeface="Calibri" pitchFamily="34" charset="-120"/>
              </a:rPr>
              <a:t>Release currency</a:t>
            </a:r>
            <a:endParaRPr lang="en-US" sz="1400" dirty="0"/>
          </a:p>
        </p:txBody>
      </p:sp>
      <p:sp>
        <p:nvSpPr>
          <p:cNvPr id="50" name="Text 40"/>
          <p:cNvSpPr txBox="1"/>
          <p:nvPr/>
        </p:nvSpPr>
        <p:spPr>
          <a:xfrm>
            <a:off x="9235440" y="4023360"/>
            <a:ext cx="2286000" cy="365760"/>
          </a:xfrm>
          <a:prstGeom prst="rect">
            <a:avLst/>
          </a:prstGeom>
          <a:noFill/>
          <a:ln/>
        </p:spPr>
        <p:txBody>
          <a:bodyPr wrap="square" lIns="0" tIns="0" rIns="0" bIns="0" rtlCol="0" anchor="t"/>
          <a:lstStyle/>
          <a:p>
            <a:pPr algn="l" indent="0" marL="0">
              <a:buNone/>
            </a:pPr>
            <a:r>
              <a:rPr lang="en-US" sz="2000" b="1" dirty="0">
                <a:solidFill>
                  <a:srgbClr val="0F766E"/>
                </a:solidFill>
                <a:latin typeface="Arial" pitchFamily="34" charset="0"/>
                <a:ea typeface="Arial" pitchFamily="34" charset="-122"/>
                <a:cs typeface="Arial" pitchFamily="34" charset="-120"/>
              </a:rPr>
              <a:t>12 → 3</a:t>
            </a:r>
            <a:endParaRPr lang="en-US" sz="2000" dirty="0"/>
          </a:p>
        </p:txBody>
      </p:sp>
      <p:sp>
        <p:nvSpPr>
          <p:cNvPr id="51" name="Text 41"/>
          <p:cNvSpPr txBox="1"/>
          <p:nvPr/>
        </p:nvSpPr>
        <p:spPr>
          <a:xfrm>
            <a:off x="9235440" y="4370832"/>
            <a:ext cx="2286000" cy="27432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Months behind latest FPS</a:t>
            </a:r>
            <a:endParaRPr lang="en-US" sz="1100" dirty="0"/>
          </a:p>
        </p:txBody>
      </p:sp>
      <p:sp>
        <p:nvSpPr>
          <p:cNvPr id="52" name="Shape 42"/>
          <p:cNvSpPr/>
          <p:nvPr/>
        </p:nvSpPr>
        <p:spPr>
          <a:xfrm>
            <a:off x="548640" y="5029200"/>
            <a:ext cx="11064240" cy="1234440"/>
          </a:xfrm>
          <a:prstGeom prst="roundRect">
            <a:avLst>
              <a:gd name="adj" fmla="val 5926"/>
            </a:avLst>
          </a:prstGeom>
          <a:solidFill>
            <a:srgbClr val="E6F2F0"/>
          </a:solidFill>
          <a:ln w="9525">
            <a:solidFill>
              <a:srgbClr val="E6F2F0"/>
            </a:solidFill>
            <a:prstDash val="solid"/>
          </a:ln>
        </p:spPr>
      </p:sp>
      <p:sp>
        <p:nvSpPr>
          <p:cNvPr id="53" name="Text 43"/>
          <p:cNvSpPr txBox="1"/>
          <p:nvPr/>
        </p:nvSpPr>
        <p:spPr>
          <a:xfrm>
            <a:off x="777240" y="5120640"/>
            <a:ext cx="2743200" cy="365760"/>
          </a:xfrm>
          <a:prstGeom prst="rect">
            <a:avLst/>
          </a:prstGeom>
          <a:noFill/>
          <a:ln/>
        </p:spPr>
        <p:txBody>
          <a:bodyPr wrap="square" lIns="0" tIns="0" rIns="0" bIns="0" rtlCol="0" anchor="t"/>
          <a:lstStyle/>
          <a:p>
            <a:pPr algn="l" indent="0" marL="0">
              <a:buNone/>
            </a:pPr>
            <a:r>
              <a:rPr lang="en-US" sz="1500" b="1" dirty="0">
                <a:solidFill>
                  <a:srgbClr val="0F766E"/>
                </a:solidFill>
                <a:latin typeface="Calibri" pitchFamily="34" charset="0"/>
                <a:ea typeface="Calibri" pitchFamily="34" charset="-122"/>
                <a:cs typeface="Calibri" pitchFamily="34" charset="-120"/>
              </a:rPr>
              <a:t>Show, don’t tell</a:t>
            </a:r>
            <a:endParaRPr lang="en-US" sz="1500" dirty="0"/>
          </a:p>
        </p:txBody>
      </p:sp>
      <p:sp>
        <p:nvSpPr>
          <p:cNvPr id="54" name="Text 44"/>
          <p:cNvSpPr txBox="1"/>
          <p:nvPr/>
        </p:nvSpPr>
        <p:spPr>
          <a:xfrm>
            <a:off x="777240" y="5486400"/>
            <a:ext cx="5120640" cy="731520"/>
          </a:xfrm>
          <a:prstGeom prst="rect">
            <a:avLst/>
          </a:prstGeom>
          <a:noFill/>
          <a:ln/>
        </p:spPr>
        <p:txBody>
          <a:bodyPr wrap="square" lIns="0" tIns="0" rIns="0" bIns="0" rtlCol="0" anchor="t"/>
          <a:lstStyle/>
          <a:p>
            <a:pPr algn="l" marL="177800" indent="-177800">
              <a:buSzPct val="100000"/>
              <a:buChar char="•"/>
            </a:pPr>
            <a:r>
              <a:rPr lang="en-US" sz="1250" b="1" dirty="0">
                <a:solidFill>
                  <a:srgbClr val="1F2937"/>
                </a:solidFill>
                <a:latin typeface="Calibri" pitchFamily="34" charset="0"/>
                <a:ea typeface="Calibri" pitchFamily="34" charset="-122"/>
                <a:cs typeface="Calibri" pitchFamily="34" charset="-120"/>
              </a:rPr>
              <a:t>Board: </a:t>
            </a:r>
            <a:pPr algn="l" indent="0" marL="0">
              <a:buNone/>
            </a:pPr>
            <a:r>
              <a:rPr lang="en-US" sz="1250" dirty="0">
                <a:solidFill>
                  <a:srgbClr val="1F2937"/>
                </a:solidFill>
                <a:latin typeface="Calibri" pitchFamily="34" charset="0"/>
                <a:ea typeface="Calibri" pitchFamily="34" charset="-122"/>
                <a:cs typeface="Calibri" pitchFamily="34" charset="-120"/>
              </a:rPr>
              <a:t>Kanban/sprint board visible to business (Cloud ALM or existing tool).</a:t>
            </a:r>
            <a:endParaRPr lang="en-US" sz="1250" dirty="0"/>
          </a:p>
          <a:p>
            <a:pPr algn="l" marL="177800" indent="-177800">
              <a:buSzPct val="100000"/>
              <a:buChar char="•"/>
            </a:pPr>
            <a:r>
              <a:rPr lang="en-US" sz="1250" b="1" dirty="0">
                <a:solidFill>
                  <a:srgbClr val="1F2937"/>
                </a:solidFill>
                <a:latin typeface="Calibri" pitchFamily="34" charset="0"/>
                <a:ea typeface="Calibri" pitchFamily="34" charset="-122"/>
                <a:cs typeface="Calibri" pitchFamily="34" charset="-120"/>
              </a:rPr>
              <a:t>Demo: </a:t>
            </a:r>
            <a:pPr algn="l" indent="0" marL="0">
              <a:buNone/>
            </a:pPr>
            <a:r>
              <a:rPr lang="en-US" sz="1250" dirty="0">
                <a:solidFill>
                  <a:srgbClr val="1F2937"/>
                </a:solidFill>
                <a:latin typeface="Calibri" pitchFamily="34" charset="0"/>
                <a:ea typeface="Calibri" pitchFamily="34" charset="-122"/>
                <a:cs typeface="Calibri" pitchFamily="34" charset="-120"/>
              </a:rPr>
              <a:t>every two weeks, users see working Fiori apps, sites and fixes.</a:t>
            </a:r>
            <a:endParaRPr lang="en-US" sz="1250" dirty="0"/>
          </a:p>
        </p:txBody>
      </p:sp>
      <p:sp>
        <p:nvSpPr>
          <p:cNvPr id="55" name="Text 45"/>
          <p:cNvSpPr txBox="1"/>
          <p:nvPr/>
        </p:nvSpPr>
        <p:spPr>
          <a:xfrm>
            <a:off x="6035040" y="5486400"/>
            <a:ext cx="5394960" cy="731520"/>
          </a:xfrm>
          <a:prstGeom prst="rect">
            <a:avLst/>
          </a:prstGeom>
          <a:noFill/>
          <a:ln/>
        </p:spPr>
        <p:txBody>
          <a:bodyPr wrap="square" lIns="0" tIns="0" rIns="0" bIns="0" rtlCol="0" anchor="t"/>
          <a:lstStyle/>
          <a:p>
            <a:pPr algn="l" marL="177800" indent="-177800">
              <a:buSzPct val="100000"/>
              <a:buChar char="•"/>
            </a:pPr>
            <a:r>
              <a:rPr lang="en-US" sz="1250" b="1" dirty="0">
                <a:solidFill>
                  <a:srgbClr val="1F2937"/>
                </a:solidFill>
                <a:latin typeface="Calibri" pitchFamily="34" charset="0"/>
                <a:ea typeface="Calibri" pitchFamily="34" charset="-122"/>
                <a:cs typeface="Calibri" pitchFamily="34" charset="-120"/>
              </a:rPr>
              <a:t>Trends: </a:t>
            </a:r>
            <a:pPr algn="l" indent="0" marL="0">
              <a:buNone/>
            </a:pPr>
            <a:r>
              <a:rPr lang="en-US" sz="1250" dirty="0">
                <a:solidFill>
                  <a:srgbClr val="1F2937"/>
                </a:solidFill>
                <a:latin typeface="Calibri" pitchFamily="34" charset="0"/>
                <a:ea typeface="Calibri" pitchFamily="34" charset="-122"/>
                <a:cs typeface="Calibri" pitchFamily="34" charset="-120"/>
              </a:rPr>
              <a:t>tech-debt interest, C/D findings and flow distribution over time.</a:t>
            </a:r>
            <a:endParaRPr lang="en-US" sz="1250" dirty="0"/>
          </a:p>
          <a:p>
            <a:pPr algn="l" marL="177800" indent="-177800">
              <a:buSzPct val="100000"/>
              <a:buChar char="•"/>
            </a:pPr>
            <a:r>
              <a:rPr lang="en-US" sz="1250" b="1" dirty="0">
                <a:solidFill>
                  <a:srgbClr val="1F2937"/>
                </a:solidFill>
                <a:latin typeface="Calibri" pitchFamily="34" charset="0"/>
                <a:ea typeface="Calibri" pitchFamily="34" charset="-122"/>
                <a:cs typeface="Calibri" pitchFamily="34" charset="-120"/>
              </a:rPr>
              <a:t>Wins: </a:t>
            </a:r>
            <a:pPr algn="l" indent="0" marL="0">
              <a:buNone/>
            </a:pPr>
            <a:r>
              <a:rPr lang="en-US" sz="1250" dirty="0">
                <a:solidFill>
                  <a:srgbClr val="1F2937"/>
                </a:solidFill>
                <a:latin typeface="Calibri" pitchFamily="34" charset="0"/>
                <a:ea typeface="Calibri" pitchFamily="34" charset="-122"/>
                <a:cs typeface="Calibri" pitchFamily="34" charset="-120"/>
              </a:rPr>
              <a:t>one-page monthly note — what shipped, what it saved, what’s next.</a:t>
            </a:r>
            <a:endParaRPr lang="en-US" sz="1250" dirty="0"/>
          </a:p>
        </p:txBody>
      </p:sp>
      <p:sp>
        <p:nvSpPr>
          <p:cNvPr id="56" name="Text 46"/>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Roadmap: 15 months, six workstreams</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Foundations first, then scale; dates are proposals</a:t>
            </a:r>
            <a:endParaRPr lang="en-US" sz="1600" dirty="0"/>
          </a:p>
        </p:txBody>
      </p:sp>
      <p:sp>
        <p:nvSpPr>
          <p:cNvPr id="4" name="Shape 2"/>
          <p:cNvSpPr/>
          <p:nvPr/>
        </p:nvSpPr>
        <p:spPr>
          <a:xfrm>
            <a:off x="2651760" y="1645920"/>
            <a:ext cx="1746504" cy="365760"/>
          </a:xfrm>
          <a:prstGeom prst="rect">
            <a:avLst/>
          </a:prstGeom>
          <a:solidFill>
            <a:srgbClr val="E5E7EB"/>
          </a:solidFill>
          <a:ln w="12700">
            <a:solidFill>
              <a:srgbClr val="FFFFFF"/>
            </a:solidFill>
            <a:prstDash val="solid"/>
          </a:ln>
        </p:spPr>
      </p:sp>
      <p:sp>
        <p:nvSpPr>
          <p:cNvPr id="5" name="Text 3"/>
          <p:cNvSpPr txBox="1"/>
          <p:nvPr/>
        </p:nvSpPr>
        <p:spPr>
          <a:xfrm>
            <a:off x="2651760" y="1645920"/>
            <a:ext cx="1783080" cy="365760"/>
          </a:xfrm>
          <a:prstGeom prst="rect">
            <a:avLst/>
          </a:prstGeom>
          <a:noFill/>
          <a:ln/>
        </p:spPr>
        <p:txBody>
          <a:bodyPr wrap="square" lIns="0" tIns="0" rIns="0" bIns="0" rtlCol="0" anchor="ctr"/>
          <a:lstStyle/>
          <a:p>
            <a:pPr algn="ctr" indent="0" marL="0">
              <a:buNone/>
            </a:pPr>
            <a:r>
              <a:rPr lang="en-US" sz="1200" b="1" dirty="0">
                <a:solidFill>
                  <a:srgbClr val="17313B"/>
                </a:solidFill>
                <a:latin typeface="Calibri" pitchFamily="34" charset="0"/>
                <a:ea typeface="Calibri" pitchFamily="34" charset="-122"/>
                <a:cs typeface="Calibri" pitchFamily="34" charset="-120"/>
              </a:rPr>
              <a:t>Q4 2026</a:t>
            </a:r>
            <a:endParaRPr lang="en-US" sz="1200" dirty="0"/>
          </a:p>
        </p:txBody>
      </p:sp>
      <p:sp>
        <p:nvSpPr>
          <p:cNvPr id="6" name="Shape 4"/>
          <p:cNvSpPr/>
          <p:nvPr/>
        </p:nvSpPr>
        <p:spPr>
          <a:xfrm>
            <a:off x="4434840" y="1645920"/>
            <a:ext cx="1746504" cy="365760"/>
          </a:xfrm>
          <a:prstGeom prst="rect">
            <a:avLst/>
          </a:prstGeom>
          <a:solidFill>
            <a:srgbClr val="F3F4F6"/>
          </a:solidFill>
          <a:ln w="12700">
            <a:solidFill>
              <a:srgbClr val="FFFFFF"/>
            </a:solidFill>
            <a:prstDash val="solid"/>
          </a:ln>
        </p:spPr>
      </p:sp>
      <p:sp>
        <p:nvSpPr>
          <p:cNvPr id="7" name="Text 5"/>
          <p:cNvSpPr txBox="1"/>
          <p:nvPr/>
        </p:nvSpPr>
        <p:spPr>
          <a:xfrm>
            <a:off x="4434840" y="1645920"/>
            <a:ext cx="1783080" cy="365760"/>
          </a:xfrm>
          <a:prstGeom prst="rect">
            <a:avLst/>
          </a:prstGeom>
          <a:noFill/>
          <a:ln/>
        </p:spPr>
        <p:txBody>
          <a:bodyPr wrap="square" lIns="0" tIns="0" rIns="0" bIns="0" rtlCol="0" anchor="ctr"/>
          <a:lstStyle/>
          <a:p>
            <a:pPr algn="ctr" indent="0" marL="0">
              <a:buNone/>
            </a:pPr>
            <a:r>
              <a:rPr lang="en-US" sz="1200" b="1" dirty="0">
                <a:solidFill>
                  <a:srgbClr val="17313B"/>
                </a:solidFill>
                <a:latin typeface="Calibri" pitchFamily="34" charset="0"/>
                <a:ea typeface="Calibri" pitchFamily="34" charset="-122"/>
                <a:cs typeface="Calibri" pitchFamily="34" charset="-120"/>
              </a:rPr>
              <a:t>Q1 2027</a:t>
            </a:r>
            <a:endParaRPr lang="en-US" sz="1200" dirty="0"/>
          </a:p>
        </p:txBody>
      </p:sp>
      <p:sp>
        <p:nvSpPr>
          <p:cNvPr id="8" name="Shape 6"/>
          <p:cNvSpPr/>
          <p:nvPr/>
        </p:nvSpPr>
        <p:spPr>
          <a:xfrm>
            <a:off x="6217920" y="1645920"/>
            <a:ext cx="1746504" cy="365760"/>
          </a:xfrm>
          <a:prstGeom prst="rect">
            <a:avLst/>
          </a:prstGeom>
          <a:solidFill>
            <a:srgbClr val="E5E7EB"/>
          </a:solidFill>
          <a:ln w="12700">
            <a:solidFill>
              <a:srgbClr val="FFFFFF"/>
            </a:solidFill>
            <a:prstDash val="solid"/>
          </a:ln>
        </p:spPr>
      </p:sp>
      <p:sp>
        <p:nvSpPr>
          <p:cNvPr id="9" name="Text 7"/>
          <p:cNvSpPr txBox="1"/>
          <p:nvPr/>
        </p:nvSpPr>
        <p:spPr>
          <a:xfrm>
            <a:off x="6217920" y="1645920"/>
            <a:ext cx="1783080" cy="365760"/>
          </a:xfrm>
          <a:prstGeom prst="rect">
            <a:avLst/>
          </a:prstGeom>
          <a:noFill/>
          <a:ln/>
        </p:spPr>
        <p:txBody>
          <a:bodyPr wrap="square" lIns="0" tIns="0" rIns="0" bIns="0" rtlCol="0" anchor="ctr"/>
          <a:lstStyle/>
          <a:p>
            <a:pPr algn="ctr" indent="0" marL="0">
              <a:buNone/>
            </a:pPr>
            <a:r>
              <a:rPr lang="en-US" sz="1200" b="1" dirty="0">
                <a:solidFill>
                  <a:srgbClr val="17313B"/>
                </a:solidFill>
                <a:latin typeface="Calibri" pitchFamily="34" charset="0"/>
                <a:ea typeface="Calibri" pitchFamily="34" charset="-122"/>
                <a:cs typeface="Calibri" pitchFamily="34" charset="-120"/>
              </a:rPr>
              <a:t>Q2 2027</a:t>
            </a:r>
            <a:endParaRPr lang="en-US" sz="1200" dirty="0"/>
          </a:p>
        </p:txBody>
      </p:sp>
      <p:sp>
        <p:nvSpPr>
          <p:cNvPr id="10" name="Shape 8"/>
          <p:cNvSpPr/>
          <p:nvPr/>
        </p:nvSpPr>
        <p:spPr>
          <a:xfrm>
            <a:off x="8001000" y="1645920"/>
            <a:ext cx="1746504" cy="365760"/>
          </a:xfrm>
          <a:prstGeom prst="rect">
            <a:avLst/>
          </a:prstGeom>
          <a:solidFill>
            <a:srgbClr val="F3F4F6"/>
          </a:solidFill>
          <a:ln w="12700">
            <a:solidFill>
              <a:srgbClr val="FFFFFF"/>
            </a:solidFill>
            <a:prstDash val="solid"/>
          </a:ln>
        </p:spPr>
      </p:sp>
      <p:sp>
        <p:nvSpPr>
          <p:cNvPr id="11" name="Text 9"/>
          <p:cNvSpPr txBox="1"/>
          <p:nvPr/>
        </p:nvSpPr>
        <p:spPr>
          <a:xfrm>
            <a:off x="8001000" y="1645920"/>
            <a:ext cx="1783080" cy="365760"/>
          </a:xfrm>
          <a:prstGeom prst="rect">
            <a:avLst/>
          </a:prstGeom>
          <a:noFill/>
          <a:ln/>
        </p:spPr>
        <p:txBody>
          <a:bodyPr wrap="square" lIns="0" tIns="0" rIns="0" bIns="0" rtlCol="0" anchor="ctr"/>
          <a:lstStyle/>
          <a:p>
            <a:pPr algn="ctr" indent="0" marL="0">
              <a:buNone/>
            </a:pPr>
            <a:r>
              <a:rPr lang="en-US" sz="1200" b="1" dirty="0">
                <a:solidFill>
                  <a:srgbClr val="17313B"/>
                </a:solidFill>
                <a:latin typeface="Calibri" pitchFamily="34" charset="0"/>
                <a:ea typeface="Calibri" pitchFamily="34" charset="-122"/>
                <a:cs typeface="Calibri" pitchFamily="34" charset="-120"/>
              </a:rPr>
              <a:t>Q3 2027</a:t>
            </a:r>
            <a:endParaRPr lang="en-US" sz="1200" dirty="0"/>
          </a:p>
        </p:txBody>
      </p:sp>
      <p:sp>
        <p:nvSpPr>
          <p:cNvPr id="12" name="Shape 10"/>
          <p:cNvSpPr/>
          <p:nvPr/>
        </p:nvSpPr>
        <p:spPr>
          <a:xfrm>
            <a:off x="9784080" y="1645920"/>
            <a:ext cx="1746504" cy="365760"/>
          </a:xfrm>
          <a:prstGeom prst="rect">
            <a:avLst/>
          </a:prstGeom>
          <a:solidFill>
            <a:srgbClr val="E5E7EB"/>
          </a:solidFill>
          <a:ln w="12700">
            <a:solidFill>
              <a:srgbClr val="FFFFFF"/>
            </a:solidFill>
            <a:prstDash val="solid"/>
          </a:ln>
        </p:spPr>
      </p:sp>
      <p:sp>
        <p:nvSpPr>
          <p:cNvPr id="13" name="Text 11"/>
          <p:cNvSpPr txBox="1"/>
          <p:nvPr/>
        </p:nvSpPr>
        <p:spPr>
          <a:xfrm>
            <a:off x="9784080" y="1645920"/>
            <a:ext cx="1783080" cy="365760"/>
          </a:xfrm>
          <a:prstGeom prst="rect">
            <a:avLst/>
          </a:prstGeom>
          <a:noFill/>
          <a:ln/>
        </p:spPr>
        <p:txBody>
          <a:bodyPr wrap="square" lIns="0" tIns="0" rIns="0" bIns="0" rtlCol="0" anchor="ctr"/>
          <a:lstStyle/>
          <a:p>
            <a:pPr algn="ctr" indent="0" marL="0">
              <a:buNone/>
            </a:pPr>
            <a:r>
              <a:rPr lang="en-US" sz="1200" b="1" dirty="0">
                <a:solidFill>
                  <a:srgbClr val="17313B"/>
                </a:solidFill>
                <a:latin typeface="Calibri" pitchFamily="34" charset="0"/>
                <a:ea typeface="Calibri" pitchFamily="34" charset="-122"/>
                <a:cs typeface="Calibri" pitchFamily="34" charset="-120"/>
              </a:rPr>
              <a:t>Q4 2027</a:t>
            </a:r>
            <a:endParaRPr lang="en-US" sz="1200" dirty="0"/>
          </a:p>
        </p:txBody>
      </p:sp>
      <p:sp>
        <p:nvSpPr>
          <p:cNvPr id="14" name="Shape 12"/>
          <p:cNvSpPr/>
          <p:nvPr/>
        </p:nvSpPr>
        <p:spPr>
          <a:xfrm>
            <a:off x="2651760" y="2084832"/>
            <a:ext cx="1380744" cy="292608"/>
          </a:xfrm>
          <a:prstGeom prst="roundRect">
            <a:avLst>
              <a:gd name="adj" fmla="val 18750"/>
            </a:avLst>
          </a:prstGeom>
          <a:solidFill>
            <a:srgbClr val="475569"/>
          </a:solidFill>
          <a:ln w="12700">
            <a:solidFill>
              <a:srgbClr val="475569"/>
            </a:solidFill>
            <a:prstDash val="solid"/>
          </a:ln>
        </p:spPr>
      </p:sp>
      <p:sp>
        <p:nvSpPr>
          <p:cNvPr id="15" name="Text 13"/>
          <p:cNvSpPr txBox="1"/>
          <p:nvPr/>
        </p:nvSpPr>
        <p:spPr>
          <a:xfrm>
            <a:off x="2651760" y="2084832"/>
            <a:ext cx="13807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Mobilise &amp; baseline</a:t>
            </a:r>
            <a:endParaRPr lang="en-US" sz="1100" dirty="0"/>
          </a:p>
        </p:txBody>
      </p:sp>
      <p:sp>
        <p:nvSpPr>
          <p:cNvPr id="16" name="Shape 14"/>
          <p:cNvSpPr/>
          <p:nvPr/>
        </p:nvSpPr>
        <p:spPr>
          <a:xfrm>
            <a:off x="4078224" y="2084832"/>
            <a:ext cx="2093976" cy="292608"/>
          </a:xfrm>
          <a:prstGeom prst="roundRect">
            <a:avLst>
              <a:gd name="adj" fmla="val 18750"/>
            </a:avLst>
          </a:prstGeom>
          <a:solidFill>
            <a:srgbClr val="0F766E"/>
          </a:solidFill>
          <a:ln w="12700">
            <a:solidFill>
              <a:srgbClr val="0F766E"/>
            </a:solidFill>
            <a:prstDash val="solid"/>
          </a:ln>
        </p:spPr>
      </p:sp>
      <p:sp>
        <p:nvSpPr>
          <p:cNvPr id="17" name="Text 15"/>
          <p:cNvSpPr txBox="1"/>
          <p:nvPr/>
        </p:nvSpPr>
        <p:spPr>
          <a:xfrm>
            <a:off x="4078224" y="2084832"/>
            <a:ext cx="20939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Foundations &amp; quick wins</a:t>
            </a:r>
            <a:endParaRPr lang="en-US" sz="1100" dirty="0"/>
          </a:p>
        </p:txBody>
      </p:sp>
      <p:sp>
        <p:nvSpPr>
          <p:cNvPr id="18" name="Shape 16"/>
          <p:cNvSpPr/>
          <p:nvPr/>
        </p:nvSpPr>
        <p:spPr>
          <a:xfrm>
            <a:off x="6217920" y="2084832"/>
            <a:ext cx="3520440" cy="292608"/>
          </a:xfrm>
          <a:prstGeom prst="roundRect">
            <a:avLst>
              <a:gd name="adj" fmla="val 18750"/>
            </a:avLst>
          </a:prstGeom>
          <a:solidFill>
            <a:srgbClr val="14B8A6"/>
          </a:solidFill>
          <a:ln w="12700">
            <a:solidFill>
              <a:srgbClr val="14B8A6"/>
            </a:solidFill>
            <a:prstDash val="solid"/>
          </a:ln>
        </p:spPr>
      </p:sp>
      <p:sp>
        <p:nvSpPr>
          <p:cNvPr id="19" name="Text 17"/>
          <p:cNvSpPr txBox="1"/>
          <p:nvPr/>
        </p:nvSpPr>
        <p:spPr>
          <a:xfrm>
            <a:off x="6217920" y="2084832"/>
            <a:ext cx="35204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Scale</a:t>
            </a:r>
            <a:endParaRPr lang="en-US" sz="1100" dirty="0"/>
          </a:p>
        </p:txBody>
      </p:sp>
      <p:sp>
        <p:nvSpPr>
          <p:cNvPr id="20" name="Shape 18"/>
          <p:cNvSpPr/>
          <p:nvPr/>
        </p:nvSpPr>
        <p:spPr>
          <a:xfrm>
            <a:off x="8535924" y="2414016"/>
            <a:ext cx="2985516" cy="292608"/>
          </a:xfrm>
          <a:prstGeom prst="roundRect">
            <a:avLst>
              <a:gd name="adj" fmla="val 18750"/>
            </a:avLst>
          </a:prstGeom>
          <a:solidFill>
            <a:srgbClr val="F59E0B"/>
          </a:solidFill>
          <a:ln w="12700">
            <a:solidFill>
              <a:srgbClr val="F59E0B"/>
            </a:solidFill>
            <a:prstDash val="solid"/>
          </a:ln>
        </p:spPr>
      </p:sp>
      <p:sp>
        <p:nvSpPr>
          <p:cNvPr id="21" name="Text 19"/>
          <p:cNvSpPr txBox="1"/>
          <p:nvPr/>
        </p:nvSpPr>
        <p:spPr>
          <a:xfrm>
            <a:off x="8535924" y="2414016"/>
            <a:ext cx="298551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Optimise &amp; innovate</a:t>
            </a:r>
            <a:endParaRPr lang="en-US" sz="1100" dirty="0"/>
          </a:p>
        </p:txBody>
      </p:sp>
      <p:sp>
        <p:nvSpPr>
          <p:cNvPr id="22" name="Shape 20"/>
          <p:cNvSpPr/>
          <p:nvPr/>
        </p:nvSpPr>
        <p:spPr>
          <a:xfrm>
            <a:off x="548640" y="2843784"/>
            <a:ext cx="11064240" cy="548640"/>
          </a:xfrm>
          <a:prstGeom prst="rect">
            <a:avLst/>
          </a:prstGeom>
          <a:solidFill>
            <a:srgbClr val="F8FAFC"/>
          </a:solidFill>
          <a:ln w="12700">
            <a:solidFill>
              <a:srgbClr val="F1F5F9"/>
            </a:solidFill>
            <a:prstDash val="solid"/>
          </a:ln>
        </p:spPr>
      </p:sp>
      <p:sp>
        <p:nvSpPr>
          <p:cNvPr id="23" name="Text 21"/>
          <p:cNvSpPr txBox="1"/>
          <p:nvPr/>
        </p:nvSpPr>
        <p:spPr>
          <a:xfrm>
            <a:off x="640080" y="2880360"/>
            <a:ext cx="1920240" cy="475488"/>
          </a:xfrm>
          <a:prstGeom prst="rect">
            <a:avLst/>
          </a:prstGeom>
          <a:noFill/>
          <a:ln/>
        </p:spPr>
        <p:txBody>
          <a:bodyPr wrap="square" lIns="0" tIns="0" rIns="0" bIns="0" rtlCol="0" anchor="ctr"/>
          <a:lstStyle/>
          <a:p>
            <a:pPr algn="l" indent="0" marL="0">
              <a:buNone/>
            </a:pPr>
            <a:r>
              <a:rPr lang="en-US" sz="1300" b="1" dirty="0">
                <a:solidFill>
                  <a:srgbClr val="17313B"/>
                </a:solidFill>
                <a:latin typeface="Calibri" pitchFamily="34" charset="0"/>
                <a:ea typeface="Calibri" pitchFamily="34" charset="-122"/>
                <a:cs typeface="Calibri" pitchFamily="34" charset="-120"/>
              </a:rPr>
              <a:t>UX / Fiori</a:t>
            </a:r>
            <a:endParaRPr lang="en-US" sz="1300" dirty="0"/>
          </a:p>
        </p:txBody>
      </p:sp>
      <p:sp>
        <p:nvSpPr>
          <p:cNvPr id="24" name="Shape 22"/>
          <p:cNvSpPr/>
          <p:nvPr/>
        </p:nvSpPr>
        <p:spPr>
          <a:xfrm>
            <a:off x="3008376" y="2880360"/>
            <a:ext cx="1915668" cy="219456"/>
          </a:xfrm>
          <a:prstGeom prst="roundRect">
            <a:avLst>
              <a:gd name="adj" fmla="val 20833"/>
            </a:avLst>
          </a:prstGeom>
          <a:solidFill>
            <a:srgbClr val="0F766E"/>
          </a:solidFill>
          <a:ln w="12700">
            <a:solidFill>
              <a:srgbClr val="0F766E"/>
            </a:solidFill>
            <a:prstDash val="solid"/>
          </a:ln>
        </p:spPr>
      </p:sp>
      <p:sp>
        <p:nvSpPr>
          <p:cNvPr id="25" name="Text 23"/>
          <p:cNvSpPr txBox="1"/>
          <p:nvPr/>
        </p:nvSpPr>
        <p:spPr>
          <a:xfrm>
            <a:off x="3063240" y="2880360"/>
            <a:ext cx="1824228"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Fiori foundation</a:t>
            </a:r>
            <a:endParaRPr lang="en-US" sz="950" dirty="0"/>
          </a:p>
        </p:txBody>
      </p:sp>
      <p:sp>
        <p:nvSpPr>
          <p:cNvPr id="26" name="Shape 24"/>
          <p:cNvSpPr/>
          <p:nvPr/>
        </p:nvSpPr>
        <p:spPr>
          <a:xfrm>
            <a:off x="3899916" y="3136392"/>
            <a:ext cx="2272284" cy="219456"/>
          </a:xfrm>
          <a:prstGeom prst="roundRect">
            <a:avLst>
              <a:gd name="adj" fmla="val 20833"/>
            </a:avLst>
          </a:prstGeom>
          <a:solidFill>
            <a:srgbClr val="0F766E"/>
          </a:solidFill>
          <a:ln w="12700">
            <a:solidFill>
              <a:srgbClr val="0F766E"/>
            </a:solidFill>
            <a:prstDash val="solid"/>
          </a:ln>
        </p:spPr>
      </p:sp>
      <p:sp>
        <p:nvSpPr>
          <p:cNvPr id="27" name="Text 25"/>
          <p:cNvSpPr txBox="1"/>
          <p:nvPr/>
        </p:nvSpPr>
        <p:spPr>
          <a:xfrm>
            <a:off x="3954780" y="3136392"/>
            <a:ext cx="2180844"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Finance wave</a:t>
            </a:r>
            <a:endParaRPr lang="en-US" sz="950" dirty="0"/>
          </a:p>
        </p:txBody>
      </p:sp>
      <p:sp>
        <p:nvSpPr>
          <p:cNvPr id="28" name="Shape 26"/>
          <p:cNvSpPr/>
          <p:nvPr/>
        </p:nvSpPr>
        <p:spPr>
          <a:xfrm>
            <a:off x="6217920" y="2880360"/>
            <a:ext cx="2272284" cy="219456"/>
          </a:xfrm>
          <a:prstGeom prst="roundRect">
            <a:avLst>
              <a:gd name="adj" fmla="val 20833"/>
            </a:avLst>
          </a:prstGeom>
          <a:solidFill>
            <a:srgbClr val="0F766E"/>
          </a:solidFill>
          <a:ln w="12700">
            <a:solidFill>
              <a:srgbClr val="0F766E"/>
            </a:solidFill>
            <a:prstDash val="solid"/>
          </a:ln>
        </p:spPr>
      </p:sp>
      <p:sp>
        <p:nvSpPr>
          <p:cNvPr id="29" name="Text 27"/>
          <p:cNvSpPr txBox="1"/>
          <p:nvPr/>
        </p:nvSpPr>
        <p:spPr>
          <a:xfrm>
            <a:off x="6272784" y="2880360"/>
            <a:ext cx="2180844"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Supply chain wave</a:t>
            </a:r>
            <a:endParaRPr lang="en-US" sz="950" dirty="0"/>
          </a:p>
        </p:txBody>
      </p:sp>
      <p:sp>
        <p:nvSpPr>
          <p:cNvPr id="30" name="Shape 28"/>
          <p:cNvSpPr/>
          <p:nvPr/>
        </p:nvSpPr>
        <p:spPr>
          <a:xfrm>
            <a:off x="8001000" y="3136392"/>
            <a:ext cx="2985516" cy="219456"/>
          </a:xfrm>
          <a:prstGeom prst="roundRect">
            <a:avLst>
              <a:gd name="adj" fmla="val 20833"/>
            </a:avLst>
          </a:prstGeom>
          <a:solidFill>
            <a:srgbClr val="0F766E"/>
          </a:solidFill>
          <a:ln w="12700">
            <a:solidFill>
              <a:srgbClr val="0F766E"/>
            </a:solidFill>
            <a:prstDash val="solid"/>
          </a:ln>
        </p:spPr>
      </p:sp>
      <p:sp>
        <p:nvSpPr>
          <p:cNvPr id="31" name="Text 29"/>
          <p:cNvSpPr txBox="1"/>
          <p:nvPr/>
        </p:nvSpPr>
        <p:spPr>
          <a:xfrm>
            <a:off x="8055864" y="3136392"/>
            <a:ext cx="2894076"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Sales / QM / PM</a:t>
            </a:r>
            <a:endParaRPr lang="en-US" sz="950" dirty="0"/>
          </a:p>
        </p:txBody>
      </p:sp>
      <p:sp>
        <p:nvSpPr>
          <p:cNvPr id="32" name="Shape 30"/>
          <p:cNvSpPr/>
          <p:nvPr/>
        </p:nvSpPr>
        <p:spPr>
          <a:xfrm>
            <a:off x="548640" y="3419856"/>
            <a:ext cx="11064240" cy="548640"/>
          </a:xfrm>
          <a:prstGeom prst="rect">
            <a:avLst/>
          </a:prstGeom>
          <a:solidFill>
            <a:srgbClr val="FFFFFF"/>
          </a:solidFill>
          <a:ln w="12700">
            <a:solidFill>
              <a:srgbClr val="F1F5F9"/>
            </a:solidFill>
            <a:prstDash val="solid"/>
          </a:ln>
        </p:spPr>
      </p:sp>
      <p:sp>
        <p:nvSpPr>
          <p:cNvPr id="33" name="Text 31"/>
          <p:cNvSpPr txBox="1"/>
          <p:nvPr/>
        </p:nvSpPr>
        <p:spPr>
          <a:xfrm>
            <a:off x="640080" y="3456432"/>
            <a:ext cx="1920240" cy="475488"/>
          </a:xfrm>
          <a:prstGeom prst="rect">
            <a:avLst/>
          </a:prstGeom>
          <a:noFill/>
          <a:ln/>
        </p:spPr>
        <p:txBody>
          <a:bodyPr wrap="square" lIns="0" tIns="0" rIns="0" bIns="0" rtlCol="0" anchor="ctr"/>
          <a:lstStyle/>
          <a:p>
            <a:pPr algn="l" indent="0" marL="0">
              <a:buNone/>
            </a:pPr>
            <a:r>
              <a:rPr lang="en-US" sz="1300" b="1" dirty="0">
                <a:solidFill>
                  <a:srgbClr val="17313B"/>
                </a:solidFill>
                <a:latin typeface="Calibri" pitchFamily="34" charset="0"/>
                <a:ea typeface="Calibri" pitchFamily="34" charset="-122"/>
                <a:cs typeface="Calibri" pitchFamily="34" charset="-120"/>
              </a:rPr>
              <a:t>Work Zone</a:t>
            </a:r>
            <a:endParaRPr lang="en-US" sz="1300" dirty="0"/>
          </a:p>
        </p:txBody>
      </p:sp>
      <p:sp>
        <p:nvSpPr>
          <p:cNvPr id="34" name="Shape 32"/>
          <p:cNvSpPr/>
          <p:nvPr/>
        </p:nvSpPr>
        <p:spPr>
          <a:xfrm>
            <a:off x="3275838" y="3584448"/>
            <a:ext cx="1648206" cy="219456"/>
          </a:xfrm>
          <a:prstGeom prst="roundRect">
            <a:avLst>
              <a:gd name="adj" fmla="val 20833"/>
            </a:avLst>
          </a:prstGeom>
          <a:solidFill>
            <a:srgbClr val="0D9488"/>
          </a:solidFill>
          <a:ln w="12700">
            <a:solidFill>
              <a:srgbClr val="0D9488"/>
            </a:solidFill>
            <a:prstDash val="solid"/>
          </a:ln>
        </p:spPr>
      </p:sp>
      <p:sp>
        <p:nvSpPr>
          <p:cNvPr id="35" name="Text 33"/>
          <p:cNvSpPr txBox="1"/>
          <p:nvPr/>
        </p:nvSpPr>
        <p:spPr>
          <a:xfrm>
            <a:off x="3330702" y="3584448"/>
            <a:ext cx="1556766"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Subaccount, IdP</a:t>
            </a:r>
            <a:endParaRPr lang="en-US" sz="950" dirty="0"/>
          </a:p>
        </p:txBody>
      </p:sp>
      <p:sp>
        <p:nvSpPr>
          <p:cNvPr id="36" name="Shape 34"/>
          <p:cNvSpPr/>
          <p:nvPr/>
        </p:nvSpPr>
        <p:spPr>
          <a:xfrm>
            <a:off x="5058918" y="3584448"/>
            <a:ext cx="2896362" cy="219456"/>
          </a:xfrm>
          <a:prstGeom prst="roundRect">
            <a:avLst>
              <a:gd name="adj" fmla="val 20833"/>
            </a:avLst>
          </a:prstGeom>
          <a:solidFill>
            <a:srgbClr val="0D9488"/>
          </a:solidFill>
          <a:ln w="12700">
            <a:solidFill>
              <a:srgbClr val="0D9488"/>
            </a:solidFill>
            <a:prstDash val="solid"/>
          </a:ln>
        </p:spPr>
      </p:sp>
      <p:sp>
        <p:nvSpPr>
          <p:cNvPr id="37" name="Text 35"/>
          <p:cNvSpPr txBox="1"/>
          <p:nvPr/>
        </p:nvSpPr>
        <p:spPr>
          <a:xfrm>
            <a:off x="5113782" y="3584448"/>
            <a:ext cx="2804922"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Pilot + plant supervisor site</a:t>
            </a:r>
            <a:endParaRPr lang="en-US" sz="950" dirty="0"/>
          </a:p>
        </p:txBody>
      </p:sp>
      <p:sp>
        <p:nvSpPr>
          <p:cNvPr id="38" name="Shape 36"/>
          <p:cNvSpPr/>
          <p:nvPr/>
        </p:nvSpPr>
        <p:spPr>
          <a:xfrm>
            <a:off x="548640" y="3995928"/>
            <a:ext cx="11064240" cy="548640"/>
          </a:xfrm>
          <a:prstGeom prst="rect">
            <a:avLst/>
          </a:prstGeom>
          <a:solidFill>
            <a:srgbClr val="F8FAFC"/>
          </a:solidFill>
          <a:ln w="12700">
            <a:solidFill>
              <a:srgbClr val="F1F5F9"/>
            </a:solidFill>
            <a:prstDash val="solid"/>
          </a:ln>
        </p:spPr>
      </p:sp>
      <p:sp>
        <p:nvSpPr>
          <p:cNvPr id="39" name="Text 37"/>
          <p:cNvSpPr txBox="1"/>
          <p:nvPr/>
        </p:nvSpPr>
        <p:spPr>
          <a:xfrm>
            <a:off x="640080" y="4032504"/>
            <a:ext cx="1920240" cy="475488"/>
          </a:xfrm>
          <a:prstGeom prst="rect">
            <a:avLst/>
          </a:prstGeom>
          <a:noFill/>
          <a:ln/>
        </p:spPr>
        <p:txBody>
          <a:bodyPr wrap="square" lIns="0" tIns="0" rIns="0" bIns="0" rtlCol="0" anchor="ctr"/>
          <a:lstStyle/>
          <a:p>
            <a:pPr algn="l" indent="0" marL="0">
              <a:buNone/>
            </a:pPr>
            <a:r>
              <a:rPr lang="en-US" sz="1300" b="1" dirty="0">
                <a:solidFill>
                  <a:srgbClr val="17313B"/>
                </a:solidFill>
                <a:latin typeface="Calibri" pitchFamily="34" charset="0"/>
                <a:ea typeface="Calibri" pitchFamily="34" charset="-122"/>
                <a:cs typeface="Calibri" pitchFamily="34" charset="-120"/>
              </a:rPr>
              <a:t>Integration</a:t>
            </a:r>
            <a:endParaRPr lang="en-US" sz="1300" dirty="0"/>
          </a:p>
        </p:txBody>
      </p:sp>
      <p:sp>
        <p:nvSpPr>
          <p:cNvPr id="40" name="Shape 38"/>
          <p:cNvSpPr/>
          <p:nvPr/>
        </p:nvSpPr>
        <p:spPr>
          <a:xfrm>
            <a:off x="3008376" y="4032504"/>
            <a:ext cx="1737360" cy="219456"/>
          </a:xfrm>
          <a:prstGeom prst="roundRect">
            <a:avLst>
              <a:gd name="adj" fmla="val 20833"/>
            </a:avLst>
          </a:prstGeom>
          <a:solidFill>
            <a:srgbClr val="B45309"/>
          </a:solidFill>
          <a:ln w="12700">
            <a:solidFill>
              <a:srgbClr val="B45309"/>
            </a:solidFill>
            <a:prstDash val="solid"/>
          </a:ln>
        </p:spPr>
      </p:sp>
      <p:sp>
        <p:nvSpPr>
          <p:cNvPr id="41" name="Text 39"/>
          <p:cNvSpPr txBox="1"/>
          <p:nvPr/>
        </p:nvSpPr>
        <p:spPr>
          <a:xfrm>
            <a:off x="3063240" y="4032504"/>
            <a:ext cx="164592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Landing zone</a:t>
            </a:r>
            <a:endParaRPr lang="en-US" sz="950" dirty="0"/>
          </a:p>
        </p:txBody>
      </p:sp>
      <p:sp>
        <p:nvSpPr>
          <p:cNvPr id="42" name="Shape 40"/>
          <p:cNvSpPr/>
          <p:nvPr/>
        </p:nvSpPr>
        <p:spPr>
          <a:xfrm>
            <a:off x="3275838" y="4288536"/>
            <a:ext cx="1737360" cy="219456"/>
          </a:xfrm>
          <a:prstGeom prst="roundRect">
            <a:avLst>
              <a:gd name="adj" fmla="val 20833"/>
            </a:avLst>
          </a:prstGeom>
          <a:solidFill>
            <a:srgbClr val="B45309"/>
          </a:solidFill>
          <a:ln w="12700">
            <a:solidFill>
              <a:srgbClr val="B45309"/>
            </a:solidFill>
            <a:prstDash val="solid"/>
          </a:ln>
        </p:spPr>
      </p:sp>
      <p:sp>
        <p:nvSpPr>
          <p:cNvPr id="43" name="Text 41"/>
          <p:cNvSpPr txBox="1"/>
          <p:nvPr/>
        </p:nvSpPr>
        <p:spPr>
          <a:xfrm>
            <a:off x="3330702" y="4288536"/>
            <a:ext cx="164592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Inventory, ISA-M</a:t>
            </a:r>
            <a:endParaRPr lang="en-US" sz="950" dirty="0"/>
          </a:p>
        </p:txBody>
      </p:sp>
      <p:sp>
        <p:nvSpPr>
          <p:cNvPr id="44" name="Shape 42"/>
          <p:cNvSpPr/>
          <p:nvPr/>
        </p:nvSpPr>
        <p:spPr>
          <a:xfrm>
            <a:off x="5058918" y="4032504"/>
            <a:ext cx="6284214" cy="219456"/>
          </a:xfrm>
          <a:prstGeom prst="roundRect">
            <a:avLst>
              <a:gd name="adj" fmla="val 20833"/>
            </a:avLst>
          </a:prstGeom>
          <a:solidFill>
            <a:srgbClr val="B45309"/>
          </a:solidFill>
          <a:ln w="12700">
            <a:solidFill>
              <a:srgbClr val="B45309"/>
            </a:solidFill>
            <a:prstDash val="solid"/>
          </a:ln>
        </p:spPr>
      </p:sp>
      <p:sp>
        <p:nvSpPr>
          <p:cNvPr id="45" name="Text 43"/>
          <p:cNvSpPr txBox="1"/>
          <p:nvPr/>
        </p:nvSpPr>
        <p:spPr>
          <a:xfrm>
            <a:off x="5113782" y="4032504"/>
            <a:ext cx="6192774"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Migration waves 1–3</a:t>
            </a:r>
            <a:endParaRPr lang="en-US" sz="950" dirty="0"/>
          </a:p>
        </p:txBody>
      </p:sp>
      <p:sp>
        <p:nvSpPr>
          <p:cNvPr id="46" name="Shape 44"/>
          <p:cNvSpPr/>
          <p:nvPr/>
        </p:nvSpPr>
        <p:spPr>
          <a:xfrm>
            <a:off x="548640" y="4572000"/>
            <a:ext cx="11064240" cy="548640"/>
          </a:xfrm>
          <a:prstGeom prst="rect">
            <a:avLst/>
          </a:prstGeom>
          <a:solidFill>
            <a:srgbClr val="FFFFFF"/>
          </a:solidFill>
          <a:ln w="12700">
            <a:solidFill>
              <a:srgbClr val="F1F5F9"/>
            </a:solidFill>
            <a:prstDash val="solid"/>
          </a:ln>
        </p:spPr>
      </p:sp>
      <p:sp>
        <p:nvSpPr>
          <p:cNvPr id="47" name="Text 45"/>
          <p:cNvSpPr txBox="1"/>
          <p:nvPr/>
        </p:nvSpPr>
        <p:spPr>
          <a:xfrm>
            <a:off x="640080" y="4608576"/>
            <a:ext cx="1920240" cy="475488"/>
          </a:xfrm>
          <a:prstGeom prst="rect">
            <a:avLst/>
          </a:prstGeom>
          <a:noFill/>
          <a:ln/>
        </p:spPr>
        <p:txBody>
          <a:bodyPr wrap="square" lIns="0" tIns="0" rIns="0" bIns="0" rtlCol="0" anchor="ctr"/>
          <a:lstStyle/>
          <a:p>
            <a:pPr algn="l" indent="0" marL="0">
              <a:buNone/>
            </a:pPr>
            <a:r>
              <a:rPr lang="en-US" sz="1300" b="1" dirty="0">
                <a:solidFill>
                  <a:srgbClr val="17313B"/>
                </a:solidFill>
                <a:latin typeface="Calibri" pitchFamily="34" charset="0"/>
                <a:ea typeface="Calibri" pitchFamily="34" charset="-122"/>
                <a:cs typeface="Calibri" pitchFamily="34" charset="-120"/>
              </a:rPr>
              <a:t>Data</a:t>
            </a:r>
            <a:endParaRPr lang="en-US" sz="1300" dirty="0"/>
          </a:p>
        </p:txBody>
      </p:sp>
      <p:sp>
        <p:nvSpPr>
          <p:cNvPr id="48" name="Shape 46"/>
          <p:cNvSpPr/>
          <p:nvPr/>
        </p:nvSpPr>
        <p:spPr>
          <a:xfrm>
            <a:off x="3008376" y="4608576"/>
            <a:ext cx="1915668" cy="219456"/>
          </a:xfrm>
          <a:prstGeom prst="roundRect">
            <a:avLst>
              <a:gd name="adj" fmla="val 20833"/>
            </a:avLst>
          </a:prstGeom>
          <a:solidFill>
            <a:srgbClr val="7C3AED"/>
          </a:solidFill>
          <a:ln w="12700">
            <a:solidFill>
              <a:srgbClr val="7C3AED"/>
            </a:solidFill>
            <a:prstDash val="solid"/>
          </a:ln>
        </p:spPr>
      </p:sp>
      <p:sp>
        <p:nvSpPr>
          <p:cNvPr id="49" name="Text 47"/>
          <p:cNvSpPr txBox="1"/>
          <p:nvPr/>
        </p:nvSpPr>
        <p:spPr>
          <a:xfrm>
            <a:off x="3063240" y="4608576"/>
            <a:ext cx="1824228"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Z-field inventory</a:t>
            </a:r>
            <a:endParaRPr lang="en-US" sz="950" dirty="0"/>
          </a:p>
        </p:txBody>
      </p:sp>
      <p:sp>
        <p:nvSpPr>
          <p:cNvPr id="50" name="Shape 48"/>
          <p:cNvSpPr/>
          <p:nvPr/>
        </p:nvSpPr>
        <p:spPr>
          <a:xfrm>
            <a:off x="3899916" y="4864608"/>
            <a:ext cx="4055364" cy="219456"/>
          </a:xfrm>
          <a:prstGeom prst="roundRect">
            <a:avLst>
              <a:gd name="adj" fmla="val 20833"/>
            </a:avLst>
          </a:prstGeom>
          <a:solidFill>
            <a:srgbClr val="7C3AED"/>
          </a:solidFill>
          <a:ln w="12700">
            <a:solidFill>
              <a:srgbClr val="7C3AED"/>
            </a:solidFill>
            <a:prstDash val="solid"/>
          </a:ln>
        </p:spPr>
      </p:sp>
      <p:sp>
        <p:nvSpPr>
          <p:cNvPr id="51" name="Text 49"/>
          <p:cNvSpPr txBox="1"/>
          <p:nvPr/>
        </p:nvSpPr>
        <p:spPr>
          <a:xfrm>
            <a:off x="3954780" y="4864608"/>
            <a:ext cx="3963924"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DQ rules + BP clean-up</a:t>
            </a:r>
            <a:endParaRPr lang="en-US" sz="950" dirty="0"/>
          </a:p>
        </p:txBody>
      </p:sp>
      <p:sp>
        <p:nvSpPr>
          <p:cNvPr id="52" name="Shape 50"/>
          <p:cNvSpPr/>
          <p:nvPr/>
        </p:nvSpPr>
        <p:spPr>
          <a:xfrm>
            <a:off x="8001000" y="4864608"/>
            <a:ext cx="3342132" cy="219456"/>
          </a:xfrm>
          <a:prstGeom prst="roundRect">
            <a:avLst>
              <a:gd name="adj" fmla="val 20833"/>
            </a:avLst>
          </a:prstGeom>
          <a:solidFill>
            <a:srgbClr val="7C3AED"/>
          </a:solidFill>
          <a:ln w="12700">
            <a:solidFill>
              <a:srgbClr val="7C3AED"/>
            </a:solidFill>
            <a:prstDash val="solid"/>
          </a:ln>
        </p:spPr>
      </p:sp>
      <p:sp>
        <p:nvSpPr>
          <p:cNvPr id="53" name="Text 51"/>
          <p:cNvSpPr txBox="1"/>
          <p:nvPr/>
        </p:nvSpPr>
        <p:spPr>
          <a:xfrm>
            <a:off x="8055864" y="4864608"/>
            <a:ext cx="3250692"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MDG decision &amp; start</a:t>
            </a:r>
            <a:endParaRPr lang="en-US" sz="950" dirty="0"/>
          </a:p>
        </p:txBody>
      </p:sp>
      <p:sp>
        <p:nvSpPr>
          <p:cNvPr id="54" name="Shape 52"/>
          <p:cNvSpPr/>
          <p:nvPr/>
        </p:nvSpPr>
        <p:spPr>
          <a:xfrm>
            <a:off x="548640" y="5148072"/>
            <a:ext cx="11064240" cy="548640"/>
          </a:xfrm>
          <a:prstGeom prst="rect">
            <a:avLst/>
          </a:prstGeom>
          <a:solidFill>
            <a:srgbClr val="F8FAFC"/>
          </a:solidFill>
          <a:ln w="12700">
            <a:solidFill>
              <a:srgbClr val="F1F5F9"/>
            </a:solidFill>
            <a:prstDash val="solid"/>
          </a:ln>
        </p:spPr>
      </p:sp>
      <p:sp>
        <p:nvSpPr>
          <p:cNvPr id="55" name="Text 53"/>
          <p:cNvSpPr txBox="1"/>
          <p:nvPr/>
        </p:nvSpPr>
        <p:spPr>
          <a:xfrm>
            <a:off x="640080" y="5184648"/>
            <a:ext cx="1920240" cy="475488"/>
          </a:xfrm>
          <a:prstGeom prst="rect">
            <a:avLst/>
          </a:prstGeom>
          <a:noFill/>
          <a:ln/>
        </p:spPr>
        <p:txBody>
          <a:bodyPr wrap="square" lIns="0" tIns="0" rIns="0" bIns="0" rtlCol="0" anchor="ctr"/>
          <a:lstStyle/>
          <a:p>
            <a:pPr algn="l" indent="0" marL="0">
              <a:buNone/>
            </a:pPr>
            <a:r>
              <a:rPr lang="en-US" sz="1300" b="1" dirty="0">
                <a:solidFill>
                  <a:srgbClr val="17313B"/>
                </a:solidFill>
                <a:latin typeface="Calibri" pitchFamily="34" charset="0"/>
                <a:ea typeface="Calibri" pitchFamily="34" charset="-122"/>
                <a:cs typeface="Calibri" pitchFamily="34" charset="-120"/>
              </a:rPr>
              <a:t>Clean core</a:t>
            </a:r>
            <a:endParaRPr lang="en-US" sz="1300" dirty="0"/>
          </a:p>
        </p:txBody>
      </p:sp>
      <p:sp>
        <p:nvSpPr>
          <p:cNvPr id="56" name="Shape 54"/>
          <p:cNvSpPr/>
          <p:nvPr/>
        </p:nvSpPr>
        <p:spPr>
          <a:xfrm>
            <a:off x="3899916" y="5312664"/>
            <a:ext cx="2272284" cy="219456"/>
          </a:xfrm>
          <a:prstGeom prst="roundRect">
            <a:avLst>
              <a:gd name="adj" fmla="val 20833"/>
            </a:avLst>
          </a:prstGeom>
          <a:solidFill>
            <a:srgbClr val="BE123C"/>
          </a:solidFill>
          <a:ln w="12700">
            <a:solidFill>
              <a:srgbClr val="BE123C"/>
            </a:solidFill>
            <a:prstDash val="solid"/>
          </a:ln>
        </p:spPr>
      </p:sp>
      <p:sp>
        <p:nvSpPr>
          <p:cNvPr id="57" name="Text 55"/>
          <p:cNvSpPr txBox="1"/>
          <p:nvPr/>
        </p:nvSpPr>
        <p:spPr>
          <a:xfrm>
            <a:off x="3954780" y="5312664"/>
            <a:ext cx="2180844"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Retire unused code</a:t>
            </a:r>
            <a:endParaRPr lang="en-US" sz="950" dirty="0"/>
          </a:p>
        </p:txBody>
      </p:sp>
      <p:sp>
        <p:nvSpPr>
          <p:cNvPr id="58" name="Shape 56"/>
          <p:cNvSpPr/>
          <p:nvPr/>
        </p:nvSpPr>
        <p:spPr>
          <a:xfrm>
            <a:off x="6217920" y="5312664"/>
            <a:ext cx="5125212" cy="219456"/>
          </a:xfrm>
          <a:prstGeom prst="roundRect">
            <a:avLst>
              <a:gd name="adj" fmla="val 20833"/>
            </a:avLst>
          </a:prstGeom>
          <a:solidFill>
            <a:srgbClr val="BE123C"/>
          </a:solidFill>
          <a:ln w="12700">
            <a:solidFill>
              <a:srgbClr val="BE123C"/>
            </a:solidFill>
            <a:prstDash val="solid"/>
          </a:ln>
        </p:spPr>
      </p:sp>
      <p:sp>
        <p:nvSpPr>
          <p:cNvPr id="59" name="Text 57"/>
          <p:cNvSpPr txBox="1"/>
          <p:nvPr/>
        </p:nvSpPr>
        <p:spPr>
          <a:xfrm>
            <a:off x="6272784" y="5312664"/>
            <a:ext cx="5033772"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Remediate C/D; ABAP Cloud for all new</a:t>
            </a:r>
            <a:endParaRPr lang="en-US" sz="950" dirty="0"/>
          </a:p>
        </p:txBody>
      </p:sp>
      <p:sp>
        <p:nvSpPr>
          <p:cNvPr id="60" name="Shape 58"/>
          <p:cNvSpPr/>
          <p:nvPr/>
        </p:nvSpPr>
        <p:spPr>
          <a:xfrm>
            <a:off x="548640" y="5724144"/>
            <a:ext cx="11064240" cy="548640"/>
          </a:xfrm>
          <a:prstGeom prst="rect">
            <a:avLst/>
          </a:prstGeom>
          <a:solidFill>
            <a:srgbClr val="FFFFFF"/>
          </a:solidFill>
          <a:ln w="12700">
            <a:solidFill>
              <a:srgbClr val="F1F5F9"/>
            </a:solidFill>
            <a:prstDash val="solid"/>
          </a:ln>
        </p:spPr>
      </p:sp>
      <p:sp>
        <p:nvSpPr>
          <p:cNvPr id="61" name="Text 59"/>
          <p:cNvSpPr txBox="1"/>
          <p:nvPr/>
        </p:nvSpPr>
        <p:spPr>
          <a:xfrm>
            <a:off x="640080" y="5760720"/>
            <a:ext cx="1920240" cy="475488"/>
          </a:xfrm>
          <a:prstGeom prst="rect">
            <a:avLst/>
          </a:prstGeom>
          <a:noFill/>
          <a:ln/>
        </p:spPr>
        <p:txBody>
          <a:bodyPr wrap="square" lIns="0" tIns="0" rIns="0" bIns="0" rtlCol="0" anchor="ctr"/>
          <a:lstStyle/>
          <a:p>
            <a:pPr algn="l" indent="0" marL="0">
              <a:buNone/>
            </a:pPr>
            <a:r>
              <a:rPr lang="en-US" sz="1300" b="1" dirty="0">
                <a:solidFill>
                  <a:srgbClr val="17313B"/>
                </a:solidFill>
                <a:latin typeface="Calibri" pitchFamily="34" charset="0"/>
                <a:ea typeface="Calibri" pitchFamily="34" charset="-122"/>
                <a:cs typeface="Calibri" pitchFamily="34" charset="-120"/>
              </a:rPr>
              <a:t>Platform / ops</a:t>
            </a:r>
            <a:endParaRPr lang="en-US" sz="1300" dirty="0"/>
          </a:p>
        </p:txBody>
      </p:sp>
      <p:sp>
        <p:nvSpPr>
          <p:cNvPr id="62" name="Shape 60"/>
          <p:cNvSpPr/>
          <p:nvPr/>
        </p:nvSpPr>
        <p:spPr>
          <a:xfrm>
            <a:off x="3008376" y="5760720"/>
            <a:ext cx="3163824" cy="219456"/>
          </a:xfrm>
          <a:prstGeom prst="roundRect">
            <a:avLst>
              <a:gd name="adj" fmla="val 20833"/>
            </a:avLst>
          </a:prstGeom>
          <a:solidFill>
            <a:srgbClr val="1D4ED8"/>
          </a:solidFill>
          <a:ln w="12700">
            <a:solidFill>
              <a:srgbClr val="1D4ED8"/>
            </a:solidFill>
            <a:prstDash val="solid"/>
          </a:ln>
        </p:spPr>
      </p:sp>
      <p:sp>
        <p:nvSpPr>
          <p:cNvPr id="63" name="Text 61"/>
          <p:cNvSpPr txBox="1"/>
          <p:nvPr/>
        </p:nvSpPr>
        <p:spPr>
          <a:xfrm>
            <a:off x="3063240" y="5760720"/>
            <a:ext cx="3072384"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Cloud ALM set-up</a:t>
            </a:r>
            <a:endParaRPr lang="en-US" sz="950" dirty="0"/>
          </a:p>
        </p:txBody>
      </p:sp>
      <p:sp>
        <p:nvSpPr>
          <p:cNvPr id="64" name="Shape 62"/>
          <p:cNvSpPr/>
          <p:nvPr/>
        </p:nvSpPr>
        <p:spPr>
          <a:xfrm>
            <a:off x="4434840" y="6016752"/>
            <a:ext cx="3520440" cy="219456"/>
          </a:xfrm>
          <a:prstGeom prst="roundRect">
            <a:avLst>
              <a:gd name="adj" fmla="val 20833"/>
            </a:avLst>
          </a:prstGeom>
          <a:solidFill>
            <a:srgbClr val="1D4ED8"/>
          </a:solidFill>
          <a:ln w="12700">
            <a:solidFill>
              <a:srgbClr val="1D4ED8"/>
            </a:solidFill>
            <a:prstDash val="solid"/>
          </a:ln>
        </p:spPr>
      </p:sp>
      <p:sp>
        <p:nvSpPr>
          <p:cNvPr id="65" name="Text 63"/>
          <p:cNvSpPr txBox="1"/>
          <p:nvPr/>
        </p:nvSpPr>
        <p:spPr>
          <a:xfrm>
            <a:off x="4489704" y="6016752"/>
            <a:ext cx="3429000"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Test automation</a:t>
            </a:r>
            <a:endParaRPr lang="en-US" sz="950" dirty="0"/>
          </a:p>
        </p:txBody>
      </p:sp>
      <p:sp>
        <p:nvSpPr>
          <p:cNvPr id="66" name="Shape 64"/>
          <p:cNvSpPr/>
          <p:nvPr/>
        </p:nvSpPr>
        <p:spPr>
          <a:xfrm>
            <a:off x="8001000" y="5760720"/>
            <a:ext cx="2272284" cy="219456"/>
          </a:xfrm>
          <a:prstGeom prst="roundRect">
            <a:avLst>
              <a:gd name="adj" fmla="val 20833"/>
            </a:avLst>
          </a:prstGeom>
          <a:solidFill>
            <a:srgbClr val="1D4ED8"/>
          </a:solidFill>
          <a:ln w="12700">
            <a:solidFill>
              <a:srgbClr val="1D4ED8"/>
            </a:solidFill>
            <a:prstDash val="solid"/>
          </a:ln>
        </p:spPr>
      </p:sp>
      <p:sp>
        <p:nvSpPr>
          <p:cNvPr id="67" name="Text 65"/>
          <p:cNvSpPr txBox="1"/>
          <p:nvPr/>
        </p:nvSpPr>
        <p:spPr>
          <a:xfrm>
            <a:off x="8055864" y="5760720"/>
            <a:ext cx="2180844" cy="21945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Release / FPS upgrade</a:t>
            </a:r>
            <a:endParaRPr lang="en-US" sz="950" dirty="0"/>
          </a:p>
        </p:txBody>
      </p:sp>
      <p:sp>
        <p:nvSpPr>
          <p:cNvPr id="68" name="Text 66"/>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Three plays for the biggest gaps</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Each play starts with SAP standard and builds only what standard can’t do</a:t>
            </a:r>
            <a:endParaRPr lang="en-US" sz="1600" dirty="0"/>
          </a:p>
        </p:txBody>
      </p:sp>
      <p:sp>
        <p:nvSpPr>
          <p:cNvPr id="4" name="Shape 2"/>
          <p:cNvSpPr/>
          <p:nvPr/>
        </p:nvSpPr>
        <p:spPr>
          <a:xfrm>
            <a:off x="548640" y="1691640"/>
            <a:ext cx="3566160" cy="4572000"/>
          </a:xfrm>
          <a:prstGeom prst="roundRect">
            <a:avLst>
              <a:gd name="adj" fmla="val 205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874520"/>
            <a:ext cx="640080" cy="640080"/>
          </a:xfrm>
          <a:prstGeom prst="ellipse">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943661" y="2040941"/>
            <a:ext cx="307238" cy="307238"/>
          </a:xfrm>
          <a:prstGeom prst="rect">
            <a:avLst/>
          </a:prstGeom>
        </p:spPr>
      </p:pic>
      <p:sp>
        <p:nvSpPr>
          <p:cNvPr id="7" name="Text 4"/>
          <p:cNvSpPr txBox="1"/>
          <p:nvPr/>
        </p:nvSpPr>
        <p:spPr>
          <a:xfrm>
            <a:off x="1554480" y="1874520"/>
            <a:ext cx="2468880" cy="640080"/>
          </a:xfrm>
          <a:prstGeom prst="rect">
            <a:avLst/>
          </a:prstGeom>
          <a:noFill/>
          <a:ln/>
        </p:spPr>
        <p:txBody>
          <a:bodyPr wrap="square" lIns="0" tIns="0" rIns="0" bIns="0" rtlCol="0" anchor="ctr"/>
          <a:lstStyle/>
          <a:p>
            <a:pPr algn="l" indent="0" marL="0">
              <a:buNone/>
            </a:pPr>
            <a:r>
              <a:rPr lang="en-US" sz="1800" b="1" dirty="0">
                <a:solidFill>
                  <a:srgbClr val="17313B"/>
                </a:solidFill>
                <a:latin typeface="Calibri" pitchFamily="34" charset="0"/>
                <a:ea typeface="Calibri" pitchFamily="34" charset="-122"/>
                <a:cs typeface="Calibri" pitchFamily="34" charset="-120"/>
              </a:rPr>
              <a:t>Fiori &amp; Work Zone</a:t>
            </a:r>
            <a:endParaRPr lang="en-US" sz="1800" dirty="0"/>
          </a:p>
        </p:txBody>
      </p:sp>
      <p:sp>
        <p:nvSpPr>
          <p:cNvPr id="8" name="Text 5"/>
          <p:cNvSpPr txBox="1"/>
          <p:nvPr/>
        </p:nvSpPr>
        <p:spPr>
          <a:xfrm>
            <a:off x="777240" y="2697480"/>
            <a:ext cx="3154680" cy="3474720"/>
          </a:xfrm>
          <a:prstGeom prst="rect">
            <a:avLst/>
          </a:prstGeom>
          <a:noFill/>
          <a:ln/>
        </p:spPr>
        <p:txBody>
          <a:bodyPr wrap="square" lIns="0" tIns="0" rIns="0" bIns="0" rtlCol="0" anchor="t"/>
          <a:lstStyle/>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Pull 12 months of transaction usage; get app recommendations (Pathfinder / Fiori Apps Library)</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Design roles as spaces &amp; pages per job, not per module</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Roll out in business waves with key users as champions</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Work Zone standard as the single entry point: Fiori, BTP apps and non-SAP links</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Measure adoption; retire GUI transactions as apps land</a:t>
            </a:r>
            <a:endParaRPr lang="en-US" sz="1400" dirty="0"/>
          </a:p>
        </p:txBody>
      </p:sp>
      <p:sp>
        <p:nvSpPr>
          <p:cNvPr id="9" name="Shape 6"/>
          <p:cNvSpPr/>
          <p:nvPr/>
        </p:nvSpPr>
        <p:spPr>
          <a:xfrm>
            <a:off x="4297680" y="1691640"/>
            <a:ext cx="3566160" cy="4572000"/>
          </a:xfrm>
          <a:prstGeom prst="roundRect">
            <a:avLst>
              <a:gd name="adj" fmla="val 205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526280" y="1874520"/>
            <a:ext cx="640080" cy="640080"/>
          </a:xfrm>
          <a:prstGeom prst="ellipse">
            <a:avLst/>
          </a:prstGeom>
          <a:solidFill>
            <a:srgbClr val="0F766E"/>
          </a:solidFill>
          <a:ln w="12700">
            <a:solidFill>
              <a:srgbClr val="0F766E"/>
            </a:solidFill>
            <a:prstDash val="solid"/>
          </a:ln>
        </p:spPr>
      </p:sp>
      <p:pic>
        <p:nvPicPr>
          <p:cNvPr id="11" name="Image 1" descr="preencoded.png">    </p:cNvPr>
          <p:cNvPicPr>
            <a:picLocks noChangeAspect="1"/>
          </p:cNvPicPr>
          <p:nvPr/>
        </p:nvPicPr>
        <p:blipFill>
          <a:blip r:embed="rId2"/>
          <a:stretch>
            <a:fillRect/>
          </a:stretch>
        </p:blipFill>
        <p:spPr>
          <a:xfrm>
            <a:off x="4692701" y="2040941"/>
            <a:ext cx="307238" cy="307238"/>
          </a:xfrm>
          <a:prstGeom prst="rect">
            <a:avLst/>
          </a:prstGeom>
        </p:spPr>
      </p:pic>
      <p:sp>
        <p:nvSpPr>
          <p:cNvPr id="12" name="Text 8"/>
          <p:cNvSpPr txBox="1"/>
          <p:nvPr/>
        </p:nvSpPr>
        <p:spPr>
          <a:xfrm>
            <a:off x="5303520" y="1874520"/>
            <a:ext cx="2468880" cy="640080"/>
          </a:xfrm>
          <a:prstGeom prst="rect">
            <a:avLst/>
          </a:prstGeom>
          <a:noFill/>
          <a:ln/>
        </p:spPr>
        <p:txBody>
          <a:bodyPr wrap="square" lIns="0" tIns="0" rIns="0" bIns="0" rtlCol="0" anchor="ctr"/>
          <a:lstStyle/>
          <a:p>
            <a:pPr algn="l" indent="0" marL="0">
              <a:buNone/>
            </a:pPr>
            <a:r>
              <a:rPr lang="en-US" sz="1800" b="1" dirty="0">
                <a:solidFill>
                  <a:srgbClr val="17313B"/>
                </a:solidFill>
                <a:latin typeface="Calibri" pitchFamily="34" charset="0"/>
                <a:ea typeface="Calibri" pitchFamily="34" charset="-122"/>
                <a:cs typeface="Calibri" pitchFamily="34" charset="-120"/>
              </a:rPr>
              <a:t>Integration Suite</a:t>
            </a:r>
            <a:endParaRPr lang="en-US" sz="1800" dirty="0"/>
          </a:p>
        </p:txBody>
      </p:sp>
      <p:sp>
        <p:nvSpPr>
          <p:cNvPr id="13" name="Text 9"/>
          <p:cNvSpPr txBox="1"/>
          <p:nvPr/>
        </p:nvSpPr>
        <p:spPr>
          <a:xfrm>
            <a:off x="4526280" y="2697480"/>
            <a:ext cx="3154680" cy="3474720"/>
          </a:xfrm>
          <a:prstGeom prst="rect">
            <a:avLst/>
          </a:prstGeom>
          <a:noFill/>
          <a:ln/>
        </p:spPr>
        <p:txBody>
          <a:bodyPr wrap="square" lIns="0" tIns="0" rIns="0" bIns="0" rtlCol="0" anchor="t"/>
          <a:lstStyle/>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Landing zone: naming, packages, security, cTMS transports, alerting via Cloud ALM</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Inventory every interface; classify with ISA-M</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Prefer standard APIs and events from SAP Business Accelerator Hub</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Migrate in waves: highest-failure and PI/PO interfaces first</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Stop new point-to-point builds via design authority</a:t>
            </a:r>
            <a:endParaRPr lang="en-US" sz="1400" dirty="0"/>
          </a:p>
        </p:txBody>
      </p:sp>
      <p:sp>
        <p:nvSpPr>
          <p:cNvPr id="14" name="Shape 10"/>
          <p:cNvSpPr/>
          <p:nvPr/>
        </p:nvSpPr>
        <p:spPr>
          <a:xfrm>
            <a:off x="8046720" y="1691640"/>
            <a:ext cx="3566160" cy="4572000"/>
          </a:xfrm>
          <a:prstGeom prst="roundRect">
            <a:avLst>
              <a:gd name="adj" fmla="val 205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8275320" y="1874520"/>
            <a:ext cx="640080" cy="640080"/>
          </a:xfrm>
          <a:prstGeom prst="ellipse">
            <a:avLst/>
          </a:prstGeom>
          <a:solidFill>
            <a:srgbClr val="0F766E"/>
          </a:solidFill>
          <a:ln w="12700">
            <a:solidFill>
              <a:srgbClr val="0F766E"/>
            </a:solidFill>
            <a:prstDash val="solid"/>
          </a:ln>
        </p:spPr>
      </p:sp>
      <p:pic>
        <p:nvPicPr>
          <p:cNvPr id="16" name="Image 2" descr="preencoded.png">    </p:cNvPr>
          <p:cNvPicPr>
            <a:picLocks noChangeAspect="1"/>
          </p:cNvPicPr>
          <p:nvPr/>
        </p:nvPicPr>
        <p:blipFill>
          <a:blip r:embed="rId3"/>
          <a:stretch>
            <a:fillRect/>
          </a:stretch>
        </p:blipFill>
        <p:spPr>
          <a:xfrm>
            <a:off x="8441741" y="2040941"/>
            <a:ext cx="307238" cy="307238"/>
          </a:xfrm>
          <a:prstGeom prst="rect">
            <a:avLst/>
          </a:prstGeom>
        </p:spPr>
      </p:pic>
      <p:sp>
        <p:nvSpPr>
          <p:cNvPr id="17" name="Text 12"/>
          <p:cNvSpPr txBox="1"/>
          <p:nvPr/>
        </p:nvSpPr>
        <p:spPr>
          <a:xfrm>
            <a:off x="9052560" y="1874520"/>
            <a:ext cx="2468880" cy="640080"/>
          </a:xfrm>
          <a:prstGeom prst="rect">
            <a:avLst/>
          </a:prstGeom>
          <a:noFill/>
          <a:ln/>
        </p:spPr>
        <p:txBody>
          <a:bodyPr wrap="square" lIns="0" tIns="0" rIns="0" bIns="0" rtlCol="0" anchor="ctr"/>
          <a:lstStyle/>
          <a:p>
            <a:pPr algn="l" indent="0" marL="0">
              <a:buNone/>
            </a:pPr>
            <a:r>
              <a:rPr lang="en-US" sz="1800" b="1" dirty="0">
                <a:solidFill>
                  <a:srgbClr val="17313B"/>
                </a:solidFill>
                <a:latin typeface="Calibri" pitchFamily="34" charset="0"/>
                <a:ea typeface="Calibri" pitchFamily="34" charset="-122"/>
                <a:cs typeface="Calibri" pitchFamily="34" charset="-120"/>
              </a:rPr>
              <a:t>Data &amp; custom fields</a:t>
            </a:r>
            <a:endParaRPr lang="en-US" sz="1800" dirty="0"/>
          </a:p>
        </p:txBody>
      </p:sp>
      <p:sp>
        <p:nvSpPr>
          <p:cNvPr id="18" name="Text 13"/>
          <p:cNvSpPr txBox="1"/>
          <p:nvPr/>
        </p:nvSpPr>
        <p:spPr>
          <a:xfrm>
            <a:off x="8275320" y="2697480"/>
            <a:ext cx="3154680" cy="3474720"/>
          </a:xfrm>
          <a:prstGeom prst="rect">
            <a:avLst/>
          </a:prstGeom>
          <a:noFill/>
          <a:ln/>
        </p:spPr>
        <p:txBody>
          <a:bodyPr wrap="square" lIns="0" tIns="0" rIns="0" bIns="0" rtlCol="0" anchor="t"/>
          <a:lstStyle/>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Inventory every business-data Z-field (use the 8-question checklist)</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Map to standard where S/4 now has a home; else re-create with Custom Fields app</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Assign data owners; define DQ rules and a monthly score</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Clean duplicates (business partner, material) before migrating fields</a:t>
            </a:r>
            <a:endParaRPr lang="en-US" sz="1400" dirty="0"/>
          </a:p>
          <a:p>
            <a:pPr algn="l" marL="342900" indent="-342900">
              <a:spcAft>
                <a:spcPts val="1000"/>
              </a:spcAft>
              <a:buSzPct val="100000"/>
              <a:buFont typeface="+mj-lt"/>
              <a:buAutoNum type="arabicPeriod" startAt="1"/>
            </a:pPr>
            <a:r>
              <a:rPr lang="en-US" sz="1400" dirty="0">
                <a:solidFill>
                  <a:srgbClr val="1F2937"/>
                </a:solidFill>
                <a:latin typeface="Calibri" pitchFamily="34" charset="0"/>
                <a:ea typeface="Calibri" pitchFamily="34" charset="-122"/>
                <a:cs typeface="Calibri" pitchFamily="34" charset="-120"/>
              </a:rPr>
              <a:t>Decide on MDG / governance tooling with a business case</a:t>
            </a:r>
            <a:endParaRPr lang="en-US" sz="1400" dirty="0"/>
          </a:p>
        </p:txBody>
      </p:sp>
      <p:sp>
        <p:nvSpPr>
          <p:cNvPr id="19" name="Text 14"/>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The first 90 days</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Visible early wins while the baseline is built</a:t>
            </a:r>
            <a:endParaRPr lang="en-US" sz="1600" dirty="0"/>
          </a:p>
        </p:txBody>
      </p:sp>
      <p:sp>
        <p:nvSpPr>
          <p:cNvPr id="4" name="Shape 2"/>
          <p:cNvSpPr/>
          <p:nvPr/>
        </p:nvSpPr>
        <p:spPr>
          <a:xfrm>
            <a:off x="548640" y="1691640"/>
            <a:ext cx="3566160" cy="868680"/>
          </a:xfrm>
          <a:prstGeom prst="roundRect">
            <a:avLst>
              <a:gd name="adj" fmla="val 8421"/>
            </a:avLst>
          </a:prstGeom>
          <a:solidFill>
            <a:srgbClr val="17313B"/>
          </a:solidFill>
          <a:ln w="12700">
            <a:solidFill>
              <a:srgbClr val="17313B"/>
            </a:solidFill>
            <a:prstDash val="solid"/>
          </a:ln>
        </p:spPr>
      </p:sp>
      <p:sp>
        <p:nvSpPr>
          <p:cNvPr id="5" name="Text 3"/>
          <p:cNvSpPr txBox="1"/>
          <p:nvPr/>
        </p:nvSpPr>
        <p:spPr>
          <a:xfrm>
            <a:off x="777240" y="1737360"/>
            <a:ext cx="3108960" cy="365760"/>
          </a:xfrm>
          <a:prstGeom prst="rect">
            <a:avLst/>
          </a:prstGeom>
          <a:noFill/>
          <a:ln/>
        </p:spPr>
        <p:txBody>
          <a:bodyPr wrap="square" lIns="0" tIns="0" rIns="0" bIns="0" rtlCol="0" anchor="t"/>
          <a:lstStyle/>
          <a:p>
            <a:pPr algn="l" indent="0" marL="0">
              <a:buNone/>
            </a:pPr>
            <a:r>
              <a:rPr lang="en-US" sz="1300" b="1" dirty="0">
                <a:solidFill>
                  <a:srgbClr val="CCFBF1"/>
                </a:solidFill>
                <a:latin typeface="Calibri" pitchFamily="34" charset="0"/>
                <a:ea typeface="Calibri" pitchFamily="34" charset="-122"/>
                <a:cs typeface="Calibri" pitchFamily="34" charset="-120"/>
              </a:rPr>
              <a:t>Days 1–30</a:t>
            </a:r>
            <a:endParaRPr lang="en-US" sz="1300" dirty="0"/>
          </a:p>
        </p:txBody>
      </p:sp>
      <p:sp>
        <p:nvSpPr>
          <p:cNvPr id="6" name="Text 4"/>
          <p:cNvSpPr txBox="1"/>
          <p:nvPr/>
        </p:nvSpPr>
        <p:spPr>
          <a:xfrm>
            <a:off x="777240" y="2084832"/>
            <a:ext cx="3108960" cy="411480"/>
          </a:xfrm>
          <a:prstGeom prst="rect">
            <a:avLst/>
          </a:prstGeom>
          <a:noFill/>
          <a:ln/>
        </p:spPr>
        <p:txBody>
          <a:bodyPr wrap="square" lIns="0" tIns="0" rIns="0" bIns="0" rtlCol="0" anchor="t"/>
          <a:lstStyle/>
          <a:p>
            <a:pPr algn="l" indent="0" marL="0">
              <a:buNone/>
            </a:pPr>
            <a:r>
              <a:rPr lang="en-US" sz="1900" b="1" dirty="0">
                <a:solidFill>
                  <a:srgbClr val="FFFFFF"/>
                </a:solidFill>
                <a:latin typeface="Calibri" pitchFamily="34" charset="0"/>
                <a:ea typeface="Calibri" pitchFamily="34" charset="-122"/>
                <a:cs typeface="Calibri" pitchFamily="34" charset="-120"/>
              </a:rPr>
              <a:t>Mobilise</a:t>
            </a:r>
            <a:endParaRPr lang="en-US" sz="1900" dirty="0"/>
          </a:p>
        </p:txBody>
      </p:sp>
      <p:sp>
        <p:nvSpPr>
          <p:cNvPr id="7" name="Shape 5"/>
          <p:cNvSpPr/>
          <p:nvPr/>
        </p:nvSpPr>
        <p:spPr>
          <a:xfrm>
            <a:off x="548640" y="2697480"/>
            <a:ext cx="3566160" cy="3566160"/>
          </a:xfrm>
          <a:prstGeom prst="roundRect">
            <a:avLst>
              <a:gd name="adj" fmla="val 205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777240" y="2880360"/>
            <a:ext cx="3154680" cy="3291840"/>
          </a:xfrm>
          <a:prstGeom prst="rect">
            <a:avLst/>
          </a:prstGeom>
          <a:noFill/>
          <a:ln/>
        </p:spPr>
        <p:txBody>
          <a:bodyPr wrap="square" lIns="0" tIns="0" rIns="0" bIns="0" rtlCol="0" anchor="t"/>
          <a:lstStyle/>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Name product owner, EA, design authority</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Choose backlog tool (Cloud ALM or existing)</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Load the Planner register; run first triage</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Run Readiness Check, Pathfinder, ATC clean-core, SCMON</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Start interface and Z-field inventories</a:t>
            </a:r>
            <a:endParaRPr lang="en-US" sz="1500" dirty="0"/>
          </a:p>
        </p:txBody>
      </p:sp>
      <p:sp>
        <p:nvSpPr>
          <p:cNvPr id="9" name="Shape 7"/>
          <p:cNvSpPr/>
          <p:nvPr/>
        </p:nvSpPr>
        <p:spPr>
          <a:xfrm>
            <a:off x="4297680" y="1691640"/>
            <a:ext cx="3566160" cy="868680"/>
          </a:xfrm>
          <a:prstGeom prst="roundRect">
            <a:avLst>
              <a:gd name="adj" fmla="val 8421"/>
            </a:avLst>
          </a:prstGeom>
          <a:solidFill>
            <a:srgbClr val="0F766E"/>
          </a:solidFill>
          <a:ln w="12700">
            <a:solidFill>
              <a:srgbClr val="0F766E"/>
            </a:solidFill>
            <a:prstDash val="solid"/>
          </a:ln>
        </p:spPr>
      </p:sp>
      <p:sp>
        <p:nvSpPr>
          <p:cNvPr id="10" name="Text 8"/>
          <p:cNvSpPr txBox="1"/>
          <p:nvPr/>
        </p:nvSpPr>
        <p:spPr>
          <a:xfrm>
            <a:off x="4526280" y="1737360"/>
            <a:ext cx="3108960" cy="365760"/>
          </a:xfrm>
          <a:prstGeom prst="rect">
            <a:avLst/>
          </a:prstGeom>
          <a:noFill/>
          <a:ln/>
        </p:spPr>
        <p:txBody>
          <a:bodyPr wrap="square" lIns="0" tIns="0" rIns="0" bIns="0" rtlCol="0" anchor="t"/>
          <a:lstStyle/>
          <a:p>
            <a:pPr algn="l" indent="0" marL="0">
              <a:buNone/>
            </a:pPr>
            <a:r>
              <a:rPr lang="en-US" sz="1300" b="1" dirty="0">
                <a:solidFill>
                  <a:srgbClr val="CCFBF1"/>
                </a:solidFill>
                <a:latin typeface="Calibri" pitchFamily="34" charset="0"/>
                <a:ea typeface="Calibri" pitchFamily="34" charset="-122"/>
                <a:cs typeface="Calibri" pitchFamily="34" charset="-120"/>
              </a:rPr>
              <a:t>Days 31–60</a:t>
            </a:r>
            <a:endParaRPr lang="en-US" sz="1300" dirty="0"/>
          </a:p>
        </p:txBody>
      </p:sp>
      <p:sp>
        <p:nvSpPr>
          <p:cNvPr id="11" name="Text 9"/>
          <p:cNvSpPr txBox="1"/>
          <p:nvPr/>
        </p:nvSpPr>
        <p:spPr>
          <a:xfrm>
            <a:off x="4526280" y="2084832"/>
            <a:ext cx="3108960" cy="411480"/>
          </a:xfrm>
          <a:prstGeom prst="rect">
            <a:avLst/>
          </a:prstGeom>
          <a:noFill/>
          <a:ln/>
        </p:spPr>
        <p:txBody>
          <a:bodyPr wrap="square" lIns="0" tIns="0" rIns="0" bIns="0" rtlCol="0" anchor="t"/>
          <a:lstStyle/>
          <a:p>
            <a:pPr algn="l" indent="0" marL="0">
              <a:buNone/>
            </a:pPr>
            <a:r>
              <a:rPr lang="en-US" sz="1900" b="1" dirty="0">
                <a:solidFill>
                  <a:srgbClr val="FFFFFF"/>
                </a:solidFill>
                <a:latin typeface="Calibri" pitchFamily="34" charset="0"/>
                <a:ea typeface="Calibri" pitchFamily="34" charset="-122"/>
                <a:cs typeface="Calibri" pitchFamily="34" charset="-120"/>
              </a:rPr>
              <a:t>Baseline &amp; foundations</a:t>
            </a:r>
            <a:endParaRPr lang="en-US" sz="1900" dirty="0"/>
          </a:p>
        </p:txBody>
      </p:sp>
      <p:sp>
        <p:nvSpPr>
          <p:cNvPr id="12" name="Shape 10"/>
          <p:cNvSpPr/>
          <p:nvPr/>
        </p:nvSpPr>
        <p:spPr>
          <a:xfrm>
            <a:off x="4297680" y="2697480"/>
            <a:ext cx="3566160" cy="3566160"/>
          </a:xfrm>
          <a:prstGeom prst="roundRect">
            <a:avLst>
              <a:gd name="adj" fmla="val 205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4526280" y="2880360"/>
            <a:ext cx="3154680" cy="3291840"/>
          </a:xfrm>
          <a:prstGeom prst="rect">
            <a:avLst/>
          </a:prstGeom>
          <a:noFill/>
          <a:ln/>
        </p:spPr>
        <p:txBody>
          <a:bodyPr wrap="square" lIns="0" tIns="0" rIns="0" bIns="0" rtlCol="0" anchor="t"/>
          <a:lstStyle/>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Score and rank top 50 items with WSJF</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Agree capacity guardrails and budget cap</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Fiori launchpad foundation + first finance roles</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Work Zone subaccount, IdP; Integration Suite landing zone</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First KPI dashboard to leadership</a:t>
            </a:r>
            <a:endParaRPr lang="en-US" sz="1500" dirty="0"/>
          </a:p>
        </p:txBody>
      </p:sp>
      <p:sp>
        <p:nvSpPr>
          <p:cNvPr id="14" name="Shape 12"/>
          <p:cNvSpPr/>
          <p:nvPr/>
        </p:nvSpPr>
        <p:spPr>
          <a:xfrm>
            <a:off x="8046720" y="1691640"/>
            <a:ext cx="3566160" cy="868680"/>
          </a:xfrm>
          <a:prstGeom prst="roundRect">
            <a:avLst>
              <a:gd name="adj" fmla="val 8421"/>
            </a:avLst>
          </a:prstGeom>
          <a:solidFill>
            <a:srgbClr val="14B8A6"/>
          </a:solidFill>
          <a:ln w="12700">
            <a:solidFill>
              <a:srgbClr val="14B8A6"/>
            </a:solidFill>
            <a:prstDash val="solid"/>
          </a:ln>
        </p:spPr>
      </p:sp>
      <p:sp>
        <p:nvSpPr>
          <p:cNvPr id="15" name="Text 13"/>
          <p:cNvSpPr txBox="1"/>
          <p:nvPr/>
        </p:nvSpPr>
        <p:spPr>
          <a:xfrm>
            <a:off x="8275320" y="1737360"/>
            <a:ext cx="3108960" cy="365760"/>
          </a:xfrm>
          <a:prstGeom prst="rect">
            <a:avLst/>
          </a:prstGeom>
          <a:noFill/>
          <a:ln/>
        </p:spPr>
        <p:txBody>
          <a:bodyPr wrap="square" lIns="0" tIns="0" rIns="0" bIns="0" rtlCol="0" anchor="t"/>
          <a:lstStyle/>
          <a:p>
            <a:pPr algn="l" indent="0" marL="0">
              <a:buNone/>
            </a:pPr>
            <a:r>
              <a:rPr lang="en-US" sz="1300" b="1" dirty="0">
                <a:solidFill>
                  <a:srgbClr val="CCFBF1"/>
                </a:solidFill>
                <a:latin typeface="Calibri" pitchFamily="34" charset="0"/>
                <a:ea typeface="Calibri" pitchFamily="34" charset="-122"/>
                <a:cs typeface="Calibri" pitchFamily="34" charset="-120"/>
              </a:rPr>
              <a:t>Days 61–90</a:t>
            </a:r>
            <a:endParaRPr lang="en-US" sz="1300" dirty="0"/>
          </a:p>
        </p:txBody>
      </p:sp>
      <p:sp>
        <p:nvSpPr>
          <p:cNvPr id="16" name="Text 14"/>
          <p:cNvSpPr txBox="1"/>
          <p:nvPr/>
        </p:nvSpPr>
        <p:spPr>
          <a:xfrm>
            <a:off x="8275320" y="2084832"/>
            <a:ext cx="3108960" cy="411480"/>
          </a:xfrm>
          <a:prstGeom prst="rect">
            <a:avLst/>
          </a:prstGeom>
          <a:noFill/>
          <a:ln/>
        </p:spPr>
        <p:txBody>
          <a:bodyPr wrap="square" lIns="0" tIns="0" rIns="0" bIns="0" rtlCol="0" anchor="t"/>
          <a:lstStyle/>
          <a:p>
            <a:pPr algn="l" indent="0" marL="0">
              <a:buNone/>
            </a:pPr>
            <a:r>
              <a:rPr lang="en-US" sz="1900" b="1" dirty="0">
                <a:solidFill>
                  <a:srgbClr val="FFFFFF"/>
                </a:solidFill>
                <a:latin typeface="Calibri" pitchFamily="34" charset="0"/>
                <a:ea typeface="Calibri" pitchFamily="34" charset="-122"/>
                <a:cs typeface="Calibri" pitchFamily="34" charset="-120"/>
              </a:rPr>
              <a:t>First wins</a:t>
            </a:r>
            <a:endParaRPr lang="en-US" sz="1900" dirty="0"/>
          </a:p>
        </p:txBody>
      </p:sp>
      <p:sp>
        <p:nvSpPr>
          <p:cNvPr id="17" name="Shape 15"/>
          <p:cNvSpPr/>
          <p:nvPr/>
        </p:nvSpPr>
        <p:spPr>
          <a:xfrm>
            <a:off x="8046720" y="2697480"/>
            <a:ext cx="3566160" cy="3566160"/>
          </a:xfrm>
          <a:prstGeom prst="roundRect">
            <a:avLst>
              <a:gd name="adj" fmla="val 2051"/>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8275320" y="2880360"/>
            <a:ext cx="3154680" cy="3291840"/>
          </a:xfrm>
          <a:prstGeom prst="rect">
            <a:avLst/>
          </a:prstGeom>
          <a:noFill/>
          <a:ln/>
        </p:spPr>
        <p:txBody>
          <a:bodyPr wrap="square" lIns="0" tIns="0" rIns="0" bIns="0" rtlCol="0" anchor="t"/>
          <a:lstStyle/>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First Fiori apps live for finance users</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Pilot Work Zone site demoed</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Top 3 failing interfaces fixed or migrated</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First Z-fields mapped / exposed; DQ score published</a:t>
            </a:r>
            <a:endParaRPr lang="en-US" sz="1500" dirty="0"/>
          </a:p>
          <a:p>
            <a:pPr algn="l" marL="177800" indent="-177800">
              <a:spcAft>
                <a:spcPts val="1200"/>
              </a:spcAft>
              <a:buSzPct val="100000"/>
              <a:buChar char="•"/>
            </a:pPr>
            <a:r>
              <a:rPr lang="en-US" sz="1500" dirty="0">
                <a:solidFill>
                  <a:srgbClr val="1F2937"/>
                </a:solidFill>
                <a:latin typeface="Calibri" pitchFamily="34" charset="0"/>
                <a:ea typeface="Calibri" pitchFamily="34" charset="-122"/>
                <a:cs typeface="Calibri" pitchFamily="34" charset="-120"/>
              </a:rPr>
              <a:t>Quarterly roadmap refresh with business</a:t>
            </a:r>
            <a:endParaRPr lang="en-US" sz="1500" dirty="0"/>
          </a:p>
        </p:txBody>
      </p:sp>
      <p:sp>
        <p:nvSpPr>
          <p:cNvPr id="19" name="Text 17"/>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algn="l" indent="0" marL="0">
              <a:buNone/>
            </a:pPr>
            <a:r>
              <a:rPr lang="en-US" sz="3000" b="1" dirty="0">
                <a:solidFill>
                  <a:srgbClr val="17313B"/>
                </a:solidFill>
                <a:latin typeface="Arial" pitchFamily="34" charset="0"/>
                <a:ea typeface="Arial" pitchFamily="34" charset="-122"/>
                <a:cs typeface="Arial" pitchFamily="34" charset="-120"/>
              </a:rPr>
              <a:t>Questions we need answered to finalise the plan</a:t>
            </a:r>
            <a:endParaRPr lang="en-US" sz="3000" dirty="0"/>
          </a:p>
        </p:txBody>
      </p:sp>
      <p:sp>
        <p:nvSpPr>
          <p:cNvPr id="3" name="Text 1"/>
          <p:cNvSpPr txBox="1"/>
          <p:nvPr/>
        </p:nvSpPr>
        <p:spPr>
          <a:xfrm>
            <a:off x="548640" y="1051560"/>
            <a:ext cx="11064240" cy="411480"/>
          </a:xfrm>
          <a:prstGeom prst="rect">
            <a:avLst/>
          </a:prstGeom>
          <a:noFill/>
          <a:ln/>
        </p:spPr>
        <p:txBody>
          <a:bodyPr wrap="square" lIns="0" tIns="0" rIns="0" bIns="0" rtlCol="0" anchor="ctr"/>
          <a:lstStyle/>
          <a:p>
            <a:pPr algn="l" indent="0" marL="0">
              <a:buNone/>
            </a:pPr>
            <a:r>
              <a:rPr lang="en-US" sz="1600" dirty="0">
                <a:solidFill>
                  <a:srgbClr val="6B7280"/>
                </a:solidFill>
                <a:latin typeface="Calibri" pitchFamily="34" charset="0"/>
                <a:ea typeface="Calibri" pitchFamily="34" charset="-122"/>
                <a:cs typeface="Calibri" pitchFamily="34" charset="-120"/>
              </a:rPr>
              <a:t>Please bring answers (or owners) to the next session</a:t>
            </a:r>
            <a:endParaRPr lang="en-US" sz="1600" dirty="0"/>
          </a:p>
        </p:txBody>
      </p:sp>
      <p:sp>
        <p:nvSpPr>
          <p:cNvPr id="4" name="Shape 2"/>
          <p:cNvSpPr/>
          <p:nvPr/>
        </p:nvSpPr>
        <p:spPr>
          <a:xfrm>
            <a:off x="548640" y="1645920"/>
            <a:ext cx="3566160" cy="2240280"/>
          </a:xfrm>
          <a:prstGeom prst="roundRect">
            <a:avLst>
              <a:gd name="adj" fmla="val 3265"/>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31520" y="1783080"/>
            <a:ext cx="457200" cy="457200"/>
          </a:xfrm>
          <a:prstGeom prst="ellipse">
            <a:avLst/>
          </a:prstGeom>
          <a:solidFill>
            <a:srgbClr val="17313B"/>
          </a:solidFill>
          <a:ln w="12700">
            <a:solidFill>
              <a:srgbClr val="17313B"/>
            </a:solidFill>
            <a:prstDash val="solid"/>
          </a:ln>
        </p:spPr>
      </p:sp>
      <p:pic>
        <p:nvPicPr>
          <p:cNvPr id="6" name="Image 0" descr="preencoded.png">    </p:cNvPr>
          <p:cNvPicPr>
            <a:picLocks noChangeAspect="1"/>
          </p:cNvPicPr>
          <p:nvPr/>
        </p:nvPicPr>
        <p:blipFill>
          <a:blip r:embed="rId1"/>
          <a:stretch>
            <a:fillRect/>
          </a:stretch>
        </p:blipFill>
        <p:spPr>
          <a:xfrm>
            <a:off x="850392" y="1901952"/>
            <a:ext cx="219456" cy="219456"/>
          </a:xfrm>
          <a:prstGeom prst="rect">
            <a:avLst/>
          </a:prstGeom>
        </p:spPr>
      </p:pic>
      <p:sp>
        <p:nvSpPr>
          <p:cNvPr id="7" name="Text 4"/>
          <p:cNvSpPr txBox="1"/>
          <p:nvPr/>
        </p:nvSpPr>
        <p:spPr>
          <a:xfrm>
            <a:off x="1325880" y="1783080"/>
            <a:ext cx="2651760" cy="457200"/>
          </a:xfrm>
          <a:prstGeom prst="rect">
            <a:avLst/>
          </a:prstGeom>
          <a:noFill/>
          <a:ln/>
        </p:spPr>
        <p:txBody>
          <a:bodyPr wrap="square" lIns="0" tIns="0" rIns="0" bIns="0" rtlCol="0" anchor="ctr"/>
          <a:lstStyle/>
          <a:p>
            <a:pPr algn="l" indent="0" marL="0">
              <a:buNone/>
            </a:pPr>
            <a:r>
              <a:rPr lang="en-US" sz="1500" b="1" dirty="0">
                <a:solidFill>
                  <a:srgbClr val="17313B"/>
                </a:solidFill>
                <a:latin typeface="Calibri" pitchFamily="34" charset="0"/>
                <a:ea typeface="Calibri" pitchFamily="34" charset="-122"/>
                <a:cs typeface="Calibri" pitchFamily="34" charset="-120"/>
              </a:rPr>
              <a:t>Landscape &amp; licensing</a:t>
            </a:r>
            <a:endParaRPr lang="en-US" sz="1500" dirty="0"/>
          </a:p>
        </p:txBody>
      </p:sp>
      <p:sp>
        <p:nvSpPr>
          <p:cNvPr id="8" name="Text 5"/>
          <p:cNvSpPr txBox="1"/>
          <p:nvPr/>
        </p:nvSpPr>
        <p:spPr>
          <a:xfrm>
            <a:off x="731520" y="2331720"/>
            <a:ext cx="3246120" cy="1508760"/>
          </a:xfrm>
          <a:prstGeom prst="rect">
            <a:avLst/>
          </a:prstGeom>
          <a:noFill/>
          <a:ln/>
        </p:spPr>
        <p:txBody>
          <a:bodyPr wrap="square" lIns="0" tIns="0" rIns="0" bIns="0" rtlCol="0" anchor="t"/>
          <a:lstStyle/>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S/4HANA deployment (RISE private, on-premise, public) and current release / FPS?</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BTP contract model and entitlements (Work Zone edition, Integration Suite, credits)?</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Is PI/PO in the landscape, and until when?</a:t>
            </a:r>
            <a:endParaRPr lang="en-US" sz="1200" dirty="0"/>
          </a:p>
        </p:txBody>
      </p:sp>
      <p:sp>
        <p:nvSpPr>
          <p:cNvPr id="9" name="Shape 6"/>
          <p:cNvSpPr/>
          <p:nvPr/>
        </p:nvSpPr>
        <p:spPr>
          <a:xfrm>
            <a:off x="4297680" y="1645920"/>
            <a:ext cx="3566160" cy="2240280"/>
          </a:xfrm>
          <a:prstGeom prst="roundRect">
            <a:avLst>
              <a:gd name="adj" fmla="val 3265"/>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480560" y="1783080"/>
            <a:ext cx="457200" cy="457200"/>
          </a:xfrm>
          <a:prstGeom prst="ellipse">
            <a:avLst/>
          </a:prstGeom>
          <a:solidFill>
            <a:srgbClr val="0F766E"/>
          </a:solidFill>
          <a:ln w="12700">
            <a:solidFill>
              <a:srgbClr val="0F766E"/>
            </a:solidFill>
            <a:prstDash val="solid"/>
          </a:ln>
        </p:spPr>
      </p:sp>
      <p:pic>
        <p:nvPicPr>
          <p:cNvPr id="11" name="Image 1" descr="preencoded.png">    </p:cNvPr>
          <p:cNvPicPr>
            <a:picLocks noChangeAspect="1"/>
          </p:cNvPicPr>
          <p:nvPr/>
        </p:nvPicPr>
        <p:blipFill>
          <a:blip r:embed="rId2"/>
          <a:stretch>
            <a:fillRect/>
          </a:stretch>
        </p:blipFill>
        <p:spPr>
          <a:xfrm>
            <a:off x="4599432" y="1901952"/>
            <a:ext cx="219456" cy="219456"/>
          </a:xfrm>
          <a:prstGeom prst="rect">
            <a:avLst/>
          </a:prstGeom>
        </p:spPr>
      </p:pic>
      <p:sp>
        <p:nvSpPr>
          <p:cNvPr id="12" name="Text 8"/>
          <p:cNvSpPr txBox="1"/>
          <p:nvPr/>
        </p:nvSpPr>
        <p:spPr>
          <a:xfrm>
            <a:off x="5074920" y="1783080"/>
            <a:ext cx="2651760" cy="457200"/>
          </a:xfrm>
          <a:prstGeom prst="rect">
            <a:avLst/>
          </a:prstGeom>
          <a:noFill/>
          <a:ln/>
        </p:spPr>
        <p:txBody>
          <a:bodyPr wrap="square" lIns="0" tIns="0" rIns="0" bIns="0" rtlCol="0" anchor="ctr"/>
          <a:lstStyle/>
          <a:p>
            <a:pPr algn="l" indent="0" marL="0">
              <a:buNone/>
            </a:pPr>
            <a:r>
              <a:rPr lang="en-US" sz="1500" b="1" dirty="0">
                <a:solidFill>
                  <a:srgbClr val="17313B"/>
                </a:solidFill>
                <a:latin typeface="Calibri" pitchFamily="34" charset="0"/>
                <a:ea typeface="Calibri" pitchFamily="34" charset="-122"/>
                <a:cs typeface="Calibri" pitchFamily="34" charset="-120"/>
              </a:rPr>
              <a:t>Budget &amp; team</a:t>
            </a:r>
            <a:endParaRPr lang="en-US" sz="1500" dirty="0"/>
          </a:p>
        </p:txBody>
      </p:sp>
      <p:sp>
        <p:nvSpPr>
          <p:cNvPr id="13" name="Text 9"/>
          <p:cNvSpPr txBox="1"/>
          <p:nvPr/>
        </p:nvSpPr>
        <p:spPr>
          <a:xfrm>
            <a:off x="4480560" y="2331720"/>
            <a:ext cx="3246120" cy="1508760"/>
          </a:xfrm>
          <a:prstGeom prst="rect">
            <a:avLst/>
          </a:prstGeom>
          <a:noFill/>
          <a:ln/>
        </p:spPr>
        <p:txBody>
          <a:bodyPr wrap="square" lIns="0" tIns="0" rIns="0" bIns="0" rtlCol="0" anchor="t"/>
          <a:lstStyle/>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Current IT/AMS run budget and team size; what is fixed vs flexible?</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Is the partner contract ticket-based or capacity-based?</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Who can approve capacity shifts between work types?</a:t>
            </a:r>
            <a:endParaRPr lang="en-US" sz="1200" dirty="0"/>
          </a:p>
        </p:txBody>
      </p:sp>
      <p:sp>
        <p:nvSpPr>
          <p:cNvPr id="14" name="Shape 10"/>
          <p:cNvSpPr/>
          <p:nvPr/>
        </p:nvSpPr>
        <p:spPr>
          <a:xfrm>
            <a:off x="8046720" y="1645920"/>
            <a:ext cx="3566160" cy="2240280"/>
          </a:xfrm>
          <a:prstGeom prst="roundRect">
            <a:avLst>
              <a:gd name="adj" fmla="val 3265"/>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8229600" y="1783080"/>
            <a:ext cx="457200" cy="457200"/>
          </a:xfrm>
          <a:prstGeom prst="ellipse">
            <a:avLst/>
          </a:prstGeom>
          <a:solidFill>
            <a:srgbClr val="17313B"/>
          </a:solidFill>
          <a:ln w="12700">
            <a:solidFill>
              <a:srgbClr val="17313B"/>
            </a:solidFill>
            <a:prstDash val="solid"/>
          </a:ln>
        </p:spPr>
      </p:sp>
      <p:pic>
        <p:nvPicPr>
          <p:cNvPr id="16" name="Image 2" descr="preencoded.png">    </p:cNvPr>
          <p:cNvPicPr>
            <a:picLocks noChangeAspect="1"/>
          </p:cNvPicPr>
          <p:nvPr/>
        </p:nvPicPr>
        <p:blipFill>
          <a:blip r:embed="rId3"/>
          <a:stretch>
            <a:fillRect/>
          </a:stretch>
        </p:blipFill>
        <p:spPr>
          <a:xfrm>
            <a:off x="8348472" y="1901952"/>
            <a:ext cx="219456" cy="219456"/>
          </a:xfrm>
          <a:prstGeom prst="rect">
            <a:avLst/>
          </a:prstGeom>
        </p:spPr>
      </p:pic>
      <p:sp>
        <p:nvSpPr>
          <p:cNvPr id="17" name="Text 12"/>
          <p:cNvSpPr txBox="1"/>
          <p:nvPr/>
        </p:nvSpPr>
        <p:spPr>
          <a:xfrm>
            <a:off x="8823960" y="1783080"/>
            <a:ext cx="2651760" cy="457200"/>
          </a:xfrm>
          <a:prstGeom prst="rect">
            <a:avLst/>
          </a:prstGeom>
          <a:noFill/>
          <a:ln/>
        </p:spPr>
        <p:txBody>
          <a:bodyPr wrap="square" lIns="0" tIns="0" rIns="0" bIns="0" rtlCol="0" anchor="ctr"/>
          <a:lstStyle/>
          <a:p>
            <a:pPr algn="l" indent="0" marL="0">
              <a:buNone/>
            </a:pPr>
            <a:r>
              <a:rPr lang="en-US" sz="1500" b="1" dirty="0">
                <a:solidFill>
                  <a:srgbClr val="17313B"/>
                </a:solidFill>
                <a:latin typeface="Calibri" pitchFamily="34" charset="0"/>
                <a:ea typeface="Calibri" pitchFamily="34" charset="-122"/>
                <a:cs typeface="Calibri" pitchFamily="34" charset="-120"/>
              </a:rPr>
              <a:t>Backlog &amp; tools</a:t>
            </a:r>
            <a:endParaRPr lang="en-US" sz="1500" dirty="0"/>
          </a:p>
        </p:txBody>
      </p:sp>
      <p:sp>
        <p:nvSpPr>
          <p:cNvPr id="18" name="Text 13"/>
          <p:cNvSpPr txBox="1"/>
          <p:nvPr/>
        </p:nvSpPr>
        <p:spPr>
          <a:xfrm>
            <a:off x="8229600" y="2331720"/>
            <a:ext cx="3246120" cy="1508760"/>
          </a:xfrm>
          <a:prstGeom prst="rect">
            <a:avLst/>
          </a:prstGeom>
          <a:noFill/>
          <a:ln/>
        </p:spPr>
        <p:txBody>
          <a:bodyPr wrap="square" lIns="0" tIns="0" rIns="0" bIns="0" rtlCol="0" anchor="t"/>
          <a:lstStyle/>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Where do requests and incidents live today (ServiceNow, Jira, Excel, Cloud ALM)?</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Is SAP Cloud ALM activated, and which apps are in use?</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Is there an existing design authority / architecture board?</a:t>
            </a:r>
            <a:endParaRPr lang="en-US" sz="1200" dirty="0"/>
          </a:p>
        </p:txBody>
      </p:sp>
      <p:sp>
        <p:nvSpPr>
          <p:cNvPr id="19" name="Shape 14"/>
          <p:cNvSpPr/>
          <p:nvPr/>
        </p:nvSpPr>
        <p:spPr>
          <a:xfrm>
            <a:off x="548640" y="4023360"/>
            <a:ext cx="3566160" cy="2240280"/>
          </a:xfrm>
          <a:prstGeom prst="roundRect">
            <a:avLst>
              <a:gd name="adj" fmla="val 3265"/>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0" name="Shape 15"/>
          <p:cNvSpPr/>
          <p:nvPr/>
        </p:nvSpPr>
        <p:spPr>
          <a:xfrm>
            <a:off x="731520" y="4160520"/>
            <a:ext cx="457200" cy="457200"/>
          </a:xfrm>
          <a:prstGeom prst="ellipse">
            <a:avLst/>
          </a:prstGeom>
          <a:solidFill>
            <a:srgbClr val="0F766E"/>
          </a:solidFill>
          <a:ln w="12700">
            <a:solidFill>
              <a:srgbClr val="0F766E"/>
            </a:solidFill>
            <a:prstDash val="solid"/>
          </a:ln>
        </p:spPr>
      </p:sp>
      <p:pic>
        <p:nvPicPr>
          <p:cNvPr id="21" name="Image 3" descr="preencoded.png">    </p:cNvPr>
          <p:cNvPicPr>
            <a:picLocks noChangeAspect="1"/>
          </p:cNvPicPr>
          <p:nvPr/>
        </p:nvPicPr>
        <p:blipFill>
          <a:blip r:embed="rId4"/>
          <a:stretch>
            <a:fillRect/>
          </a:stretch>
        </p:blipFill>
        <p:spPr>
          <a:xfrm>
            <a:off x="850392" y="4279392"/>
            <a:ext cx="219456" cy="219456"/>
          </a:xfrm>
          <a:prstGeom prst="rect">
            <a:avLst/>
          </a:prstGeom>
        </p:spPr>
      </p:pic>
      <p:sp>
        <p:nvSpPr>
          <p:cNvPr id="22" name="Text 16"/>
          <p:cNvSpPr txBox="1"/>
          <p:nvPr/>
        </p:nvSpPr>
        <p:spPr>
          <a:xfrm>
            <a:off x="1325880" y="4160520"/>
            <a:ext cx="2651760" cy="457200"/>
          </a:xfrm>
          <a:prstGeom prst="rect">
            <a:avLst/>
          </a:prstGeom>
          <a:noFill/>
          <a:ln/>
        </p:spPr>
        <p:txBody>
          <a:bodyPr wrap="square" lIns="0" tIns="0" rIns="0" bIns="0" rtlCol="0" anchor="ctr"/>
          <a:lstStyle/>
          <a:p>
            <a:pPr algn="l" indent="0" marL="0">
              <a:buNone/>
            </a:pPr>
            <a:r>
              <a:rPr lang="en-US" sz="1500" b="1" dirty="0">
                <a:solidFill>
                  <a:srgbClr val="17313B"/>
                </a:solidFill>
                <a:latin typeface="Calibri" pitchFamily="34" charset="0"/>
                <a:ea typeface="Calibri" pitchFamily="34" charset="-122"/>
                <a:cs typeface="Calibri" pitchFamily="34" charset="-120"/>
              </a:rPr>
              <a:t>UX &amp; Work Zone</a:t>
            </a:r>
            <a:endParaRPr lang="en-US" sz="1500" dirty="0"/>
          </a:p>
        </p:txBody>
      </p:sp>
      <p:sp>
        <p:nvSpPr>
          <p:cNvPr id="23" name="Text 17"/>
          <p:cNvSpPr txBox="1"/>
          <p:nvPr/>
        </p:nvSpPr>
        <p:spPr>
          <a:xfrm>
            <a:off x="731520" y="4709160"/>
            <a:ext cx="3246120" cy="1508760"/>
          </a:xfrm>
          <a:prstGeom prst="rect">
            <a:avLst/>
          </a:prstGeom>
          <a:noFill/>
          <a:ln/>
        </p:spPr>
        <p:txBody>
          <a:bodyPr wrap="square" lIns="0" tIns="0" rIns="0" bIns="0" rtlCol="0" anchor="t"/>
          <a:lstStyle/>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Fiori front-end: embedded or hub? Any roles built at go-live?</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Which user groups want Work Zone first, and for what?</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Any non-SAP apps that must appear on the launchpad?</a:t>
            </a:r>
            <a:endParaRPr lang="en-US" sz="1200" dirty="0"/>
          </a:p>
        </p:txBody>
      </p:sp>
      <p:sp>
        <p:nvSpPr>
          <p:cNvPr id="24" name="Shape 18"/>
          <p:cNvSpPr/>
          <p:nvPr/>
        </p:nvSpPr>
        <p:spPr>
          <a:xfrm>
            <a:off x="4297680" y="4023360"/>
            <a:ext cx="3566160" cy="2240280"/>
          </a:xfrm>
          <a:prstGeom prst="roundRect">
            <a:avLst>
              <a:gd name="adj" fmla="val 3265"/>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25" name="Shape 19"/>
          <p:cNvSpPr/>
          <p:nvPr/>
        </p:nvSpPr>
        <p:spPr>
          <a:xfrm>
            <a:off x="4480560" y="4160520"/>
            <a:ext cx="457200" cy="457200"/>
          </a:xfrm>
          <a:prstGeom prst="ellipse">
            <a:avLst/>
          </a:prstGeom>
          <a:solidFill>
            <a:srgbClr val="17313B"/>
          </a:solidFill>
          <a:ln w="12700">
            <a:solidFill>
              <a:srgbClr val="17313B"/>
            </a:solidFill>
            <a:prstDash val="solid"/>
          </a:ln>
        </p:spPr>
      </p:sp>
      <p:pic>
        <p:nvPicPr>
          <p:cNvPr id="26" name="Image 4" descr="preencoded.png">    </p:cNvPr>
          <p:cNvPicPr>
            <a:picLocks noChangeAspect="1"/>
          </p:cNvPicPr>
          <p:nvPr/>
        </p:nvPicPr>
        <p:blipFill>
          <a:blip r:embed="rId5"/>
          <a:stretch>
            <a:fillRect/>
          </a:stretch>
        </p:blipFill>
        <p:spPr>
          <a:xfrm>
            <a:off x="4599432" y="4279392"/>
            <a:ext cx="219456" cy="219456"/>
          </a:xfrm>
          <a:prstGeom prst="rect">
            <a:avLst/>
          </a:prstGeom>
        </p:spPr>
      </p:pic>
      <p:sp>
        <p:nvSpPr>
          <p:cNvPr id="27" name="Text 20"/>
          <p:cNvSpPr txBox="1"/>
          <p:nvPr/>
        </p:nvSpPr>
        <p:spPr>
          <a:xfrm>
            <a:off x="5074920" y="4160520"/>
            <a:ext cx="2651760" cy="457200"/>
          </a:xfrm>
          <a:prstGeom prst="rect">
            <a:avLst/>
          </a:prstGeom>
          <a:noFill/>
          <a:ln/>
        </p:spPr>
        <p:txBody>
          <a:bodyPr wrap="square" lIns="0" tIns="0" rIns="0" bIns="0" rtlCol="0" anchor="ctr"/>
          <a:lstStyle/>
          <a:p>
            <a:pPr algn="l" indent="0" marL="0">
              <a:buNone/>
            </a:pPr>
            <a:r>
              <a:rPr lang="en-US" sz="1500" b="1" dirty="0">
                <a:solidFill>
                  <a:srgbClr val="17313B"/>
                </a:solidFill>
                <a:latin typeface="Calibri" pitchFamily="34" charset="0"/>
                <a:ea typeface="Calibri" pitchFamily="34" charset="-122"/>
                <a:cs typeface="Calibri" pitchFamily="34" charset="-120"/>
              </a:rPr>
              <a:t>Data &amp; custom fields</a:t>
            </a:r>
            <a:endParaRPr lang="en-US" sz="1500" dirty="0"/>
          </a:p>
        </p:txBody>
      </p:sp>
      <p:sp>
        <p:nvSpPr>
          <p:cNvPr id="28" name="Text 21"/>
          <p:cNvSpPr txBox="1"/>
          <p:nvPr/>
        </p:nvSpPr>
        <p:spPr>
          <a:xfrm>
            <a:off x="4480560" y="4709160"/>
            <a:ext cx="3246120" cy="1508760"/>
          </a:xfrm>
          <a:prstGeom prst="rect">
            <a:avLst/>
          </a:prstGeom>
          <a:noFill/>
          <a:ln/>
        </p:spPr>
        <p:txBody>
          <a:bodyPr wrap="square" lIns="0" tIns="0" rIns="0" bIns="0" rtlCol="0" anchor="t"/>
          <a:lstStyle/>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How many business-data Z-fields, in which objects?</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Which data domains hurt most, and who owns them?</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Is MDG or another governance tool licensed or planned?</a:t>
            </a:r>
            <a:endParaRPr lang="en-US" sz="1200" dirty="0"/>
          </a:p>
        </p:txBody>
      </p:sp>
      <p:sp>
        <p:nvSpPr>
          <p:cNvPr id="29" name="Shape 22"/>
          <p:cNvSpPr/>
          <p:nvPr/>
        </p:nvSpPr>
        <p:spPr>
          <a:xfrm>
            <a:off x="8046720" y="4023360"/>
            <a:ext cx="3566160" cy="2240280"/>
          </a:xfrm>
          <a:prstGeom prst="roundRect">
            <a:avLst>
              <a:gd name="adj" fmla="val 3265"/>
            </a:avLst>
          </a:prstGeom>
          <a:solidFill>
            <a:srgbClr val="FFFFFF"/>
          </a:solidFill>
          <a:ln w="9525">
            <a:solidFill>
              <a:srgbClr val="E5E7EB"/>
            </a:solidFill>
            <a:prstDash val="solid"/>
          </a:ln>
          <a:effectLst>
            <a:outerShdw sx="100000" sy="100000" kx="0" ky="0" algn="bl" rotWithShape="0" blurRad="76200" dist="25400" dir="5400000">
              <a:srgbClr val="000000">
                <a:alpha val="12000"/>
              </a:srgbClr>
            </a:outerShdw>
          </a:effectLst>
        </p:spPr>
      </p:sp>
      <p:sp>
        <p:nvSpPr>
          <p:cNvPr id="30" name="Shape 23"/>
          <p:cNvSpPr/>
          <p:nvPr/>
        </p:nvSpPr>
        <p:spPr>
          <a:xfrm>
            <a:off x="8229600" y="4160520"/>
            <a:ext cx="457200" cy="457200"/>
          </a:xfrm>
          <a:prstGeom prst="ellipse">
            <a:avLst/>
          </a:prstGeom>
          <a:solidFill>
            <a:srgbClr val="0F766E"/>
          </a:solidFill>
          <a:ln w="12700">
            <a:solidFill>
              <a:srgbClr val="0F766E"/>
            </a:solidFill>
            <a:prstDash val="solid"/>
          </a:ln>
        </p:spPr>
      </p:sp>
      <p:pic>
        <p:nvPicPr>
          <p:cNvPr id="31" name="Image 5" descr="preencoded.png">    </p:cNvPr>
          <p:cNvPicPr>
            <a:picLocks noChangeAspect="1"/>
          </p:cNvPicPr>
          <p:nvPr/>
        </p:nvPicPr>
        <p:blipFill>
          <a:blip r:embed="rId6"/>
          <a:stretch>
            <a:fillRect/>
          </a:stretch>
        </p:blipFill>
        <p:spPr>
          <a:xfrm>
            <a:off x="8348472" y="4279392"/>
            <a:ext cx="219456" cy="219456"/>
          </a:xfrm>
          <a:prstGeom prst="rect">
            <a:avLst/>
          </a:prstGeom>
        </p:spPr>
      </p:pic>
      <p:sp>
        <p:nvSpPr>
          <p:cNvPr id="32" name="Text 24"/>
          <p:cNvSpPr txBox="1"/>
          <p:nvPr/>
        </p:nvSpPr>
        <p:spPr>
          <a:xfrm>
            <a:off x="8823960" y="4160520"/>
            <a:ext cx="2651760" cy="457200"/>
          </a:xfrm>
          <a:prstGeom prst="rect">
            <a:avLst/>
          </a:prstGeom>
          <a:noFill/>
          <a:ln/>
        </p:spPr>
        <p:txBody>
          <a:bodyPr wrap="square" lIns="0" tIns="0" rIns="0" bIns="0" rtlCol="0" anchor="ctr"/>
          <a:lstStyle/>
          <a:p>
            <a:pPr algn="l" indent="0" marL="0">
              <a:buNone/>
            </a:pPr>
            <a:r>
              <a:rPr lang="en-US" sz="1500" b="1" dirty="0">
                <a:solidFill>
                  <a:srgbClr val="17313B"/>
                </a:solidFill>
                <a:latin typeface="Calibri" pitchFamily="34" charset="0"/>
                <a:ea typeface="Calibri" pitchFamily="34" charset="-122"/>
                <a:cs typeface="Calibri" pitchFamily="34" charset="-120"/>
              </a:rPr>
              <a:t>Outcomes</a:t>
            </a:r>
            <a:endParaRPr lang="en-US" sz="1500" dirty="0"/>
          </a:p>
        </p:txBody>
      </p:sp>
      <p:sp>
        <p:nvSpPr>
          <p:cNvPr id="33" name="Text 25"/>
          <p:cNvSpPr txBox="1"/>
          <p:nvPr/>
        </p:nvSpPr>
        <p:spPr>
          <a:xfrm>
            <a:off x="8229600" y="4709160"/>
            <a:ext cx="3246120" cy="1508760"/>
          </a:xfrm>
          <a:prstGeom prst="rect">
            <a:avLst/>
          </a:prstGeom>
          <a:noFill/>
          <a:ln/>
        </p:spPr>
        <p:txBody>
          <a:bodyPr wrap="square" lIns="0" tIns="0" rIns="0" bIns="0" rtlCol="0" anchor="t"/>
          <a:lstStyle/>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Top 3 business outcomes leadership expects in 12 months?</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Any hard dates (audits, acquisitions, plant roll-outs, maintenance ends)?</a:t>
            </a:r>
            <a:endParaRPr lang="en-US" sz="1200" dirty="0"/>
          </a:p>
          <a:p>
            <a:pPr algn="l"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Appetite for AI / Joule use cases in 2027?</a:t>
            </a:r>
            <a:endParaRPr lang="en-US" sz="1200" dirty="0"/>
          </a:p>
        </p:txBody>
      </p:sp>
      <p:sp>
        <p:nvSpPr>
          <p:cNvPr id="34" name="Text 26"/>
          <p:cNvSpPr txBox="1"/>
          <p:nvPr/>
        </p:nvSpPr>
        <p:spPr>
          <a:xfrm>
            <a:off x="548640" y="6446520"/>
            <a:ext cx="11064240" cy="274320"/>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AmphenolCIT  |  S/4HANA Tech Debt &amp; Innovation Strategy  |  Draft for discussion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313B"/>
        </a:solidFill>
      </p:bgPr>
    </p:bg>
    <p:spTree>
      <p:nvGrpSpPr>
        <p:cNvPr id="1" name=""/>
        <p:cNvGrpSpPr/>
        <p:nvPr/>
      </p:nvGrpSpPr>
      <p:grpSpPr>
        <a:xfrm>
          <a:off x="0" y="0"/>
          <a:ext cx="0" cy="0"/>
          <a:chOff x="0" y="0"/>
          <a:chExt cx="0" cy="0"/>
        </a:xfrm>
      </p:grpSpPr>
      <p:sp>
        <p:nvSpPr>
          <p:cNvPr id="2" name="Text 0"/>
          <p:cNvSpPr txBox="1"/>
          <p:nvPr/>
        </p:nvSpPr>
        <p:spPr>
          <a:xfrm>
            <a:off x="731520" y="548640"/>
            <a:ext cx="5486400" cy="64008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Decisions requested</a:t>
            </a:r>
            <a:endParaRPr lang="en-US" sz="3200" dirty="0"/>
          </a:p>
        </p:txBody>
      </p:sp>
      <p:sp>
        <p:nvSpPr>
          <p:cNvPr id="3" name="Shape 1"/>
          <p:cNvSpPr/>
          <p:nvPr/>
        </p:nvSpPr>
        <p:spPr>
          <a:xfrm>
            <a:off x="731520" y="1417320"/>
            <a:ext cx="548640" cy="548640"/>
          </a:xfrm>
          <a:prstGeom prst="ellipse">
            <a:avLst/>
          </a:prstGeom>
          <a:solidFill>
            <a:srgbClr val="0F766E"/>
          </a:solidFill>
          <a:ln w="12700">
            <a:solidFill>
              <a:srgbClr val="0F766E"/>
            </a:solidFill>
            <a:prstDash val="solid"/>
          </a:ln>
        </p:spPr>
      </p:sp>
      <p:sp>
        <p:nvSpPr>
          <p:cNvPr id="4" name="Text 2"/>
          <p:cNvSpPr txBox="1"/>
          <p:nvPr/>
        </p:nvSpPr>
        <p:spPr>
          <a:xfrm>
            <a:off x="731520" y="1417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5" name="Text 3"/>
          <p:cNvSpPr txBox="1"/>
          <p:nvPr/>
        </p:nvSpPr>
        <p:spPr>
          <a:xfrm>
            <a:off x="1508760" y="1371600"/>
            <a:ext cx="5303520" cy="685800"/>
          </a:xfrm>
          <a:prstGeom prst="rect">
            <a:avLst/>
          </a:prstGeom>
          <a:noFill/>
          <a:ln/>
        </p:spPr>
        <p:txBody>
          <a:bodyPr wrap="square" lIns="0" tIns="0" rIns="0" bIns="0" rtlCol="0" anchor="ctr"/>
          <a:lstStyle/>
          <a:p>
            <a:pPr algn="l" indent="0" marL="0">
              <a:buNone/>
            </a:pPr>
            <a:r>
              <a:rPr lang="en-US" sz="1500" dirty="0">
                <a:solidFill>
                  <a:srgbClr val="E2E8F0"/>
                </a:solidFill>
                <a:latin typeface="Calibri" pitchFamily="34" charset="0"/>
                <a:ea typeface="Calibri" pitchFamily="34" charset="-122"/>
                <a:cs typeface="Calibri" pitchFamily="34" charset="-120"/>
              </a:rPr>
              <a:t>Adopt one backlog for all five work types, with the register as the single source</a:t>
            </a:r>
            <a:endParaRPr lang="en-US" sz="1500" dirty="0"/>
          </a:p>
        </p:txBody>
      </p:sp>
      <p:sp>
        <p:nvSpPr>
          <p:cNvPr id="6" name="Shape 4"/>
          <p:cNvSpPr/>
          <p:nvPr/>
        </p:nvSpPr>
        <p:spPr>
          <a:xfrm>
            <a:off x="731520" y="2286000"/>
            <a:ext cx="548640" cy="548640"/>
          </a:xfrm>
          <a:prstGeom prst="ellipse">
            <a:avLst/>
          </a:prstGeom>
          <a:solidFill>
            <a:srgbClr val="0F766E"/>
          </a:solidFill>
          <a:ln w="12700">
            <a:solidFill>
              <a:srgbClr val="0F766E"/>
            </a:solidFill>
            <a:prstDash val="solid"/>
          </a:ln>
        </p:spPr>
      </p:sp>
      <p:sp>
        <p:nvSpPr>
          <p:cNvPr id="7" name="Text 5"/>
          <p:cNvSpPr txBox="1"/>
          <p:nvPr/>
        </p:nvSpPr>
        <p:spPr>
          <a:xfrm>
            <a:off x="731520" y="22860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8" name="Text 6"/>
          <p:cNvSpPr txBox="1"/>
          <p:nvPr/>
        </p:nvSpPr>
        <p:spPr>
          <a:xfrm>
            <a:off x="1508760" y="2240280"/>
            <a:ext cx="5303520" cy="685800"/>
          </a:xfrm>
          <a:prstGeom prst="rect">
            <a:avLst/>
          </a:prstGeom>
          <a:noFill/>
          <a:ln/>
        </p:spPr>
        <p:txBody>
          <a:bodyPr wrap="square" lIns="0" tIns="0" rIns="0" bIns="0" rtlCol="0" anchor="ctr"/>
          <a:lstStyle/>
          <a:p>
            <a:pPr algn="l" indent="0" marL="0">
              <a:buNone/>
            </a:pPr>
            <a:r>
              <a:rPr lang="en-US" sz="1500" dirty="0">
                <a:solidFill>
                  <a:srgbClr val="E2E8F0"/>
                </a:solidFill>
                <a:latin typeface="Calibri" pitchFamily="34" charset="0"/>
                <a:ea typeface="Calibri" pitchFamily="34" charset="-122"/>
                <a:cs typeface="Calibri" pitchFamily="34" charset="-120"/>
              </a:rPr>
              <a:t>Approve capacity guardrails (starting ~45% tech debt + enablers) within the current budget</a:t>
            </a:r>
            <a:endParaRPr lang="en-US" sz="1500" dirty="0"/>
          </a:p>
        </p:txBody>
      </p:sp>
      <p:sp>
        <p:nvSpPr>
          <p:cNvPr id="9" name="Shape 7"/>
          <p:cNvSpPr/>
          <p:nvPr/>
        </p:nvSpPr>
        <p:spPr>
          <a:xfrm>
            <a:off x="731520" y="3154680"/>
            <a:ext cx="548640" cy="548640"/>
          </a:xfrm>
          <a:prstGeom prst="ellipse">
            <a:avLst/>
          </a:prstGeom>
          <a:solidFill>
            <a:srgbClr val="0F766E"/>
          </a:solidFill>
          <a:ln w="12700">
            <a:solidFill>
              <a:srgbClr val="0F766E"/>
            </a:solidFill>
            <a:prstDash val="solid"/>
          </a:ln>
        </p:spPr>
      </p:sp>
      <p:sp>
        <p:nvSpPr>
          <p:cNvPr id="10" name="Text 8"/>
          <p:cNvSpPr txBox="1"/>
          <p:nvPr/>
        </p:nvSpPr>
        <p:spPr>
          <a:xfrm>
            <a:off x="731520" y="3154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1" name="Text 9"/>
          <p:cNvSpPr txBox="1"/>
          <p:nvPr/>
        </p:nvSpPr>
        <p:spPr>
          <a:xfrm>
            <a:off x="1508760" y="3108960"/>
            <a:ext cx="5303520" cy="685800"/>
          </a:xfrm>
          <a:prstGeom prst="rect">
            <a:avLst/>
          </a:prstGeom>
          <a:noFill/>
          <a:ln/>
        </p:spPr>
        <p:txBody>
          <a:bodyPr wrap="square" lIns="0" tIns="0" rIns="0" bIns="0" rtlCol="0" anchor="ctr"/>
          <a:lstStyle/>
          <a:p>
            <a:pPr algn="l" indent="0" marL="0">
              <a:buNone/>
            </a:pPr>
            <a:r>
              <a:rPr lang="en-US" sz="1500" dirty="0">
                <a:solidFill>
                  <a:srgbClr val="E2E8F0"/>
                </a:solidFill>
                <a:latin typeface="Calibri" pitchFamily="34" charset="0"/>
                <a:ea typeface="Calibri" pitchFamily="34" charset="-122"/>
                <a:cs typeface="Calibri" pitchFamily="34" charset="-120"/>
              </a:rPr>
              <a:t>Name a product owner, business owners per dimension, and a design authority</a:t>
            </a:r>
            <a:endParaRPr lang="en-US" sz="1500" dirty="0"/>
          </a:p>
        </p:txBody>
      </p:sp>
      <p:sp>
        <p:nvSpPr>
          <p:cNvPr id="12" name="Shape 10"/>
          <p:cNvSpPr/>
          <p:nvPr/>
        </p:nvSpPr>
        <p:spPr>
          <a:xfrm>
            <a:off x="731520" y="4023360"/>
            <a:ext cx="548640" cy="548640"/>
          </a:xfrm>
          <a:prstGeom prst="ellipse">
            <a:avLst/>
          </a:prstGeom>
          <a:solidFill>
            <a:srgbClr val="0F766E"/>
          </a:solidFill>
          <a:ln w="12700">
            <a:solidFill>
              <a:srgbClr val="0F766E"/>
            </a:solidFill>
            <a:prstDash val="solid"/>
          </a:ln>
        </p:spPr>
      </p:sp>
      <p:sp>
        <p:nvSpPr>
          <p:cNvPr id="13" name="Text 11"/>
          <p:cNvSpPr txBox="1"/>
          <p:nvPr/>
        </p:nvSpPr>
        <p:spPr>
          <a:xfrm>
            <a:off x="731520" y="40233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4" name="Text 12"/>
          <p:cNvSpPr txBox="1"/>
          <p:nvPr/>
        </p:nvSpPr>
        <p:spPr>
          <a:xfrm>
            <a:off x="1508760" y="3977640"/>
            <a:ext cx="5303520" cy="685800"/>
          </a:xfrm>
          <a:prstGeom prst="rect">
            <a:avLst/>
          </a:prstGeom>
          <a:noFill/>
          <a:ln/>
        </p:spPr>
        <p:txBody>
          <a:bodyPr wrap="square" lIns="0" tIns="0" rIns="0" bIns="0" rtlCol="0" anchor="ctr"/>
          <a:lstStyle/>
          <a:p>
            <a:pPr algn="l" indent="0" marL="0">
              <a:buNone/>
            </a:pPr>
            <a:r>
              <a:rPr lang="en-US" sz="1500" dirty="0">
                <a:solidFill>
                  <a:srgbClr val="E2E8F0"/>
                </a:solidFill>
                <a:latin typeface="Calibri" pitchFamily="34" charset="0"/>
                <a:ea typeface="Calibri" pitchFamily="34" charset="-122"/>
                <a:cs typeface="Calibri" pitchFamily="34" charset="-120"/>
              </a:rPr>
              <a:t>Choose the backlog tool: SAP Cloud ALM or the existing enterprise tool</a:t>
            </a:r>
            <a:endParaRPr lang="en-US" sz="1500" dirty="0"/>
          </a:p>
        </p:txBody>
      </p:sp>
      <p:sp>
        <p:nvSpPr>
          <p:cNvPr id="15" name="Shape 13"/>
          <p:cNvSpPr/>
          <p:nvPr/>
        </p:nvSpPr>
        <p:spPr>
          <a:xfrm>
            <a:off x="731520" y="4892040"/>
            <a:ext cx="548640" cy="548640"/>
          </a:xfrm>
          <a:prstGeom prst="ellipse">
            <a:avLst/>
          </a:prstGeom>
          <a:solidFill>
            <a:srgbClr val="0F766E"/>
          </a:solidFill>
          <a:ln w="12700">
            <a:solidFill>
              <a:srgbClr val="0F766E"/>
            </a:solidFill>
            <a:prstDash val="solid"/>
          </a:ln>
        </p:spPr>
      </p:sp>
      <p:sp>
        <p:nvSpPr>
          <p:cNvPr id="16" name="Text 14"/>
          <p:cNvSpPr txBox="1"/>
          <p:nvPr/>
        </p:nvSpPr>
        <p:spPr>
          <a:xfrm>
            <a:off x="731520" y="4892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17" name="Text 15"/>
          <p:cNvSpPr txBox="1"/>
          <p:nvPr/>
        </p:nvSpPr>
        <p:spPr>
          <a:xfrm>
            <a:off x="1508760" y="4846320"/>
            <a:ext cx="5303520" cy="685800"/>
          </a:xfrm>
          <a:prstGeom prst="rect">
            <a:avLst/>
          </a:prstGeom>
          <a:noFill/>
          <a:ln/>
        </p:spPr>
        <p:txBody>
          <a:bodyPr wrap="square" lIns="0" tIns="0" rIns="0" bIns="0" rtlCol="0" anchor="ctr"/>
          <a:lstStyle/>
          <a:p>
            <a:pPr algn="l" indent="0" marL="0">
              <a:buNone/>
            </a:pPr>
            <a:r>
              <a:rPr lang="en-US" sz="1500" dirty="0">
                <a:solidFill>
                  <a:srgbClr val="E2E8F0"/>
                </a:solidFill>
                <a:latin typeface="Calibri" pitchFamily="34" charset="0"/>
                <a:ea typeface="Calibri" pitchFamily="34" charset="-122"/>
                <a:cs typeface="Calibri" pitchFamily="34" charset="-120"/>
              </a:rPr>
              <a:t>Start the 30-day discovery using SAP’s free tools</a:t>
            </a:r>
            <a:endParaRPr lang="en-US" sz="1500" dirty="0"/>
          </a:p>
        </p:txBody>
      </p:sp>
      <p:sp>
        <p:nvSpPr>
          <p:cNvPr id="18" name="Shape 16"/>
          <p:cNvSpPr/>
          <p:nvPr/>
        </p:nvSpPr>
        <p:spPr>
          <a:xfrm>
            <a:off x="7315200" y="548640"/>
            <a:ext cx="4206240" cy="5669280"/>
          </a:xfrm>
          <a:prstGeom prst="roundRect">
            <a:avLst>
              <a:gd name="adj" fmla="val 2174"/>
            </a:avLst>
          </a:prstGeom>
          <a:solidFill>
            <a:srgbClr val="1F4550"/>
          </a:solidFill>
          <a:ln w="12700">
            <a:solidFill>
              <a:srgbClr val="1F4550"/>
            </a:solidFill>
            <a:prstDash val="solid"/>
          </a:ln>
        </p:spPr>
      </p:sp>
      <p:sp>
        <p:nvSpPr>
          <p:cNvPr id="19" name="Text 17"/>
          <p:cNvSpPr txBox="1"/>
          <p:nvPr/>
        </p:nvSpPr>
        <p:spPr>
          <a:xfrm>
            <a:off x="7589520" y="777240"/>
            <a:ext cx="3657600" cy="457200"/>
          </a:xfrm>
          <a:prstGeom prst="rect">
            <a:avLst/>
          </a:prstGeom>
          <a:noFill/>
          <a:ln/>
        </p:spPr>
        <p:txBody>
          <a:bodyPr wrap="square" lIns="0" tIns="0" rIns="0" bIns="0" rtlCol="0" anchor="t"/>
          <a:lstStyle/>
          <a:p>
            <a:pPr algn="l" indent="0" marL="0">
              <a:buNone/>
            </a:pPr>
            <a:r>
              <a:rPr lang="en-US" sz="2000" b="1" dirty="0">
                <a:solidFill>
                  <a:srgbClr val="14B8A6"/>
                </a:solidFill>
                <a:latin typeface="Calibri" pitchFamily="34" charset="0"/>
                <a:ea typeface="Calibri" pitchFamily="34" charset="-122"/>
                <a:cs typeface="Calibri" pitchFamily="34" charset="-120"/>
              </a:rPr>
              <a:t>Next steps</a:t>
            </a:r>
            <a:endParaRPr lang="en-US" sz="2000" dirty="0"/>
          </a:p>
        </p:txBody>
      </p:sp>
      <p:sp>
        <p:nvSpPr>
          <p:cNvPr id="20" name="Text 18"/>
          <p:cNvSpPr txBox="1"/>
          <p:nvPr/>
        </p:nvSpPr>
        <p:spPr>
          <a:xfrm>
            <a:off x="7589520" y="1371600"/>
            <a:ext cx="3703320" cy="3931920"/>
          </a:xfrm>
          <a:prstGeom prst="rect">
            <a:avLst/>
          </a:prstGeom>
          <a:noFill/>
          <a:ln/>
        </p:spPr>
        <p:txBody>
          <a:bodyPr wrap="square" lIns="0" tIns="0" rIns="0" bIns="0" rtlCol="0" anchor="t"/>
          <a:lstStyle/>
          <a:p>
            <a:pPr algn="l" marL="177800" indent="-177800">
              <a:spcAft>
                <a:spcPts val="1200"/>
              </a:spcAft>
              <a:buSzPct val="100000"/>
              <a:buChar char="•"/>
            </a:pPr>
            <a:r>
              <a:rPr lang="en-US" sz="1400" dirty="0">
                <a:solidFill>
                  <a:srgbClr val="E2E8F0"/>
                </a:solidFill>
                <a:latin typeface="Calibri" pitchFamily="34" charset="0"/>
                <a:ea typeface="Calibri" pitchFamily="34" charset="-122"/>
                <a:cs typeface="Calibri" pitchFamily="34" charset="-120"/>
              </a:rPr>
              <a:t>Share Quick Reference Guide with leads; run role interviews (2 weeks)</a:t>
            </a:r>
            <a:endParaRPr lang="en-US" sz="1400" dirty="0"/>
          </a:p>
          <a:p>
            <a:pPr algn="l" marL="177800" indent="-177800">
              <a:spcAft>
                <a:spcPts val="1200"/>
              </a:spcAft>
              <a:buSzPct val="100000"/>
              <a:buChar char="•"/>
            </a:pPr>
            <a:r>
              <a:rPr lang="en-US" sz="1400" dirty="0">
                <a:solidFill>
                  <a:srgbClr val="E2E8F0"/>
                </a:solidFill>
                <a:latin typeface="Calibri" pitchFamily="34" charset="0"/>
                <a:ea typeface="Calibri" pitchFamily="34" charset="-122"/>
                <a:cs typeface="Calibri" pitchFamily="34" charset="-120"/>
              </a:rPr>
              <a:t>Load findings into the Planner register; first triage</a:t>
            </a:r>
            <a:endParaRPr lang="en-US" sz="1400" dirty="0"/>
          </a:p>
          <a:p>
            <a:pPr algn="l" marL="177800" indent="-177800">
              <a:spcAft>
                <a:spcPts val="1200"/>
              </a:spcAft>
              <a:buSzPct val="100000"/>
              <a:buChar char="•"/>
            </a:pPr>
            <a:r>
              <a:rPr lang="en-US" sz="1400" dirty="0">
                <a:solidFill>
                  <a:srgbClr val="E2E8F0"/>
                </a:solidFill>
                <a:latin typeface="Calibri" pitchFamily="34" charset="0"/>
                <a:ea typeface="Calibri" pitchFamily="34" charset="-122"/>
                <a:cs typeface="Calibri" pitchFamily="34" charset="-120"/>
              </a:rPr>
              <a:t>Run SAP discovery tools; baseline KPIs</a:t>
            </a:r>
            <a:endParaRPr lang="en-US" sz="1400" dirty="0"/>
          </a:p>
          <a:p>
            <a:pPr algn="l" marL="177800" indent="-177800">
              <a:spcAft>
                <a:spcPts val="1200"/>
              </a:spcAft>
              <a:buSzPct val="100000"/>
              <a:buChar char="•"/>
            </a:pPr>
            <a:r>
              <a:rPr lang="en-US" sz="1400" dirty="0">
                <a:solidFill>
                  <a:srgbClr val="E2E8F0"/>
                </a:solidFill>
                <a:latin typeface="Calibri" pitchFamily="34" charset="0"/>
                <a:ea typeface="Calibri" pitchFamily="34" charset="-122"/>
                <a:cs typeface="Calibri" pitchFamily="34" charset="-120"/>
              </a:rPr>
              <a:t>Scoring workshop: WSJF top 50</a:t>
            </a:r>
            <a:endParaRPr lang="en-US" sz="1400" dirty="0"/>
          </a:p>
          <a:p>
            <a:pPr algn="l" marL="177800" indent="-177800">
              <a:spcAft>
                <a:spcPts val="1200"/>
              </a:spcAft>
              <a:buSzPct val="100000"/>
              <a:buChar char="•"/>
            </a:pPr>
            <a:r>
              <a:rPr lang="en-US" sz="1400" dirty="0">
                <a:solidFill>
                  <a:srgbClr val="E2E8F0"/>
                </a:solidFill>
                <a:latin typeface="Calibri" pitchFamily="34" charset="0"/>
                <a:ea typeface="Calibri" pitchFamily="34" charset="-122"/>
                <a:cs typeface="Calibri" pitchFamily="34" charset="-120"/>
              </a:rPr>
              <a:t>Portfolio review: confirm guardrails, roadmap and 90-day plan</a:t>
            </a:r>
            <a:endParaRPr lang="en-US" sz="1400" dirty="0"/>
          </a:p>
        </p:txBody>
      </p:sp>
      <p:sp>
        <p:nvSpPr>
          <p:cNvPr id="21" name="Text 19"/>
          <p:cNvSpPr txBox="1"/>
          <p:nvPr/>
        </p:nvSpPr>
        <p:spPr>
          <a:xfrm>
            <a:off x="7589520" y="5486400"/>
            <a:ext cx="3703320" cy="548640"/>
          </a:xfrm>
          <a:prstGeom prst="rect">
            <a:avLst/>
          </a:prstGeom>
          <a:noFill/>
          <a:ln/>
        </p:spPr>
        <p:txBody>
          <a:bodyPr wrap="square" lIns="0" tIns="0" rIns="0" bIns="0" rtlCol="0" anchor="t"/>
          <a:lstStyle/>
          <a:p>
            <a:pPr algn="l" indent="0" marL="0">
              <a:buNone/>
            </a:pPr>
            <a:r>
              <a:rPr lang="en-US" sz="1100" i="1" dirty="0">
                <a:solidFill>
                  <a:srgbClr val="94A3B8"/>
                </a:solidFill>
                <a:latin typeface="Calibri" pitchFamily="34" charset="0"/>
                <a:ea typeface="Calibri" pitchFamily="34" charset="-122"/>
                <a:cs typeface="Calibri" pitchFamily="34" charset="-120"/>
              </a:rPr>
              <a:t>Companion files: Planner (.xlsx) and Quick Reference Guide (.docx)</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AmphenolCIT S/4HANA Tech Debt &amp; Innovation Strategy</dc:title>
  <dc:subject>PptxGenJS Presentation</dc:subject>
  <dc:creator>PptxGenJS</dc:creator>
  <cp:lastModifiedBy>PptxGenJS</cp:lastModifiedBy>
  <cp:revision>1</cp:revision>
  <dcterms:created xsi:type="dcterms:W3CDTF">2026-09-27T02:18:19Z</dcterms:created>
  <dcterms:modified xsi:type="dcterms:W3CDTF">2026-09-27T02:18:19Z</dcterms:modified>
</cp:coreProperties>
</file>