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slide. Project dates follow the Plan on a Page updated 9/21. The only hard dependency this week is raising the SAP ECS service requests by Wednesday 7 October.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 number equals stack number (FPS02 = SP02, SPS06 = SP06). After three feature packs SAP ships support package stacks. Sources: SAP news FPS03 (26 Feb 2025), SAP Release Cycles page, Upgrade Guide PCE 2023.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columns start Monday. Orange windows: Sandbox 13-14 Oct, N+1 Dev 19-20 Oct, QS5 21-22 Oct, QS4 24-25 Oct, SS4 and DS4 6-8 Nov, PRD 13-15 Nov. Performance testing start read from the Plan on a Page as about 14 Oct.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register with all 870 rows: SAP_Notes_Side_Effect_Register_SPS06.xlsx. Every note is validated in SAP for Me before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ntl-diamond-white.sv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ntl-diamond-dark.sv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ntl-diamond-dark.sv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ntl-diamond-dark.sv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ntl-diamond-dark.sv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ntl-diamond-dark.sv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ntl-diamond-dark.sv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ntl-diamond-dark.sv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ntl-diamond-dark.sv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ntl-diamond-dark.sv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ntl-diamond-dark.sv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ntl-diamond-dark.sv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ntl-diamond-dark.sv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ntl-diamond-dark.sv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ntl-diamond-dark.sv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ntl-diamond-dark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272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71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1970" cy="54864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5" name="Image 0" descr="/root/.claude/skills/synced/7716bb9a-1fe3-46c2-b95f-0f1e0ed7e325_86679122-dc0c-47c3-913b-c614e29d2a26/intl-style-pptx/assets/intl-diamond-white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223" y="83790"/>
            <a:ext cx="438218" cy="381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" y="155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INTERNATIONAL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 rot="16200000">
            <a:off x="11832336" y="17373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INTERNATIONAL.COM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 rot="16200000">
            <a:off x="11832336" y="4069080"/>
            <a:ext cx="2295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AND PROPRIETARY TO INTERNATIONAL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74320" y="182880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S/4HANA 2023 SPS06 UPGRADE STRATEGY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274320" y="4114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A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FPS02 to SPS06 inside SIT2, before UAT  |  aligned to the Plan on a Page (9/21)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A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Sandbox, N+1 Dev, QS5, QS4, SS4, PRD  |  Project NorthStar  |  October 2026</a:t>
            </a:r>
            <a:endParaRPr lang="en-US" sz="1400" dirty="0"/>
          </a:p>
        </p:txBody>
      </p:sp>
      <p:pic>
        <p:nvPicPr>
          <p:cNvPr id="11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1073"/>
            <a:ext cx="1764710" cy="4265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upgrade, six tiers, six gates; all tiers on SPS06 by 15 Nov, before Go/No-Go (30 Nov - 4 Dec) and cutover (7 Dec)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09905" y="1880006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9" name="Shape 5"/>
          <p:cNvSpPr/>
          <p:nvPr/>
        </p:nvSpPr>
        <p:spPr>
          <a:xfrm>
            <a:off x="888797" y="2070202"/>
            <a:ext cx="508406" cy="508406"/>
          </a:xfrm>
          <a:prstGeom prst="ellipse">
            <a:avLst/>
          </a:prstGeom>
          <a:solidFill>
            <a:srgbClr val="0062A2"/>
          </a:solidFill>
          <a:ln/>
        </p:spPr>
      </p:sp>
      <p:sp>
        <p:nvSpPr>
          <p:cNvPr id="10" name="Text 6"/>
          <p:cNvSpPr/>
          <p:nvPr/>
        </p:nvSpPr>
        <p:spPr>
          <a:xfrm>
            <a:off x="888797" y="2070202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651406" y="2044598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 S/4HANA 2023 FPS02 to SPS06 (S4CORE 108 SP02 to SP06)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51406" y="2374697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SAP HANA 2.0 SPS08 rev 89.5, kernel 916, Ariba CIG, OpenText VIM, GRC and MDG add-on SPs. SAP ECS executes; INTL and PwC adjust and test.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9905" y="2921508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14" name="Shape 10"/>
          <p:cNvSpPr/>
          <p:nvPr/>
        </p:nvSpPr>
        <p:spPr>
          <a:xfrm>
            <a:off x="888797" y="3111703"/>
            <a:ext cx="508406" cy="508406"/>
          </a:xfrm>
          <a:prstGeom prst="ellipse">
            <a:avLst/>
          </a:prstGeom>
          <a:solidFill>
            <a:srgbClr val="272623"/>
          </a:solidFill>
          <a:ln/>
        </p:spPr>
      </p:sp>
      <p:sp>
        <p:nvSpPr>
          <p:cNvPr id="15" name="Text 11"/>
          <p:cNvSpPr/>
          <p:nvPr/>
        </p:nvSpPr>
        <p:spPr>
          <a:xfrm>
            <a:off x="888797" y="3111703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651406" y="3086100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before go-live: go live on the stack we will run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51406" y="3416198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jump crosses FPS03 (last feature pack) plus SPS04 to SPS06 corrections and legal changes. Doing it now avoids an upgrade during hypercare.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9905" y="3963010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19" name="Shape 15"/>
          <p:cNvSpPr/>
          <p:nvPr/>
        </p:nvSpPr>
        <p:spPr>
          <a:xfrm>
            <a:off x="888797" y="4153205"/>
            <a:ext cx="508406" cy="508406"/>
          </a:xfrm>
          <a:prstGeom prst="ellipse">
            <a:avLst/>
          </a:prstGeom>
          <a:solidFill>
            <a:srgbClr val="FF7144"/>
          </a:solidFill>
          <a:ln/>
        </p:spPr>
      </p:sp>
      <p:sp>
        <p:nvSpPr>
          <p:cNvPr id="20" name="Text 16"/>
          <p:cNvSpPr/>
          <p:nvPr/>
        </p:nvSpPr>
        <p:spPr>
          <a:xfrm>
            <a:off x="888797" y="4153205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651406" y="4127602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QS4 inside SIT2, SS4 before UAT, PRD before cutover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651406" y="4457700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QS4 24-25 Oct (SIT2 weeks 5-6 on SPS06 plus re-run of passed P1 scripts), SS4 + DS4 6-8 Nov (all of UAT on SPS06), PRD 13-15 Nov.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09905" y="5004511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24" name="Shape 20"/>
          <p:cNvSpPr/>
          <p:nvPr/>
        </p:nvSpPr>
        <p:spPr>
          <a:xfrm>
            <a:off x="888797" y="5194706"/>
            <a:ext cx="508406" cy="508406"/>
          </a:xfrm>
          <a:prstGeom prst="ellipse">
            <a:avLst/>
          </a:prstGeom>
          <a:solidFill>
            <a:srgbClr val="5C1916"/>
          </a:solidFill>
          <a:ln/>
        </p:spPr>
      </p:sp>
      <p:sp>
        <p:nvSpPr>
          <p:cNvPr id="25" name="Text 21"/>
          <p:cNvSpPr/>
          <p:nvPr/>
        </p:nvSpPr>
        <p:spPr>
          <a:xfrm>
            <a:off x="888797" y="5194706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1651406" y="5169103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approve the plan and gates; raise ECS requests by Wed 7 Oct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1651406" y="5499202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scheduling lead time is the critical path. Plan B (+1 week) still closes before Go/No-Go.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IN THE PROJECT PLAN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5-March Testing Overview vs Plan on a Page (9/21), and what it means for the upgrade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926080"/>
                <a:gridCol w="395203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5-March plan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on a Page (9/21)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on the upgrade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SIT2 (QS4/200)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Sep - 11 Oct, defects to 25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Sep - 6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QS4 upgrade (24-25 Oct) now falls inside SIT2: weeks 5-6 run on SPS06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 Load 2 (QS4/200)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13 Sep (+ defects to 4 Oct)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 data 7-27 Sep; Tx data 28 Sep - 11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before the QS4 window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testing (SS4/100)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shown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14 Oct - 6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on FPS02: add a performance delta check on SPS06 (9-13 Nov)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 Load 3 (SS4/100)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5 - 25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Oct - 6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Ends the day the SS4 window opens: reconciliation sign-off by Fri 6 Nov 12:00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 (SS4/100)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Oct - 22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Nov - 4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of UAT runs on SPS06; no UAT pause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 Nov - 6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of UAT (30 Nov - 4 Dec)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 (20 Nov) feeds it with the upgrade sign-off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Cutover (PRD)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14 - 27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7 - 31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upgraded 13-15 Nov, before cutover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Go-live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w/c 4 Jan 2027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Jan 2027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Dress rehearsal and hypercare dates to be confirmed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DRC Mexico / TR onsite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DRC MX deploy 21 Sep - 3 Oct; TR onsite w/c 12 Oct, 9 Nov, 7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constraint; TR week 9 Nov validates OneSource on SPS06 in UAT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CHANGING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 from Maintenance Planner transaction 1002693650 (software catalog, 2 Oct 2026)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S/4HANA (S4CORE, S4FND, S4CEXT 108)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SP02 (FPS02)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SP06 (SPS06)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SAP_BASIS, SAP_UI, SAP_BW, SAP_GWFND 758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SP06 (SAPUI5 1.120)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HANA database 2.0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ECS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SPS08 rev 89.5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ECS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916 (downward-compatible)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Ariba CIG add-on ARBCI1 10S / Taulia TAUCI1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SP21 / SP02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SP27 / SP07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OpenText VIM 2023: BAS, INV / O2C, P2P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SP3 / SP1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SP4 / SP2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GRC AC 12 (GRCFND_A V8100, GRCPINW)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MDG, EA-PS, FI-CAX (808); UIS4HOP1 900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SP06; SP03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Tools: SUM 2.0 / SPAM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SP26 PL5 / 0095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08406" y="4983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levels are derived from the lowest SP in the download basket.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7772400" y="1463040"/>
            <a:ext cx="3913632" cy="4206240"/>
          </a:xfrm>
          <a:prstGeom prst="roundRect">
            <a:avLst>
              <a:gd name="adj" fmla="val 2336"/>
            </a:avLst>
          </a:prstGeom>
          <a:solidFill>
            <a:srgbClr val="E8E9EB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795528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vs SPS (S/4HANA 2023)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001000" y="2011680"/>
            <a:ext cx="384048" cy="384048"/>
          </a:xfrm>
          <a:prstGeom prst="ellipse">
            <a:avLst/>
          </a:prstGeom>
          <a:solidFill>
            <a:srgbClr val="82817D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0010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503920" y="2029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FPS01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9418320" y="2029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2024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001000" y="2560320"/>
            <a:ext cx="384048" cy="384048"/>
          </a:xfrm>
          <a:prstGeom prst="ellipse">
            <a:avLst/>
          </a:prstGeom>
          <a:solidFill>
            <a:srgbClr val="27262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010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25786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FPS02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41832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01000" y="3108960"/>
            <a:ext cx="384048" cy="384048"/>
          </a:xfrm>
          <a:prstGeom prst="ellipse">
            <a:avLst/>
          </a:prstGeom>
          <a:solidFill>
            <a:srgbClr val="5C191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010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50392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FPS03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9418320" y="31272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feature pack, Feb 2025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001000" y="3657600"/>
            <a:ext cx="384048" cy="384048"/>
          </a:xfrm>
          <a:prstGeom prst="ellipse">
            <a:avLst/>
          </a:prstGeom>
          <a:solidFill>
            <a:srgbClr val="82817D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010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8503920" y="36758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SPS04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418320" y="36758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+ legal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001000" y="4206240"/>
            <a:ext cx="384048" cy="384048"/>
          </a:xfrm>
          <a:prstGeom prst="ellipse">
            <a:avLst/>
          </a:prstGeom>
          <a:solidFill>
            <a:srgbClr val="82817D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010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8503920" y="42245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SPS05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9418320" y="4224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+ legal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001000" y="4754880"/>
            <a:ext cx="384048" cy="384048"/>
          </a:xfrm>
          <a:prstGeom prst="ellipse">
            <a:avLst/>
          </a:prstGeom>
          <a:solidFill>
            <a:srgbClr val="FF7144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0100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8503920" y="47731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SPS06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941832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7955280" y="5303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Crossing FPS03 brings new and changed features, so we run full regression, not SPS-level smoke.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PRINCIPLES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rules that let the upgrade run alongside SIT2, Mock3, performance testing and UAT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09905" y="2031797"/>
            <a:ext cx="405994" cy="405994"/>
          </a:xfrm>
          <a:prstGeom prst="ellipse">
            <a:avLst/>
          </a:prstGeom>
          <a:solidFill>
            <a:srgbClr val="0062A2"/>
          </a:solidFill>
          <a:ln/>
        </p:spPr>
      </p:sp>
      <p:sp>
        <p:nvSpPr>
          <p:cNvPr id="10" name="Text 6"/>
          <p:cNvSpPr/>
          <p:nvPr/>
        </p:nvSpPr>
        <p:spPr>
          <a:xfrm>
            <a:off x="609905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84302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boundaries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34594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QS4 between SIT2 weeks 4 and 5; SS4 between Mock3 and UAT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429000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30498" y="2031797"/>
            <a:ext cx="405994" cy="405994"/>
          </a:xfrm>
          <a:prstGeom prst="ellipse">
            <a:avLst/>
          </a:prstGeom>
          <a:solidFill>
            <a:srgbClr val="272623"/>
          </a:solidFill>
          <a:ln/>
        </p:spPr>
      </p:sp>
      <p:sp>
        <p:nvSpPr>
          <p:cNvPr id="15" name="Text 11"/>
          <p:cNvSpPr/>
          <p:nvPr/>
        </p:nvSpPr>
        <p:spPr>
          <a:xfrm>
            <a:off x="3530498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04895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proves it first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555187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N+1 Dev and QS5 absorb SPDD/SPAU and the note bundle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2946197" y="3054096"/>
            <a:ext cx="457200" cy="304495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19" name="Shape 15"/>
          <p:cNvSpPr/>
          <p:nvPr/>
        </p:nvSpPr>
        <p:spPr>
          <a:xfrm>
            <a:off x="6349594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51092" y="2031797"/>
            <a:ext cx="405994" cy="405994"/>
          </a:xfrm>
          <a:prstGeom prst="ellipse">
            <a:avLst/>
          </a:prstGeom>
          <a:solidFill>
            <a:srgbClr val="FF7144"/>
          </a:solidFill>
          <a:ln/>
        </p:spPr>
      </p:sp>
      <p:sp>
        <p:nvSpPr>
          <p:cNvPr id="21" name="Text 17"/>
          <p:cNvSpPr/>
          <p:nvPr/>
        </p:nvSpPr>
        <p:spPr>
          <a:xfrm>
            <a:off x="6451092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425489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SIT2 assets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475781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SIT2 P1 scripts in qTest are re-run on SPS06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866790" y="3054096"/>
            <a:ext cx="457200" cy="304495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25" name="Shape 21"/>
          <p:cNvSpPr/>
          <p:nvPr/>
        </p:nvSpPr>
        <p:spPr>
          <a:xfrm>
            <a:off x="9270187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371686" y="2031797"/>
            <a:ext cx="405994" cy="405994"/>
          </a:xfrm>
          <a:prstGeom prst="ellipse">
            <a:avLst/>
          </a:prstGeom>
          <a:solidFill>
            <a:srgbClr val="5C1916"/>
          </a:solidFill>
          <a:ln/>
        </p:spPr>
      </p:sp>
      <p:sp>
        <p:nvSpPr>
          <p:cNvPr id="27" name="Text 23"/>
          <p:cNvSpPr/>
          <p:nvPr/>
        </p:nvSpPr>
        <p:spPr>
          <a:xfrm>
            <a:off x="9371686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346082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driven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9396374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gates, each with a defined Plan B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8787384" y="3054096"/>
            <a:ext cx="457200" cy="304495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31" name="Shape 27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 SIT2 runs 28 Sep to 6 Nov, so QS4 is upgraded on 24-25 Oct and SIT2 weeks 5-6 test the new stack. SS4 is upgraded on 6-8 Nov, in the gap between Mock3 / performance testing and UAT, so all of UAT runs on SPS06. PRD follows on 13-15 Nov while it holds no business data.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UPGRADE PATH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tier has one job; depth of testing increases as we move right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82817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08406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08406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13-14 Oct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8406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81558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broken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99846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checks, smoke per stream, SU25 dry run, downtime measured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410724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0062A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410724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Dev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410724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19-20 Oct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410724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2483876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Developments intact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2502164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SPDD/SPAU, 135 notes, ATC, RICEFW unit tests, role transports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236622" y="1801368"/>
            <a:ext cx="155814" cy="274320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21" name="Shape 17"/>
          <p:cNvSpPr/>
          <p:nvPr/>
        </p:nvSpPr>
        <p:spPr>
          <a:xfrm>
            <a:off x="4313042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4E5659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313042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QS5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313042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21-22 Oct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313042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4386194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aligned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4404482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smoke; N+1 line on SPS06 before activation on 2 Nov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138940" y="1801368"/>
            <a:ext cx="155814" cy="274320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28" name="Shape 24"/>
          <p:cNvSpPr/>
          <p:nvPr/>
        </p:nvSpPr>
        <p:spPr>
          <a:xfrm>
            <a:off x="6215360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27262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215360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QS4 100/200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215360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24-25 Oct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215360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6288512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SIT2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6306800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SIT2 weeks 5-6 on SPS06; re-run of passed P1 scripts; security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041258" y="1801368"/>
            <a:ext cx="155814" cy="274320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35" name="Shape 31"/>
          <p:cNvSpPr/>
          <p:nvPr/>
        </p:nvSpPr>
        <p:spPr>
          <a:xfrm>
            <a:off x="8117677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5C1916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8117677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SS4 + DS4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8117677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Nov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8117677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39" name="Text 35"/>
          <p:cNvSpPr txBox="1"/>
          <p:nvPr/>
        </p:nvSpPr>
        <p:spPr>
          <a:xfrm>
            <a:off x="8190829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UAT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8209117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9 Nov - 4 Dec on SPS06; performance delta check; TR onsite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7943576" y="1801368"/>
            <a:ext cx="155814" cy="274320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42" name="Shape 38"/>
          <p:cNvSpPr/>
          <p:nvPr/>
        </p:nvSpPr>
        <p:spPr>
          <a:xfrm>
            <a:off x="10019995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FF7144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10019995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10019995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13-15 Nov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10019995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46" name="Text 42"/>
          <p:cNvSpPr txBox="1"/>
          <p:nvPr/>
        </p:nvSpPr>
        <p:spPr>
          <a:xfrm>
            <a:off x="10093147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verify</a:t>
            </a:r>
            <a:endParaRPr lang="en-US" sz="1300" dirty="0"/>
          </a:p>
        </p:txBody>
      </p:sp>
      <p:sp>
        <p:nvSpPr>
          <p:cNvPr id="47" name="Text 43"/>
          <p:cNvSpPr txBox="1"/>
          <p:nvPr/>
        </p:nvSpPr>
        <p:spPr>
          <a:xfrm>
            <a:off x="10111435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until cutover (7 Dec); cutover on SPS06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9845893" y="1801368"/>
            <a:ext cx="155814" cy="274320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49" name="Shape 45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 SAP ECS runs SUM in every tier. SPDD/SPAU, note and role transports are built once in N+1 Dev and reused in QS5, QS4, SS4, DS4 and PRD, so each tier gets the identical adjustment set.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TIMELINE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overlay on the Plan on a Page (updated 9/21); Go/No-Go placed at UAT end; dress rehearsal and hypercare TBC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2514600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514600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057861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057861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01122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601122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44384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144384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87645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687645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230906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230906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774167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774167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317428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317428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60689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6860689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403951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7403951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947212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947212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490473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8490473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033734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9033734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576995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9576995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0120256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0120256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0663518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10663518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1206779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11206779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2514600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3290687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5696558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8024821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10430691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508406" y="17830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SIT2 (QS4/200)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3057861" y="1810512"/>
            <a:ext cx="3095206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3057861" y="1810512"/>
            <a:ext cx="31043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SIT2 test execution</a:t>
            </a:r>
            <a:endParaRPr lang="en-US" sz="800" dirty="0"/>
          </a:p>
        </p:txBody>
      </p:sp>
      <p:sp>
        <p:nvSpPr>
          <p:cNvPr id="50" name="Text 46"/>
          <p:cNvSpPr txBox="1"/>
          <p:nvPr/>
        </p:nvSpPr>
        <p:spPr>
          <a:xfrm>
            <a:off x="508406" y="205740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loads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3057861" y="2084832"/>
            <a:ext cx="1077378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3057861" y="2084832"/>
            <a:ext cx="10865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Tx (QS4)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4687645" y="2084832"/>
            <a:ext cx="1465422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4687645" y="2084832"/>
            <a:ext cx="14745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Mock3 (SS4)</a:t>
            </a:r>
            <a:endParaRPr lang="en-US" sz="800" dirty="0"/>
          </a:p>
        </p:txBody>
      </p:sp>
      <p:sp>
        <p:nvSpPr>
          <p:cNvPr id="55" name="Text 51"/>
          <p:cNvSpPr txBox="1"/>
          <p:nvPr/>
        </p:nvSpPr>
        <p:spPr>
          <a:xfrm>
            <a:off x="508406" y="23317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 (SS4)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4299601" y="2359152"/>
            <a:ext cx="1853466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4299601" y="2359152"/>
            <a:ext cx="1862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performance testing</a:t>
            </a:r>
            <a:endParaRPr lang="en-US" sz="800" dirty="0"/>
          </a:p>
        </p:txBody>
      </p:sp>
      <p:sp>
        <p:nvSpPr>
          <p:cNvPr id="58" name="Text 54"/>
          <p:cNvSpPr txBox="1"/>
          <p:nvPr/>
        </p:nvSpPr>
        <p:spPr>
          <a:xfrm>
            <a:off x="508406" y="26060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(SS4/100)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6317428" y="2633472"/>
            <a:ext cx="2008683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6317428" y="2633472"/>
            <a:ext cx="20178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800" dirty="0"/>
          </a:p>
        </p:txBody>
      </p:sp>
      <p:sp>
        <p:nvSpPr>
          <p:cNvPr id="61" name="Text 57"/>
          <p:cNvSpPr txBox="1"/>
          <p:nvPr/>
        </p:nvSpPr>
        <p:spPr>
          <a:xfrm>
            <a:off x="508406" y="28803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Go/No-Go, cutover</a:t>
            </a:r>
            <a:endParaRPr lang="en-US" sz="1000" dirty="0"/>
          </a:p>
        </p:txBody>
      </p:sp>
      <p:sp>
        <p:nvSpPr>
          <p:cNvPr id="62" name="Shape 58"/>
          <p:cNvSpPr/>
          <p:nvPr/>
        </p:nvSpPr>
        <p:spPr>
          <a:xfrm>
            <a:off x="7947212" y="2907792"/>
            <a:ext cx="378900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7947212" y="2907792"/>
            <a:ext cx="38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G/NG</a:t>
            </a:r>
            <a:endParaRPr lang="en-US" sz="800" dirty="0"/>
          </a:p>
        </p:txBody>
      </p:sp>
      <p:sp>
        <p:nvSpPr>
          <p:cNvPr id="64" name="Shape 60"/>
          <p:cNvSpPr/>
          <p:nvPr/>
        </p:nvSpPr>
        <p:spPr>
          <a:xfrm>
            <a:off x="8490473" y="2907792"/>
            <a:ext cx="1931074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8490473" y="2907792"/>
            <a:ext cx="1940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Cutover (PRD)</a:t>
            </a:r>
            <a:endParaRPr lang="en-US" sz="800" dirty="0"/>
          </a:p>
        </p:txBody>
      </p:sp>
      <p:sp>
        <p:nvSpPr>
          <p:cNvPr id="66" name="Text 62"/>
          <p:cNvSpPr txBox="1"/>
          <p:nvPr/>
        </p:nvSpPr>
        <p:spPr>
          <a:xfrm>
            <a:off x="508406" y="31546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 MX / TR onsite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2514600" y="3182112"/>
            <a:ext cx="999770" cy="182880"/>
          </a:xfrm>
          <a:prstGeom prst="rect">
            <a:avLst/>
          </a:prstGeom>
          <a:solidFill>
            <a:srgbClr val="C9D3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2514600" y="3182112"/>
            <a:ext cx="10089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 MX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4144384" y="3182112"/>
            <a:ext cx="378900" cy="182880"/>
          </a:xfrm>
          <a:prstGeom prst="rect">
            <a:avLst/>
          </a:prstGeom>
          <a:solidFill>
            <a:srgbClr val="C9D3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4144384" y="3182112"/>
            <a:ext cx="38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800" dirty="0"/>
          </a:p>
        </p:txBody>
      </p:sp>
      <p:sp>
        <p:nvSpPr>
          <p:cNvPr id="71" name="Shape 67"/>
          <p:cNvSpPr/>
          <p:nvPr/>
        </p:nvSpPr>
        <p:spPr>
          <a:xfrm>
            <a:off x="6317428" y="3182112"/>
            <a:ext cx="378900" cy="182880"/>
          </a:xfrm>
          <a:prstGeom prst="rect">
            <a:avLst/>
          </a:prstGeom>
          <a:solidFill>
            <a:srgbClr val="C9D3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6317428" y="3182112"/>
            <a:ext cx="38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800" dirty="0"/>
          </a:p>
        </p:txBody>
      </p:sp>
      <p:sp>
        <p:nvSpPr>
          <p:cNvPr id="73" name="Shape 69"/>
          <p:cNvSpPr/>
          <p:nvPr/>
        </p:nvSpPr>
        <p:spPr>
          <a:xfrm>
            <a:off x="8490473" y="3182112"/>
            <a:ext cx="378900" cy="182880"/>
          </a:xfrm>
          <a:prstGeom prst="rect">
            <a:avLst/>
          </a:prstGeom>
          <a:solidFill>
            <a:srgbClr val="C9D3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8490473" y="3182112"/>
            <a:ext cx="38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800" dirty="0"/>
          </a:p>
        </p:txBody>
      </p:sp>
      <p:sp>
        <p:nvSpPr>
          <p:cNvPr id="75" name="Shape 71"/>
          <p:cNvSpPr/>
          <p:nvPr/>
        </p:nvSpPr>
        <p:spPr>
          <a:xfrm>
            <a:off x="508406" y="3474720"/>
            <a:ext cx="11237976" cy="0"/>
          </a:xfrm>
          <a:prstGeom prst="line">
            <a:avLst/>
          </a:prstGeom>
          <a:noFill/>
          <a:ln w="9525">
            <a:solidFill>
              <a:srgbClr val="82817D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508406" y="35112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SPS06 UPGRADE</a:t>
            </a:r>
            <a:endParaRPr lang="en-US" sz="900" dirty="0"/>
          </a:p>
        </p:txBody>
      </p:sp>
      <p:sp>
        <p:nvSpPr>
          <p:cNvPr id="77" name="Text 73"/>
          <p:cNvSpPr txBox="1"/>
          <p:nvPr/>
        </p:nvSpPr>
        <p:spPr>
          <a:xfrm>
            <a:off x="508406" y="37033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13-14 Oct</a:t>
            </a:r>
            <a:endParaRPr lang="en-US" sz="1000" dirty="0"/>
          </a:p>
        </p:txBody>
      </p:sp>
      <p:sp>
        <p:nvSpPr>
          <p:cNvPr id="78" name="Shape 74"/>
          <p:cNvSpPr/>
          <p:nvPr/>
        </p:nvSpPr>
        <p:spPr>
          <a:xfrm>
            <a:off x="4221992" y="3730752"/>
            <a:ext cx="146073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4377210" y="3730752"/>
            <a:ext cx="146073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508406" y="39776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Dev  19-20 Oct</a:t>
            </a:r>
            <a:endParaRPr lang="en-US" sz="1000" dirty="0"/>
          </a:p>
        </p:txBody>
      </p:sp>
      <p:sp>
        <p:nvSpPr>
          <p:cNvPr id="81" name="Shape 77"/>
          <p:cNvSpPr/>
          <p:nvPr/>
        </p:nvSpPr>
        <p:spPr>
          <a:xfrm>
            <a:off x="4144384" y="4005072"/>
            <a:ext cx="378900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4144384" y="4005072"/>
            <a:ext cx="38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</a:t>
            </a:r>
            <a:endParaRPr lang="en-US" sz="800" dirty="0"/>
          </a:p>
        </p:txBody>
      </p:sp>
      <p:sp>
        <p:nvSpPr>
          <p:cNvPr id="83" name="Shape 79"/>
          <p:cNvSpPr/>
          <p:nvPr/>
        </p:nvSpPr>
        <p:spPr>
          <a:xfrm>
            <a:off x="4687645" y="4005072"/>
            <a:ext cx="146073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4842862" y="4005072"/>
            <a:ext cx="766943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4842862" y="4005072"/>
            <a:ext cx="7760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</a:t>
            </a:r>
            <a:endParaRPr lang="en-US" sz="800" dirty="0"/>
          </a:p>
        </p:txBody>
      </p:sp>
      <p:sp>
        <p:nvSpPr>
          <p:cNvPr id="86" name="Text 82"/>
          <p:cNvSpPr txBox="1"/>
          <p:nvPr/>
        </p:nvSpPr>
        <p:spPr>
          <a:xfrm>
            <a:off x="508406" y="42519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QS5  21-22 Oct</a:t>
            </a:r>
            <a:endParaRPr lang="en-US" sz="1000" dirty="0"/>
          </a:p>
        </p:txBody>
      </p:sp>
      <p:sp>
        <p:nvSpPr>
          <p:cNvPr id="87" name="Shape 83"/>
          <p:cNvSpPr/>
          <p:nvPr/>
        </p:nvSpPr>
        <p:spPr>
          <a:xfrm>
            <a:off x="4842862" y="4279392"/>
            <a:ext cx="146073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4998080" y="4279392"/>
            <a:ext cx="68465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508406" y="45262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QS4  24-25 Oct</a:t>
            </a:r>
            <a:endParaRPr lang="en-US" sz="1000" dirty="0"/>
          </a:p>
        </p:txBody>
      </p:sp>
      <p:sp>
        <p:nvSpPr>
          <p:cNvPr id="90" name="Shape 86"/>
          <p:cNvSpPr/>
          <p:nvPr/>
        </p:nvSpPr>
        <p:spPr>
          <a:xfrm>
            <a:off x="5075688" y="4553712"/>
            <a:ext cx="146073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5230906" y="4553712"/>
            <a:ext cx="922161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5230906" y="4553712"/>
            <a:ext cx="9313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SIT2 + P1 re-run</a:t>
            </a:r>
            <a:endParaRPr lang="en-US" sz="800" dirty="0"/>
          </a:p>
        </p:txBody>
      </p:sp>
      <p:sp>
        <p:nvSpPr>
          <p:cNvPr id="93" name="Text 89"/>
          <p:cNvSpPr txBox="1"/>
          <p:nvPr/>
        </p:nvSpPr>
        <p:spPr>
          <a:xfrm>
            <a:off x="508406" y="480060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SS4 + DS4  6-8 Nov</a:t>
            </a:r>
            <a:endParaRPr lang="en-US" sz="1000" dirty="0"/>
          </a:p>
        </p:txBody>
      </p:sp>
      <p:sp>
        <p:nvSpPr>
          <p:cNvPr id="94" name="Shape 90"/>
          <p:cNvSpPr/>
          <p:nvPr/>
        </p:nvSpPr>
        <p:spPr>
          <a:xfrm>
            <a:off x="6084602" y="4828032"/>
            <a:ext cx="223682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6317428" y="4828032"/>
            <a:ext cx="2008683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Text 92"/>
          <p:cNvSpPr txBox="1"/>
          <p:nvPr/>
        </p:nvSpPr>
        <p:spPr>
          <a:xfrm>
            <a:off x="6317428" y="4828032"/>
            <a:ext cx="20178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UAT on SPS06</a:t>
            </a:r>
            <a:endParaRPr lang="en-US" sz="800" dirty="0"/>
          </a:p>
        </p:txBody>
      </p:sp>
      <p:sp>
        <p:nvSpPr>
          <p:cNvPr id="97" name="Text 93"/>
          <p:cNvSpPr txBox="1"/>
          <p:nvPr/>
        </p:nvSpPr>
        <p:spPr>
          <a:xfrm>
            <a:off x="508406" y="50749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 13-15 Nov</a:t>
            </a:r>
            <a:endParaRPr lang="en-US" sz="1000" dirty="0"/>
          </a:p>
        </p:txBody>
      </p:sp>
      <p:sp>
        <p:nvSpPr>
          <p:cNvPr id="98" name="Shape 94"/>
          <p:cNvSpPr/>
          <p:nvPr/>
        </p:nvSpPr>
        <p:spPr>
          <a:xfrm>
            <a:off x="6627863" y="5102352"/>
            <a:ext cx="223682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6860689" y="5102352"/>
            <a:ext cx="146073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8490473" y="5102352"/>
            <a:ext cx="1931074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Text 97"/>
          <p:cNvSpPr txBox="1"/>
          <p:nvPr/>
        </p:nvSpPr>
        <p:spPr>
          <a:xfrm>
            <a:off x="8490473" y="5102352"/>
            <a:ext cx="1940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cutover on SPS06</a:t>
            </a:r>
            <a:endParaRPr lang="en-US" sz="800" dirty="0"/>
          </a:p>
        </p:txBody>
      </p:sp>
      <p:sp>
        <p:nvSpPr>
          <p:cNvPr id="102" name="Text 98"/>
          <p:cNvSpPr txBox="1"/>
          <p:nvPr/>
        </p:nvSpPr>
        <p:spPr>
          <a:xfrm>
            <a:off x="508406" y="53858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</a:t>
            </a:r>
            <a:endParaRPr lang="en-US" sz="1000" dirty="0"/>
          </a:p>
        </p:txBody>
      </p:sp>
      <p:sp>
        <p:nvSpPr>
          <p:cNvPr id="103" name="Shape 99"/>
          <p:cNvSpPr/>
          <p:nvPr/>
        </p:nvSpPr>
        <p:spPr>
          <a:xfrm>
            <a:off x="3840634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04" name="Text 100"/>
          <p:cNvSpPr txBox="1"/>
          <p:nvPr/>
        </p:nvSpPr>
        <p:spPr>
          <a:xfrm>
            <a:off x="3694330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800" dirty="0"/>
          </a:p>
        </p:txBody>
      </p:sp>
      <p:sp>
        <p:nvSpPr>
          <p:cNvPr id="105" name="Shape 101"/>
          <p:cNvSpPr/>
          <p:nvPr/>
        </p:nvSpPr>
        <p:spPr>
          <a:xfrm>
            <a:off x="4383895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06" name="Text 102"/>
          <p:cNvSpPr txBox="1"/>
          <p:nvPr/>
        </p:nvSpPr>
        <p:spPr>
          <a:xfrm>
            <a:off x="4237591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800" dirty="0"/>
          </a:p>
        </p:txBody>
      </p:sp>
      <p:sp>
        <p:nvSpPr>
          <p:cNvPr id="107" name="Shape 103"/>
          <p:cNvSpPr/>
          <p:nvPr/>
        </p:nvSpPr>
        <p:spPr>
          <a:xfrm>
            <a:off x="4849547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08" name="Text 104"/>
          <p:cNvSpPr txBox="1"/>
          <p:nvPr/>
        </p:nvSpPr>
        <p:spPr>
          <a:xfrm>
            <a:off x="4703243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800" dirty="0"/>
          </a:p>
        </p:txBody>
      </p:sp>
      <p:sp>
        <p:nvSpPr>
          <p:cNvPr id="109" name="Shape 105"/>
          <p:cNvSpPr/>
          <p:nvPr/>
        </p:nvSpPr>
        <p:spPr>
          <a:xfrm>
            <a:off x="5936070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10" name="Text 106"/>
          <p:cNvSpPr txBox="1"/>
          <p:nvPr/>
        </p:nvSpPr>
        <p:spPr>
          <a:xfrm>
            <a:off x="5789766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800" dirty="0"/>
          </a:p>
        </p:txBody>
      </p:sp>
      <p:sp>
        <p:nvSpPr>
          <p:cNvPr id="111" name="Shape 107"/>
          <p:cNvSpPr/>
          <p:nvPr/>
        </p:nvSpPr>
        <p:spPr>
          <a:xfrm>
            <a:off x="6479331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12" name="Text 108"/>
          <p:cNvSpPr txBox="1"/>
          <p:nvPr/>
        </p:nvSpPr>
        <p:spPr>
          <a:xfrm>
            <a:off x="6333027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800" dirty="0"/>
          </a:p>
        </p:txBody>
      </p:sp>
      <p:sp>
        <p:nvSpPr>
          <p:cNvPr id="113" name="Shape 109"/>
          <p:cNvSpPr/>
          <p:nvPr/>
        </p:nvSpPr>
        <p:spPr>
          <a:xfrm>
            <a:off x="7100201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14" name="Text 110"/>
          <p:cNvSpPr txBox="1"/>
          <p:nvPr/>
        </p:nvSpPr>
        <p:spPr>
          <a:xfrm>
            <a:off x="6953897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</a:t>
            </a:r>
            <a:endParaRPr lang="en-US" sz="800" dirty="0"/>
          </a:p>
        </p:txBody>
      </p:sp>
      <p:sp>
        <p:nvSpPr>
          <p:cNvPr id="115" name="Shape 111"/>
          <p:cNvSpPr/>
          <p:nvPr/>
        </p:nvSpPr>
        <p:spPr>
          <a:xfrm>
            <a:off x="3678731" y="1737360"/>
            <a:ext cx="0" cy="4160520"/>
          </a:xfrm>
          <a:prstGeom prst="line">
            <a:avLst/>
          </a:prstGeom>
          <a:noFill/>
          <a:ln w="15875">
            <a:solidFill>
              <a:srgbClr val="5C1916"/>
            </a:solidFill>
            <a:prstDash val="dash"/>
          </a:ln>
        </p:spPr>
      </p:sp>
      <p:sp>
        <p:nvSpPr>
          <p:cNvPr id="116" name="Text 112"/>
          <p:cNvSpPr txBox="1"/>
          <p:nvPr/>
        </p:nvSpPr>
        <p:spPr>
          <a:xfrm>
            <a:off x="3358691" y="170992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700" dirty="0"/>
          </a:p>
        </p:txBody>
      </p:sp>
      <p:sp>
        <p:nvSpPr>
          <p:cNvPr id="117" name="Shape 113"/>
          <p:cNvSpPr/>
          <p:nvPr/>
        </p:nvSpPr>
        <p:spPr>
          <a:xfrm>
            <a:off x="10430691" y="1737360"/>
            <a:ext cx="0" cy="4160520"/>
          </a:xfrm>
          <a:prstGeom prst="line">
            <a:avLst/>
          </a:prstGeom>
          <a:noFill/>
          <a:ln w="19050">
            <a:solidFill>
              <a:srgbClr val="5C1916"/>
            </a:solidFill>
            <a:prstDash val="dash"/>
          </a:ln>
        </p:spPr>
      </p:sp>
      <p:sp>
        <p:nvSpPr>
          <p:cNvPr id="118" name="Text 114"/>
          <p:cNvSpPr txBox="1"/>
          <p:nvPr/>
        </p:nvSpPr>
        <p:spPr>
          <a:xfrm>
            <a:off x="9927771" y="1709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1 Jan</a:t>
            </a:r>
            <a:endParaRPr lang="en-US" sz="700" dirty="0"/>
          </a:p>
        </p:txBody>
      </p:sp>
      <p:sp>
        <p:nvSpPr>
          <p:cNvPr id="119" name="Shape 115"/>
          <p:cNvSpPr/>
          <p:nvPr/>
        </p:nvSpPr>
        <p:spPr>
          <a:xfrm>
            <a:off x="2011680" y="6108192"/>
            <a:ext cx="279806" cy="177394"/>
          </a:xfrm>
          <a:prstGeom prst="roundRect">
            <a:avLst>
              <a:gd name="adj" fmla="val 18041"/>
            </a:avLst>
          </a:prstGeom>
          <a:solidFill>
            <a:srgbClr val="E8E9EB"/>
          </a:solidFill>
          <a:ln/>
        </p:spPr>
      </p:sp>
      <p:sp>
        <p:nvSpPr>
          <p:cNvPr id="120" name="Text 116"/>
          <p:cNvSpPr txBox="1"/>
          <p:nvPr/>
        </p:nvSpPr>
        <p:spPr>
          <a:xfrm>
            <a:off x="2359152" y="6089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phase (Plan on a Page)</a:t>
            </a:r>
            <a:endParaRPr lang="en-US" sz="1000" dirty="0"/>
          </a:p>
        </p:txBody>
      </p:sp>
      <p:sp>
        <p:nvSpPr>
          <p:cNvPr id="121" name="Shape 117"/>
          <p:cNvSpPr/>
          <p:nvPr/>
        </p:nvSpPr>
        <p:spPr>
          <a:xfrm>
            <a:off x="4480560" y="6108192"/>
            <a:ext cx="279806" cy="177394"/>
          </a:xfrm>
          <a:prstGeom prst="roundRect">
            <a:avLst>
              <a:gd name="adj" fmla="val 18041"/>
            </a:avLst>
          </a:prstGeom>
          <a:solidFill>
            <a:srgbClr val="C9D3E0"/>
          </a:solidFill>
          <a:ln/>
        </p:spPr>
      </p:sp>
      <p:sp>
        <p:nvSpPr>
          <p:cNvPr id="122" name="Text 118"/>
          <p:cNvSpPr txBox="1"/>
          <p:nvPr/>
        </p:nvSpPr>
        <p:spPr>
          <a:xfrm>
            <a:off x="4828032" y="6089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 Mexico / TR onsite</a:t>
            </a:r>
            <a:endParaRPr lang="en-US" sz="1000" dirty="0"/>
          </a:p>
        </p:txBody>
      </p:sp>
      <p:sp>
        <p:nvSpPr>
          <p:cNvPr id="123" name="Shape 119"/>
          <p:cNvSpPr/>
          <p:nvPr/>
        </p:nvSpPr>
        <p:spPr>
          <a:xfrm>
            <a:off x="6949440" y="6108192"/>
            <a:ext cx="279806" cy="177394"/>
          </a:xfrm>
          <a:prstGeom prst="roundRect">
            <a:avLst>
              <a:gd name="adj" fmla="val 18041"/>
            </a:avLst>
          </a:prstGeom>
          <a:solidFill>
            <a:srgbClr val="FF7144"/>
          </a:solidFill>
          <a:ln/>
        </p:spPr>
      </p:sp>
      <p:sp>
        <p:nvSpPr>
          <p:cNvPr id="124" name="Text 120"/>
          <p:cNvSpPr txBox="1"/>
          <p:nvPr/>
        </p:nvSpPr>
        <p:spPr>
          <a:xfrm>
            <a:off x="7296912" y="6089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window (SAP ECS)</a:t>
            </a:r>
            <a:endParaRPr lang="en-US" sz="1000" dirty="0"/>
          </a:p>
        </p:txBody>
      </p:sp>
      <p:sp>
        <p:nvSpPr>
          <p:cNvPr id="125" name="Shape 121"/>
          <p:cNvSpPr/>
          <p:nvPr/>
        </p:nvSpPr>
        <p:spPr>
          <a:xfrm>
            <a:off x="9418320" y="6108192"/>
            <a:ext cx="279806" cy="177394"/>
          </a:xfrm>
          <a:prstGeom prst="roundRect">
            <a:avLst>
              <a:gd name="adj" fmla="val 18041"/>
            </a:avLst>
          </a:prstGeom>
          <a:solidFill>
            <a:srgbClr val="0062A2"/>
          </a:solidFill>
          <a:ln/>
        </p:spPr>
      </p:sp>
      <p:sp>
        <p:nvSpPr>
          <p:cNvPr id="126" name="Text 122"/>
          <p:cNvSpPr txBox="1"/>
          <p:nvPr/>
        </p:nvSpPr>
        <p:spPr>
          <a:xfrm>
            <a:off x="9765792" y="6089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validation / testing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THE LANDSCAPE BALANCED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windows follow SAP Note 1090842: lower SP to higher SP is the recommended direction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3566160"/>
                <a:gridCol w="5140757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Landscape 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 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now to 23 Oct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Go-live line on FPS02; N+1 Dev SPS06 from 20 Oct, QS5 from 22 Oct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DS4 &gt; QS4 &gt; SS4 flow. Nothing from N+1 Dev into the go-live line except adjustment transports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Oct to 8 Nov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QS4 on SPS06; DS4, SS4, PRD on FPS02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SIT2 fixes flow DS4 &gt; QS4 &gt; SS4 (FPS02-origin objects only). No SPS06-origin objects to SS4 or PRD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to 15 Nov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DS4, QS4, SS4 on SPS06; PRD on FPS02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 fixes flow normally to SS4. PRD imports held in the queue until PRD is upgraded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16 Nov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tiers on SPS06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flow. N+1 (active 2 Nov) delivers N+1 Dev &gt; QS5 only; DS4 changes reach QS5 by retrofit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 N+1 Dev is upgraded first while it is idle, so the go-live Dev (DS4) keeps feeding SIT2 fixes on FPS02. DS4 is upgraded with SS4 on 6-8 Nov, so UAT fixes are built on SPS06 for an SPS06 SS4. Retrofit DS4 changes into N+1 Dev weekly until then.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STRATEGY PER TIER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automation: SIT2 itself plus a manual re-run of passed P1 scripts is the regression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4389120"/>
                <a:gridCol w="2377440"/>
                <a:gridCol w="1300277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Sandbox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 the stack installs and nothing is broken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checklist; key T-codes; launchpad and Work Zone tiles; RFC/IDoc/AIF ping; SU25 dry run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Basis, INTL Security, PwC stream leads (0.5 day each)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 16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N+1 Dev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Ensure the upgrade does not break custom developments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SPDD/SPAU; note bundle; ATC; RICEFW unit tests; custom Fiori apps; SU25/SU24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Technical, INTL Security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 22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QS5 (N+1 QA)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the N+1 line consistent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smoke only (logon, STMS, SM59, launchpad)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2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QS4 client 200 (inside SIT2)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regression of all upgraded components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SIT2 weeks 5-6 run on SPS06; manual re-run of P1 scripts that passed on FPS02; security negative tests; batch performance spot checks; migration check (client 100)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Functional, SIT2 testers; INTL Test Lead tracks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 5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SS4 (pre-prod)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round: all of UAT on SPS06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smoke 9 Nov AM; UAT 9 Nov - 4 Dec on SPS06; performance delta check 9-13 Nov; OneSource with TR onsite (w/c 9 Nov); legacy interface E2E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PO/IT leads, business testers; PwC supports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 12 Nov, G5 20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verification only (no data before cutover)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checklist; queued transports; role transports; Work Zone production content; no automation in PRD; cutover on SPS06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Basis, Security; cutover team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 20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08406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G3: P1 re-run pass rate at least 95%, zero open Sev1/Sev2 UPG-SPS06 defects, SIT2 weeks 5-6 without upgrade blockers, CFIN healthy, security passed, migration loads on SPS06.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REGRESSION FOCUS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in-scope solution, with the side-effect notes from your Maintenance Planner report that touch it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675120"/>
                <a:gridCol w="2580437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focus (QS4/200 P1 re-run and UAT on SPS06)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Side-effect notes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STP / Ariba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-&gt; PO -&gt; Ariba Network via CIG add-on (ARBCI1 SP27), order confirmation, ASN, invoice; Manage Purchase Contracts; Taulia (TAUCI1) if used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3727222, 3728027, 3563636, 3542666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-&gt; delivery -&gt; billing, pricing, credit memo tax with OneSource, BP sync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3678075, 3666390, 3759214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 close, FX valuation, allocations, AA depreciation, Margin Analysis, Material Ledger close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3757119, 3777415, 3749911, 3751266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GR/GI, inventory, deliveries, ML valuation, material master mass changes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3777415, 3779425, 3528920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 Finance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SLT pause/resume, AIF monitor, replication of parked and reversal documents, mapping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3794020, 3789234, 3793659, 3767655, 3756339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OpenText VIM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Invoice capture -&gt; DP document -&gt; parking (FBV0) -&gt; workflow approval -&gt; posting; ArchiveLink images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3680992, 3279714, 3777208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AFC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AFC (BTP) connection to S/4 via Cloud Connector; scheduled S/4 tasks run from AFC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prerequisites per AFC documentation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DRC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Mexico eDocuments just deployed (21 Sep - 3 Oct): CFDI issue, cancel, payment complement; US Sales and Use Tax; CA/US/MX statutory reports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3830404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MBC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F110 -&gt; DMEE(X) payment file -&gt; MBC; bank statement import and reprocessing; status messages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3779613, 3614271, 3735645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OneSource Indirect Tax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calculation SO/billing/credit memo, PO/MIRO, Mexico VAT cash basis (RFUMSV50); TR onsite w/c 12 Oct (Sandbox/statement) and w/c 9 Nov (UAT on SPS06)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3678075, 3613556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 / Work Zone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Launchpad and Work Zone content federation, tiles, custom apps, spool, qRFC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3563542, 3534823, 3795313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/ GRC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SU25, SU24, role regression, SUIM, GRC AC 12 add-on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3809657, 3782096, 3626764, 3590792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SIDE-EFFECT NOTES TRIAGE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Planner side-effect report filtered to US, CA, MX, English and the NorthStar streams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4630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8E9EB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08406" y="1536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72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870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45566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to solution pairs in your report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24758" y="14630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8E9E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324758" y="1536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71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135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3461918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in-scope notes to implement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41110" y="14630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8E9E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141110" y="1536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62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178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627827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conditional: depends on module use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957462" y="14630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8E9EB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957462" y="1536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281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535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9094622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(300 are S/4HCM payroll)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08406" y="29718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135 fixes ship inside SPS06 (they arrive in SP07 or have no SP), so all go in by SNOTE as one note bundle built in N+1 Dev.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3474720"/>
          <a:ext cx="11175797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6217920"/>
                <a:gridCol w="184891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3563542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HotNews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Spool consistency job RSPO1043 can delete valid spool requests: apply before the job runs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3777415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HotNews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Ledger: MBEW-KALN1 overwritten by OBEW-KALN1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RTR / ITD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3809657, 3782096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/ 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SU25 step 2c returns wrong results: apply before role adjustment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Security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3794020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CFIN replication of parked documents fails reading the document number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CFIN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3779613, 3614271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F110 extended individual payment; DMEEX syntax error in payment formats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STP / MBC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AND THIRD PARTIES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SAP's side-effect report does not cover, and what we must confirm in writing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949440"/>
                <a:gridCol w="184891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 / 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HANA 2.0 SPS08 rev 89.5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 for S/4HANA 2023 (SPS07 rev 76 recommended minimum); check SAP Notes 2655761 and 2378962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confirm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916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Downward-compatible kernel for 2023 (ships with 7.93), per SAP Kernel news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confirm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Zone Standard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SAP_UI 758 carries SAPUI5 1.120; after each tier: invalidate caches, app index, re-sync content 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Sandbox 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OpenText VIM 2023 SP4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 add-on outside SAP report: written OpenText support statement for 2023 SPS06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Open: INTL ticket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OneSource Indirect Tax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 support statement during TR onsite w/c 12 Oct; TR onsite w/c 9 Nov tests OneSource in UAT on SPS06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Open: TR onsite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DRC Mexico (new)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Deployed 21 Sep - 3 Oct on FPS02: re-test Mexico CFDI flows on SPS06 (QS4 re-run and UAT)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Ariba CIG, AFC, MBC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stack or BTP: follow add-on upgrade guide; re-test S/4 connections per tier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 Finance + SLT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 replication per target upgrade; confirm DMIS on SLT/source supports 2023 SPS06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08406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confirmations are a G1 entry criterion. Unconfirmed items stop SS4 and PRD at G3.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responsible, A accountable, C consulted, I informed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371600"/>
          <a:ext cx="11175797" cy="914400"/>
        </p:xfrm>
        <a:graphic>
          <a:graphicData uri="http://schemas.openxmlformats.org/drawingml/2006/table">
            <a:tbl>
              <a:tblPr/>
              <a:tblGrid>
                <a:gridCol w="276148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ECS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Test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PO / 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Legacy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Technical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Functional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Test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service requests and scheduling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upgrade (SUM, HANA, kernel)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SPDD / SPAU and note bundle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SU25 / role adjustments, GRC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Post-processing, Work Zone re-sync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 reconnect and ping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set and SIT2 baseline (qTest)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QS4/200 P1 re-run inside SIT2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 on SPS06 (SS4)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delta check (SS4)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 fix (UPG-SPS06)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CFIN replication pause / resume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compatibility confirmations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 and steering decisions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GATES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gate is a short steering decision chaired by INTL PMO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828800"/>
                <a:gridCol w="7335317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criteria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 9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Mobilized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dates and downtime confirmed in writing; N+1 SIDs and routes signed off; stack confirmed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 16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Sandbox sign-off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clean; smoke passed; SPAU worklist sized; downtime measured; vendor confirmations received or tracked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 22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ready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SPDD/SPAU, note bundle and role transports released from N+1 Dev; no blocking unit-test failure; ATC priority-1 findings 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 5 Nov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decision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re-run in QS4/200 pass &gt;= 95%; zero open Sev1/Sev2 UPG-SPS06 defects; SIT2 weeks 5-6 without upgrade blockers; CFIN healthy; security passed; migration loads on SPS06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 12 Nov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SS4 technical checks passed; UAT running on SPS06 without upgrade blockers; performance delta acceptable; legacy E2E 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 20 Nov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technical verification signed; UAT clean on SPS06 for two weeks; known issues and watch list handed to Go/No-Go (30 Nov - 4 Dec)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 (ECS lead time):  shift one week; QS4 31 Oct - 1 Nov (still inside SIT2), SS4 13-15 Nov (UAT week 1 on FPS02), PRD 20-22 Nov, still before Go/No-Go.   Plan C (G3 fails):  SS4, DS4 and PRD stay FPS02 for UAT and go-live; QS4, N+1 Dev and QS5 stay SPS06 as the post-go-live line.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risks; full RAID (12 items) in the plan workbook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822960"/>
                <a:gridCol w="5120640"/>
                <a:gridCol w="1666037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cannot schedule Sandbox by 13-14 Oct (lead time; requests go in 7 Oct)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Raise all service requests Wed 7 Oct with dates; escalate via ECS TSM; Plan B shifts chain +1 week and still closes before Go/No-Go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QS4 regression overlaps SIT2 execution in the same client and 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Re-run only P1 scripts that passed on FPS02; SIT2 weeks 5-6 count as upgrade evidence; PwC functional and SIT2 testers split by 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Test Lead / PwC Test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Defects in SIT2 weeks 5-6 cannot be attributed (functional vs upgrade)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FPS02 SIT2 baseline frozen in qTest by 23 Oct; tag UPG-SPS06; compare with SS4 (FPS02 until 6 Nov)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Test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test (about 14 Oct - 6 Nov) runs on FPS02, production runs SPS06 with kernel 916 and HANA SPS08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delta check of key scenarios on SS4 SPS06 (9-13 Nov) is a G4 criterion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Test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 add-ons unconfirmed (OpenText VIM, OneSource, Taulia)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confirmations are a G1 criterion (TR statement during onsite week of 12 Oct); regression P1 for each; hold SS4/PRD at G3 if open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Mock3 ends 6 Nov, the day the SS4 window opens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Mock3 reconciliation sign-off by Fri 6 Nov 12:00; otherwise the SS4 window starts Sat 7 Nov (UAT still starts 9 Nov)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Data Migration / 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Mexico DRC deployment (built on FPS02) affected by SPS06 legal changes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Mexico CFDI flows in the P1 re-run (QS4) and in UAT on SPS06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DRC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Mock3 runs on FPS02 but cutover runs on SPS06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Migration Cockpit mini-validation on QS4/100 after upgrade; dress rehearsal (TBC) on SPS06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Data Migration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CFIN replication backlog or errors after target upgrade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Pause/resume runbook; drain queues before; reconcile after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CFIN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TEN DAYS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to happen before the Sandbox window on 13 Oct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09905" y="1880006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9" name="Shape 5"/>
          <p:cNvSpPr/>
          <p:nvPr/>
        </p:nvSpPr>
        <p:spPr>
          <a:xfrm>
            <a:off x="888797" y="2070202"/>
            <a:ext cx="508406" cy="508406"/>
          </a:xfrm>
          <a:prstGeom prst="ellipse">
            <a:avLst/>
          </a:prstGeom>
          <a:solidFill>
            <a:srgbClr val="0062A2"/>
          </a:solidFill>
          <a:ln/>
        </p:spPr>
      </p:sp>
      <p:sp>
        <p:nvSpPr>
          <p:cNvPr id="10" name="Text 6"/>
          <p:cNvSpPr/>
          <p:nvPr/>
        </p:nvSpPr>
        <p:spPr>
          <a:xfrm>
            <a:off x="888797" y="2070202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651406" y="2044598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7 Oct: approve plan and gates; raise all SAP ECS service requests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51406" y="2374697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INTL PMO and Basis. Every tier incl. QS5; HANA revision, kernel and downtime window per tier.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9905" y="2921508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14" name="Shape 10"/>
          <p:cNvSpPr/>
          <p:nvPr/>
        </p:nvSpPr>
        <p:spPr>
          <a:xfrm>
            <a:off x="888797" y="3111703"/>
            <a:ext cx="508406" cy="508406"/>
          </a:xfrm>
          <a:prstGeom prst="ellipse">
            <a:avLst/>
          </a:prstGeom>
          <a:solidFill>
            <a:srgbClr val="272623"/>
          </a:solidFill>
          <a:ln/>
        </p:spPr>
      </p:sp>
      <p:sp>
        <p:nvSpPr>
          <p:cNvPr id="15" name="Text 11"/>
          <p:cNvSpPr/>
          <p:nvPr/>
        </p:nvSpPr>
        <p:spPr>
          <a:xfrm>
            <a:off x="888797" y="3111703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651406" y="3086100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9 Oct (G0): routes and scope locked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51406" y="3416198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SIDs and routes signed off; note bundle validated; conditional modules confirmed by stream leads.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9905" y="3963010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19" name="Shape 15"/>
          <p:cNvSpPr/>
          <p:nvPr/>
        </p:nvSpPr>
        <p:spPr>
          <a:xfrm>
            <a:off x="888797" y="4153205"/>
            <a:ext cx="508406" cy="508406"/>
          </a:xfrm>
          <a:prstGeom prst="ellipse">
            <a:avLst/>
          </a:prstGeom>
          <a:solidFill>
            <a:srgbClr val="FF7144"/>
          </a:solidFill>
          <a:ln/>
        </p:spPr>
      </p:sp>
      <p:sp>
        <p:nvSpPr>
          <p:cNvPr id="20" name="Text 16"/>
          <p:cNvSpPr/>
          <p:nvPr/>
        </p:nvSpPr>
        <p:spPr>
          <a:xfrm>
            <a:off x="888797" y="4153205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651406" y="4127602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12 to Fri 16 Oct: TR onsite week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651406" y="4457700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Thomson Reuters support statement for SPS06; smoke OneSource in Sandbox if connected; tag the SIT2 P1 re-run set in qTest.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09905" y="5004511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24" name="Shape 20"/>
          <p:cNvSpPr/>
          <p:nvPr/>
        </p:nvSpPr>
        <p:spPr>
          <a:xfrm>
            <a:off x="888797" y="5194706"/>
            <a:ext cx="508406" cy="508406"/>
          </a:xfrm>
          <a:prstGeom prst="ellipse">
            <a:avLst/>
          </a:prstGeom>
          <a:solidFill>
            <a:srgbClr val="5C1916"/>
          </a:solidFill>
          <a:ln/>
        </p:spPr>
      </p:sp>
      <p:sp>
        <p:nvSpPr>
          <p:cNvPr id="25" name="Text 21"/>
          <p:cNvSpPr/>
          <p:nvPr/>
        </p:nvSpPr>
        <p:spPr>
          <a:xfrm>
            <a:off x="888797" y="5194706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1651406" y="5169103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16 Oct (G1): Sandbox signed off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1651406" y="5499202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confirmations filed (OpenText, Thomson Reuters); SPAU sized; downtime per tier confirmed with ECS.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S/4HANA 2023 SPS06 Upgrade Strategy</dc:title>
  <dc:subject>PptxGenJS Presentation</dc:subject>
  <dc:creator>International Motors</dc:creator>
  <cp:lastModifiedBy>International Motors</cp:lastModifiedBy>
  <cp:revision>1</cp:revision>
  <dcterms:created xsi:type="dcterms:W3CDTF">2026-10-06T17:40:50Z</dcterms:created>
  <dcterms:modified xsi:type="dcterms:W3CDTF">2026-10-06T17:40:50Z</dcterms:modified>
</cp:coreProperties>
</file>